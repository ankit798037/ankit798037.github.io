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0689325" cx="7562075"/>
  <p:notesSz cx="10689325" cy="7562075"/>
  <p:embeddedFontLst>
    <p:embeddedFont>
      <p:font typeface="Unbounded"/>
      <p:bold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Unbounded-bold.fntdata"/><Relationship Id="rId14" Type="http://schemas.openxmlformats.org/officeDocument/2006/relationships/slide" Target="slides/slide10.xml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slide" Target="slides/slide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2.xml"/><Relationship Id="rId18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7562026" cy="10689336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7562026" cy="10689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562026" cy="1068933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/>
          <p:nvPr/>
        </p:nvSpPr>
        <p:spPr>
          <a:xfrm>
            <a:off x="0" y="0"/>
            <a:ext cx="7562026" cy="10689336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" name="Google Shape;15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7268" y="10390327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7562026" cy="10689336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7562026" cy="10689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7268" y="10390327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485616" y="381551"/>
            <a:ext cx="6590795" cy="867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ABC Bank CRM Training Program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485616" y="1456909"/>
            <a:ext cx="6590795" cy="444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comprehensive training strategy to successfully deploy XYZ bank's CRM platform across ABC Bank's lending teams, beginning with a 100-user pilot in May 2025 and scaling to 5,000+ employees.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485616" y="381551"/>
            <a:ext cx="6590795" cy="867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Discovery Questions for ABC Bank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485616" y="1526266"/>
            <a:ext cx="6590795" cy="6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Before designing an effective training program, we need to gather critical information about your organization, users, and success criteria. These questions will guide our approach to creating a tailored solution that meets your specific needs.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616" y="2348446"/>
            <a:ext cx="3226011" cy="233632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/>
          <p:nvPr/>
        </p:nvSpPr>
        <p:spPr>
          <a:xfrm>
            <a:off x="2015326" y="2452511"/>
            <a:ext cx="166467" cy="208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640082" y="2903419"/>
            <a:ext cx="2917078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Current State Assessment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640082" y="3420112"/>
            <a:ext cx="2917078" cy="888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are the existing loan management systems and processes? How proficient are lending teams with current technology? What pain points do users experience today?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0339" y="2348446"/>
            <a:ext cx="3226072" cy="233632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5380111" y="2452511"/>
            <a:ext cx="166467" cy="208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4004805" y="2903419"/>
            <a:ext cx="2917139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User Profile &amp; Segmentation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4004805" y="3420112"/>
            <a:ext cx="2917139" cy="111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are the different roles within the 100-person pilot group? What are their technical skill levels and learning preferences? Are there different proficiency tiers we should address?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616" y="4823482"/>
            <a:ext cx="3226011" cy="233632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2015326" y="4927547"/>
            <a:ext cx="166467" cy="208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640082" y="5378454"/>
            <a:ext cx="2917078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Business Impact &amp; Success Metrics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640082" y="5895148"/>
            <a:ext cx="2917078" cy="111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specific business outcomes do you expect from this CRM implementation? How will you measure adoption success? What are the productivity targets post-implementation?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0339" y="4823482"/>
            <a:ext cx="3226072" cy="2336323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5380111" y="4927547"/>
            <a:ext cx="166467" cy="208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4004805" y="5378454"/>
            <a:ext cx="2917139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Change Management Readiness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004805" y="5895148"/>
            <a:ext cx="2917139" cy="888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is the organizational culture around technology adoption? Have there been previous system rollouts? What resistance or concerns do you anticipate?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485616" y="381551"/>
            <a:ext cx="6590795" cy="867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Additional Discovery Questions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485616" y="1595622"/>
            <a:ext cx="3126131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Infrastructure &amp; Access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485616" y="1951080"/>
            <a:ext cx="3126131" cy="169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training facilities and technology are available?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Can users access a sandbox environment for practice?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are the technical specifications and system requirements?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Are there network or security constraints?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3954157" y="1595622"/>
            <a:ext cx="3126131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Timeline &amp; Resources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3954157" y="1951080"/>
            <a:ext cx="3126131" cy="169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is the detailed implementation timeline beyond May 2025?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Who are the internal stakeholders and subject matter experts?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budget has been allocated for training?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Are there blackout periods when training cannot occur?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485616" y="3890282"/>
            <a:ext cx="6590795" cy="15754"/>
          </a:xfrm>
          <a:prstGeom prst="roundRect">
            <a:avLst>
              <a:gd fmla="val 60001" name="adj"/>
            </a:avLst>
          </a:prstGeom>
          <a:solidFill>
            <a:srgbClr val="333F70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485616" y="4096750"/>
            <a:ext cx="312195" cy="312195"/>
          </a:xfrm>
          <a:prstGeom prst="roundRect">
            <a:avLst>
              <a:gd fmla="val 18667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936522" y="4144444"/>
            <a:ext cx="2757750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Documentation &amp; Knowledge Transfer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936522" y="4661138"/>
            <a:ext cx="2757750" cy="111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existing documentation is available from XYZ bank? Are there standard operating procedures that need to be updated? What knowledge transfer mechanisms exist between XYZ and ABC?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3867693" y="4096750"/>
            <a:ext cx="312195" cy="312195"/>
          </a:xfrm>
          <a:prstGeom prst="roundRect">
            <a:avLst>
              <a:gd fmla="val 18667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4318600" y="4144444"/>
            <a:ext cx="2757811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Support Structure &amp; Governance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4318600" y="4661138"/>
            <a:ext cx="2757811" cy="111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post-go-live support structure is planned? Who will serve as super users or champions? What escalation paths exist for technical issues versus training questions?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/>
          <p:nvPr/>
        </p:nvSpPr>
        <p:spPr>
          <a:xfrm>
            <a:off x="485616" y="381551"/>
            <a:ext cx="6590795" cy="433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 Collection Methodology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485616" y="1092651"/>
            <a:ext cx="6590795" cy="6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We'll employ multiple data collection methods to ensure comprehensive understanding of ABC Bank's needs, user requirements, and success criteria. This multi-modal approach provides both quantitative insights and qualitative depth.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485616" y="1914832"/>
            <a:ext cx="3226011" cy="2258290"/>
          </a:xfrm>
          <a:prstGeom prst="roundRect">
            <a:avLst>
              <a:gd fmla="val 2581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632205" y="2061422"/>
            <a:ext cx="416259" cy="416260"/>
          </a:xfrm>
          <a:prstGeom prst="ellipse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670" y="2175887"/>
            <a:ext cx="187268" cy="18726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/>
          <p:nvPr/>
        </p:nvSpPr>
        <p:spPr>
          <a:xfrm>
            <a:off x="632205" y="2616394"/>
            <a:ext cx="2932832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Online Surveys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632205" y="2916342"/>
            <a:ext cx="2932832" cy="111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Distributed to all 100 pilot users to gather data on current proficiency levels, learning preferences, technical comfort, and role-specific requirements. Provides quantitative baseline metrics.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3850339" y="1914832"/>
            <a:ext cx="3226072" cy="2258290"/>
          </a:xfrm>
          <a:prstGeom prst="roundRect">
            <a:avLst>
              <a:gd fmla="val 2581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3996928" y="2061422"/>
            <a:ext cx="416259" cy="416260"/>
          </a:xfrm>
          <a:prstGeom prst="ellipse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1393" y="2175887"/>
            <a:ext cx="187268" cy="18726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8"/>
          <p:cNvSpPr/>
          <p:nvPr/>
        </p:nvSpPr>
        <p:spPr>
          <a:xfrm>
            <a:off x="3996928" y="2616394"/>
            <a:ext cx="2932894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Stakeholder Interviews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3996928" y="2916342"/>
            <a:ext cx="2932894" cy="111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One-on-one sessions with department heads, IT leaders, and project sponsors to understand strategic objectives, organizational culture, and success criteria. Conducted virtually or in-person.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485616" y="4311834"/>
            <a:ext cx="3226011" cy="2258290"/>
          </a:xfrm>
          <a:prstGeom prst="roundRect">
            <a:avLst>
              <a:gd fmla="val 2581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632205" y="4458423"/>
            <a:ext cx="416259" cy="416260"/>
          </a:xfrm>
          <a:prstGeom prst="ellipse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670" y="4572889"/>
            <a:ext cx="187268" cy="18726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/>
          <p:nvPr/>
        </p:nvSpPr>
        <p:spPr>
          <a:xfrm>
            <a:off x="632205" y="5013396"/>
            <a:ext cx="2932832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Focus Groups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632205" y="5313344"/>
            <a:ext cx="2932832" cy="111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Facilitated sessions with representative users from different roles to explore workflows, pain points, and training expectations. Provides rich qualitative insights and builds early buy-in.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3850339" y="4311834"/>
            <a:ext cx="3226072" cy="2258290"/>
          </a:xfrm>
          <a:prstGeom prst="roundRect">
            <a:avLst>
              <a:gd fmla="val 2581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3996928" y="4458423"/>
            <a:ext cx="416259" cy="416260"/>
          </a:xfrm>
          <a:prstGeom prst="ellipse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1393" y="4572889"/>
            <a:ext cx="187268" cy="18726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/>
          <p:nvPr/>
        </p:nvSpPr>
        <p:spPr>
          <a:xfrm>
            <a:off x="3996928" y="5013396"/>
            <a:ext cx="2932894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Workflow Observation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3996928" y="5313344"/>
            <a:ext cx="2932894" cy="888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Shadow sessions observing lending staff in their daily activities to understand actual workflows, system interactions, and critical tasks. Reveals unarticulated training needs.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/>
          <p:nvPr/>
        </p:nvSpPr>
        <p:spPr>
          <a:xfrm>
            <a:off x="485616" y="381551"/>
            <a:ext cx="6590795" cy="867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Proposed Pilot Training Solution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485616" y="1526266"/>
            <a:ext cx="6590795" cy="6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Our comprehensive training program combines multiple delivery methods to accommodate diverse learning styles and operational constraints. This blended approach ensures maximum knowledge retention and practical application.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616" y="2348446"/>
            <a:ext cx="693745" cy="191643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/>
          <p:nvPr/>
        </p:nvSpPr>
        <p:spPr>
          <a:xfrm>
            <a:off x="1318073" y="2487159"/>
            <a:ext cx="5758338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Phase 1: Foundation Building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1318073" y="2787107"/>
            <a:ext cx="5758338" cy="222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Pre-Work E-Learning Modules (2-3 hours)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1318073" y="3092348"/>
            <a:ext cx="5758338" cy="1033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Self-paced introduction to CRM concepts and navigation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Overview of XYZ bank operating system fundamentals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Video demonstrations of key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Knowledge checks to ensure readiness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616" y="4264879"/>
            <a:ext cx="693745" cy="191643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9"/>
          <p:cNvSpPr/>
          <p:nvPr/>
        </p:nvSpPr>
        <p:spPr>
          <a:xfrm>
            <a:off x="1318073" y="4403591"/>
            <a:ext cx="5758338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Phase 2: Core Skills Training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1318073" y="4703539"/>
            <a:ext cx="5758338" cy="222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Instructor-Led Workshops (2 full days)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1318073" y="5008780"/>
            <a:ext cx="5758338" cy="1033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Role-based training tracks for different user types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Hands-on exercises in sandbox environment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Real-world scenario simulations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Collaborative problem-solving activities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616" y="6181311"/>
            <a:ext cx="693745" cy="191643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9"/>
          <p:cNvSpPr/>
          <p:nvPr/>
        </p:nvSpPr>
        <p:spPr>
          <a:xfrm>
            <a:off x="1318073" y="6320023"/>
            <a:ext cx="5758338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Phase 3: Applied Practice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1318073" y="6619971"/>
            <a:ext cx="5758338" cy="222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Guided Practice Sessions (1 week)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1318073" y="6925212"/>
            <a:ext cx="5758338" cy="1033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Daily 1-hour facilitated practice in sandbox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Small group coaching sessions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Peer learning circles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Just-in-time support available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616" y="8097743"/>
            <a:ext cx="693745" cy="19164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9"/>
          <p:cNvSpPr/>
          <p:nvPr/>
        </p:nvSpPr>
        <p:spPr>
          <a:xfrm>
            <a:off x="1318073" y="8236455"/>
            <a:ext cx="5758338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Phase 4: Go-Live Support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318073" y="8536404"/>
            <a:ext cx="5758338" cy="222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Intensive Support Period (First 2 weeks)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1318073" y="8841644"/>
            <a:ext cx="5758338" cy="1033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On-floor coaching and assistance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Daily office hours for questions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Quick reference guides and job aids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Rapid feedback loops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35721" cy="10689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0"/>
          <p:cNvSpPr/>
          <p:nvPr/>
        </p:nvSpPr>
        <p:spPr>
          <a:xfrm>
            <a:off x="3321337" y="381551"/>
            <a:ext cx="3755012" cy="128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650"/>
              <a:buFont typeface="Unbounded"/>
              <a:buNone/>
            </a:pPr>
            <a:r>
              <a:rPr b="1" i="0" lang="en-US" sz="26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Learning Objectives by User Proficiency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3321337" y="1863754"/>
            <a:ext cx="3755012" cy="8669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Recognizing that the 100-person pilot group will have varying levels of technical proficiency, we've designed tiered learning objectives that meet users where they are while ensuring everyone achieves core competencies.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1337" y="2881941"/>
            <a:ext cx="3755012" cy="21677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3866" y="3863389"/>
            <a:ext cx="204868" cy="20486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0"/>
          <p:cNvSpPr/>
          <p:nvPr/>
        </p:nvSpPr>
        <p:spPr>
          <a:xfrm>
            <a:off x="4017790" y="3034254"/>
            <a:ext cx="2906247" cy="213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Basic 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4017790" y="3328232"/>
            <a:ext cx="2906247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Core Competencies: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4017790" y="3625596"/>
            <a:ext cx="2906247" cy="127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Navigate CRM interface confidently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Create and update loan records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Run standard reports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Access customer information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Understand impact on daily workflow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21337" y="5184109"/>
            <a:ext cx="3755012" cy="2431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03866" y="6297438"/>
            <a:ext cx="204868" cy="20486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0"/>
          <p:cNvSpPr/>
          <p:nvPr/>
        </p:nvSpPr>
        <p:spPr>
          <a:xfrm>
            <a:off x="4017790" y="5336422"/>
            <a:ext cx="2906247" cy="213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Intermediate 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4017790" y="5630400"/>
            <a:ext cx="2906247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Enhanced Skills: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4017790" y="5927764"/>
            <a:ext cx="2906247" cy="1535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All basic competencies plus: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Customize dashboards and 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Perform advanced searches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Generate custom reports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Utilize workflow automation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Troubleshoot common issues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21337" y="7750039"/>
            <a:ext cx="3755012" cy="2431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03866" y="8863368"/>
            <a:ext cx="204868" cy="20486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0"/>
          <p:cNvSpPr/>
          <p:nvPr/>
        </p:nvSpPr>
        <p:spPr>
          <a:xfrm>
            <a:off x="4017790" y="7902352"/>
            <a:ext cx="2906247" cy="213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Advanced 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4017790" y="8196331"/>
            <a:ext cx="2906247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Power User Capabilities: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4017790" y="8493695"/>
            <a:ext cx="2906247" cy="1535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All intermediate skills plus: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Configure complex workflows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Build advanced analytics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Integrate with other systems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Serve as peer mentors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Provide tier-1 support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/>
          <p:nvPr/>
        </p:nvSpPr>
        <p:spPr>
          <a:xfrm>
            <a:off x="485616" y="381551"/>
            <a:ext cx="6590795" cy="867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Rollout Strategy &amp; Delivery Methods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485616" y="1526266"/>
            <a:ext cx="6590795" cy="6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successful large-scale deployment requires carefully orchestrated rollout phases, diverse delivery channels, and robust support structures. Our strategy balances rapid adoption with sustainable change management.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485616" y="2487159"/>
            <a:ext cx="3819076" cy="260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00"/>
              <a:buFont typeface="Unbounded"/>
              <a:buNone/>
            </a:pPr>
            <a:r>
              <a:rPr b="1" i="0" lang="en-US" sz="16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Phased Rollout Approach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2387276" y="2903357"/>
            <a:ext cx="15754" cy="6393502"/>
          </a:xfrm>
          <a:prstGeom prst="roundRect">
            <a:avLst>
              <a:gd fmla="val 369917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1838551" y="3051546"/>
            <a:ext cx="416259" cy="15754"/>
          </a:xfrm>
          <a:prstGeom prst="roundRect">
            <a:avLst>
              <a:gd fmla="val 369917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2239056" y="2903357"/>
            <a:ext cx="312195" cy="312195"/>
          </a:xfrm>
          <a:prstGeom prst="roundRect">
            <a:avLst>
              <a:gd fmla="val 18667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"/>
          <p:cNvSpPr/>
          <p:nvPr/>
        </p:nvSpPr>
        <p:spPr>
          <a:xfrm>
            <a:off x="2291058" y="2929358"/>
            <a:ext cx="208130" cy="260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00"/>
              <a:buFont typeface="Unbounded"/>
              <a:buNone/>
            </a:pPr>
            <a:r>
              <a:rPr b="1" i="0" lang="en-US" sz="16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485616" y="2951051"/>
            <a:ext cx="1215793" cy="65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May 2025: Pilot Launch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485616" y="3740000"/>
            <a:ext cx="1215793" cy="1554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100 users from single line of business. Intensive support and rapid iteration based on feedback.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2535496" y="3884005"/>
            <a:ext cx="416259" cy="15754"/>
          </a:xfrm>
          <a:prstGeom prst="roundRect">
            <a:avLst>
              <a:gd fmla="val 369917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"/>
          <p:cNvSpPr/>
          <p:nvPr/>
        </p:nvSpPr>
        <p:spPr>
          <a:xfrm>
            <a:off x="2239056" y="3735815"/>
            <a:ext cx="312195" cy="312195"/>
          </a:xfrm>
          <a:prstGeom prst="roundRect">
            <a:avLst>
              <a:gd fmla="val 18667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2291058" y="3761816"/>
            <a:ext cx="208130" cy="260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00"/>
              <a:buFont typeface="Unbounded"/>
              <a:buNone/>
            </a:pPr>
            <a:r>
              <a:rPr b="1" i="0" lang="en-US" sz="16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3088899" y="3783509"/>
            <a:ext cx="1215793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July 2025: Wave 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3088899" y="4355712"/>
            <a:ext cx="1215793" cy="1554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500 additional users across 2-3 business lines. Refined training materials. Super user network activated.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1838551" y="5719942"/>
            <a:ext cx="416259" cy="15754"/>
          </a:xfrm>
          <a:prstGeom prst="roundRect">
            <a:avLst>
              <a:gd fmla="val 369917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"/>
          <p:cNvSpPr/>
          <p:nvPr/>
        </p:nvSpPr>
        <p:spPr>
          <a:xfrm>
            <a:off x="2239056" y="5571752"/>
            <a:ext cx="312195" cy="312195"/>
          </a:xfrm>
          <a:prstGeom prst="roundRect">
            <a:avLst>
              <a:gd fmla="val 18667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2291058" y="5597753"/>
            <a:ext cx="208130" cy="260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00"/>
              <a:buFont typeface="Unbounded"/>
              <a:buNone/>
            </a:pPr>
            <a:r>
              <a:rPr b="1" i="0" lang="en-US" sz="16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485616" y="5619446"/>
            <a:ext cx="1215793" cy="65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Q4 2025: Mass Rollout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485616" y="6408395"/>
            <a:ext cx="1215793" cy="1554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Remaining 4,400+ users in coordinated waves. Scaled delivery model with blended learning.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2535496" y="7054140"/>
            <a:ext cx="416259" cy="15754"/>
          </a:xfrm>
          <a:prstGeom prst="roundRect">
            <a:avLst>
              <a:gd fmla="val 369917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2239056" y="6905950"/>
            <a:ext cx="312195" cy="312195"/>
          </a:xfrm>
          <a:prstGeom prst="roundRect">
            <a:avLst>
              <a:gd fmla="val 18667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2291058" y="6931951"/>
            <a:ext cx="208130" cy="260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00"/>
              <a:buFont typeface="Unbounded"/>
              <a:buNone/>
            </a:pPr>
            <a:r>
              <a:rPr b="1" i="0" lang="en-US" sz="16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3088899" y="6953644"/>
            <a:ext cx="1215793" cy="650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2026: Optimization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3088899" y="7742593"/>
            <a:ext cx="1215793" cy="1554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Continuous improvement, advanced features training, and sustained adoption activities.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647102" y="2487159"/>
            <a:ext cx="2433186" cy="260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600"/>
              <a:buFont typeface="Unbounded"/>
              <a:buNone/>
            </a:pPr>
            <a:r>
              <a:rPr b="1" i="0" lang="en-US" sz="16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Delivery Channels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47102" y="2977082"/>
            <a:ext cx="69356" cy="69356"/>
          </a:xfrm>
          <a:prstGeom prst="ellipse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4855171" y="2903357"/>
            <a:ext cx="2225117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Live Virtual Training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4855171" y="3258815"/>
            <a:ext cx="2225117" cy="6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Interactive webinars for remote participants. Recorded for on-demand access.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4647102" y="4276141"/>
            <a:ext cx="69356" cy="69356"/>
          </a:xfrm>
          <a:prstGeom prst="ellipse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4855171" y="4202415"/>
            <a:ext cx="2225117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In-Person Workshops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4855171" y="4774618"/>
            <a:ext cx="2225117" cy="6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Hands-on sessions at ABC Bank locations for maximum engagement.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647102" y="5791944"/>
            <a:ext cx="69356" cy="69356"/>
          </a:xfrm>
          <a:prstGeom prst="ellipse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4855171" y="5718219"/>
            <a:ext cx="2225117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Microlearning Library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855171" y="6290422"/>
            <a:ext cx="2225117" cy="6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5-10 minute video tutorials on specific tasks. Mobile-accessible format.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4647102" y="7307748"/>
            <a:ext cx="69356" cy="69356"/>
          </a:xfrm>
          <a:prstGeom prst="ellipse">
            <a:avLst/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4855171" y="7234022"/>
            <a:ext cx="2225117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Digital Resource Hub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855171" y="7806226"/>
            <a:ext cx="2225117" cy="6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Central repository for guides, FAQs, templates, and best practices.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/>
          <p:nvPr/>
        </p:nvSpPr>
        <p:spPr>
          <a:xfrm>
            <a:off x="485616" y="381551"/>
            <a:ext cx="6590795" cy="867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Post-Implementation Support Structure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485616" y="1526266"/>
            <a:ext cx="6590795" cy="444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Sustainable adoption requires comprehensive support that extends well beyond initial training. Our multi-tiered support model ensures users have access to help when and how they need 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7012" y="2126408"/>
            <a:ext cx="652452" cy="94353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2"/>
          <p:cNvSpPr/>
          <p:nvPr/>
        </p:nvSpPr>
        <p:spPr>
          <a:xfrm>
            <a:off x="2035696" y="2596885"/>
            <a:ext cx="195083" cy="243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00"/>
              <a:buFont typeface="Unbounded"/>
              <a:buNone/>
            </a:pPr>
            <a:r>
              <a:rPr b="1" i="0" lang="en-US" sz="15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2598175" y="2487159"/>
            <a:ext cx="4339523" cy="222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Executive Steering Committee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2494111" y="3079363"/>
            <a:ext cx="4547653" cy="7877"/>
          </a:xfrm>
          <a:prstGeom prst="roundRect">
            <a:avLst>
              <a:gd fmla="val 739834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0786" y="3104594"/>
            <a:ext cx="1304965" cy="94353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2"/>
          <p:cNvSpPr/>
          <p:nvPr/>
        </p:nvSpPr>
        <p:spPr>
          <a:xfrm>
            <a:off x="2035696" y="3454390"/>
            <a:ext cx="195083" cy="243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00"/>
              <a:buFont typeface="Unbounded"/>
              <a:buNone/>
            </a:pPr>
            <a:r>
              <a:rPr b="1" i="0" lang="en-US" sz="15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2924463" y="3354326"/>
            <a:ext cx="4013236" cy="444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Training Partner Team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Program management, content updates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2820398" y="4057549"/>
            <a:ext cx="4221366" cy="7877"/>
          </a:xfrm>
          <a:prstGeom prst="roundRect">
            <a:avLst>
              <a:gd fmla="val 739834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4560" y="4082780"/>
            <a:ext cx="1957416" cy="94353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2"/>
          <p:cNvSpPr/>
          <p:nvPr/>
        </p:nvSpPr>
        <p:spPr>
          <a:xfrm>
            <a:off x="2035696" y="4432576"/>
            <a:ext cx="195083" cy="243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00"/>
              <a:buFont typeface="Unbounded"/>
              <a:buNone/>
            </a:pPr>
            <a:r>
              <a:rPr b="1" i="0" lang="en-US" sz="15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3250689" y="4332512"/>
            <a:ext cx="3687010" cy="444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Super User Network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30-40 power users providing peer support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3146624" y="5035735"/>
            <a:ext cx="3895140" cy="7877"/>
          </a:xfrm>
          <a:prstGeom prst="roundRect">
            <a:avLst>
              <a:gd fmla="val 739834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334" y="5060966"/>
            <a:ext cx="2609930" cy="94353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2"/>
          <p:cNvSpPr/>
          <p:nvPr/>
        </p:nvSpPr>
        <p:spPr>
          <a:xfrm>
            <a:off x="2035696" y="5410762"/>
            <a:ext cx="195083" cy="243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00"/>
              <a:buFont typeface="Unbounded"/>
              <a:buNone/>
            </a:pPr>
            <a:r>
              <a:rPr b="1" i="0" lang="en-US" sz="15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3576976" y="5310698"/>
            <a:ext cx="3360723" cy="444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Help Desk &amp; Digital Resources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Ticketing system, knowledge base, chatbot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472911" y="6013921"/>
            <a:ext cx="3568853" cy="7877"/>
          </a:xfrm>
          <a:prstGeom prst="roundRect">
            <a:avLst>
              <a:gd fmla="val 739834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047" y="6039152"/>
            <a:ext cx="3262443" cy="94353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2"/>
          <p:cNvSpPr/>
          <p:nvPr/>
        </p:nvSpPr>
        <p:spPr>
          <a:xfrm>
            <a:off x="2035696" y="6388948"/>
            <a:ext cx="195083" cy="243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00"/>
              <a:buFont typeface="Unbounded"/>
              <a:buNone/>
            </a:pPr>
            <a:r>
              <a:rPr b="1" i="0" lang="en-US" sz="15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3903202" y="6177865"/>
            <a:ext cx="3034497" cy="6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All 5,000+ End Users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Self-service tools, community forums, refresher training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485616" y="7173405"/>
            <a:ext cx="6590795" cy="15754"/>
          </a:xfrm>
          <a:prstGeom prst="roundRect">
            <a:avLst>
              <a:gd fmla="val 60001" name="adj"/>
            </a:avLst>
          </a:prstGeom>
          <a:solidFill>
            <a:srgbClr val="333F70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485616" y="7518586"/>
            <a:ext cx="3126131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Ongoing Support Services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485616" y="7874043"/>
            <a:ext cx="3126131" cy="1477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Monthly office hours and Q&amp;A sessions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Quarterly refresher workshops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Train-the-trainer programs for internal teams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Continuous content updates as system evolves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3954157" y="7518586"/>
            <a:ext cx="3126131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Knowledge Transfer to ABC Bank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3954157" y="8090789"/>
            <a:ext cx="3126131" cy="1255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Documentation of all training materials and processes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Transition plan for internal ownership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Super user certification program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Internal trainer enablement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/>
          <p:nvPr/>
        </p:nvSpPr>
        <p:spPr>
          <a:xfrm>
            <a:off x="485616" y="381551"/>
            <a:ext cx="6590795" cy="867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Evaluation Strategy: Kirkpatrick's Four Levels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485616" y="1526266"/>
            <a:ext cx="6590795" cy="6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Our comprehensive evaluation framework measures training effectiveness across four critical dimensions, from immediate satisfaction to business impact. This data-driven approach enables continuous improvement and demonstrates ROI.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485616" y="2348446"/>
            <a:ext cx="3226011" cy="3430820"/>
          </a:xfrm>
          <a:prstGeom prst="roundRect">
            <a:avLst>
              <a:gd fmla="val 1806" name="adj"/>
            </a:avLst>
          </a:prstGeom>
          <a:solidFill>
            <a:srgbClr val="26A688"/>
          </a:solidFill>
          <a:ln cap="flat" cmpd="sng" w="9525">
            <a:solidFill>
              <a:srgbClr val="3FBF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632205" y="2495036"/>
            <a:ext cx="2932832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Level 1: Reaction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632205" y="2794984"/>
            <a:ext cx="2932832" cy="749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What We Measure: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Participant satisfaction and engagement with training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Methods: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632205" y="3627504"/>
            <a:ext cx="2932832" cy="1207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Post-session surveys (immediately after each training)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Net Promoter Score for training quality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Feedback forms on content relevance and instructor effectiveness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632205" y="4918008"/>
            <a:ext cx="2932832" cy="222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Target: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85% satisfaction rate, NPS &gt;50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3850339" y="2348446"/>
            <a:ext cx="3226072" cy="3430820"/>
          </a:xfrm>
          <a:prstGeom prst="roundRect">
            <a:avLst>
              <a:gd fmla="val 1806" name="adj"/>
            </a:avLst>
          </a:prstGeom>
          <a:solidFill>
            <a:srgbClr val="192248"/>
          </a:solidFill>
          <a:ln cap="flat" cmpd="sng" w="9525">
            <a:solidFill>
              <a:srgbClr val="323B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3996928" y="2495036"/>
            <a:ext cx="2932894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Level 2: Learning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3996928" y="2794984"/>
            <a:ext cx="2932894" cy="749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What We Measure: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Knowledge acquisition and skill development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Methods: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3996928" y="3627504"/>
            <a:ext cx="2932894" cy="1477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Pre- and post-training assessments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Hands-on simulation exercises with scoring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checks embedded in e-learning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Certification testing for advanced users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3996928" y="5188601"/>
            <a:ext cx="2932894" cy="444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Target: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80% pass rate on assessments, 25% improvement from baseline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485616" y="5917979"/>
            <a:ext cx="3226011" cy="3430820"/>
          </a:xfrm>
          <a:prstGeom prst="roundRect">
            <a:avLst>
              <a:gd fmla="val 1806" name="adj"/>
            </a:avLst>
          </a:prstGeom>
          <a:solidFill>
            <a:srgbClr val="26A688"/>
          </a:solidFill>
          <a:ln cap="flat" cmpd="sng" w="9525">
            <a:solidFill>
              <a:srgbClr val="3FBF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632205" y="6064569"/>
            <a:ext cx="2932832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Level 3: Behavior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632205" y="6364517"/>
            <a:ext cx="2932832" cy="749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What We Measure: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On-the-job application of learned skills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Methods: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632205" y="7197037"/>
            <a:ext cx="2932832" cy="1255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System usage analytics (login frequency, feature adoption)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Manager observations and feedback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30-60-90 day follow-up surveys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Peer reviews and super user assessments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632205" y="8536096"/>
            <a:ext cx="2932832" cy="6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Target: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90% active daily usage within 30 days, 75% utilizing advanced features by day 90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3850339" y="5917979"/>
            <a:ext cx="3226072" cy="3430820"/>
          </a:xfrm>
          <a:prstGeom prst="roundRect">
            <a:avLst>
              <a:gd fmla="val 1806" name="adj"/>
            </a:avLst>
          </a:prstGeom>
          <a:solidFill>
            <a:srgbClr val="192248"/>
          </a:solidFill>
          <a:ln cap="flat" cmpd="sng" w="9525">
            <a:solidFill>
              <a:srgbClr val="323B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3996928" y="6064569"/>
            <a:ext cx="2932894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Level 4: Results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3996928" y="6364517"/>
            <a:ext cx="2932894" cy="749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What We Measure: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Business impact and organizational outcomes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Methods: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3996928" y="7197037"/>
            <a:ext cx="2932894" cy="1033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Loan processing time reduction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Error rate decrease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Customer satisfaction improvements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Productivity metrics and ROI calculation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3996928" y="8314058"/>
            <a:ext cx="2932894" cy="66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Target: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20% faster loan processing, 30% reduction in errors, positive ROI within 6 months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/>
          <p:nvPr/>
        </p:nvSpPr>
        <p:spPr>
          <a:xfrm>
            <a:off x="485616" y="381551"/>
            <a:ext cx="6590795" cy="867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Success Metrics &amp; Evaluation Timeline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485616" y="1526266"/>
            <a:ext cx="6590795" cy="444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Tracking the right metrics at the right time ensures we can identify issues early and celebrate wins. Our evaluation cadence provides actionable insights throughout the pilot and full deployment.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616" y="2126408"/>
            <a:ext cx="6590795" cy="327450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4"/>
          <p:cNvSpPr/>
          <p:nvPr/>
        </p:nvSpPr>
        <p:spPr>
          <a:xfrm>
            <a:off x="821996" y="5400916"/>
            <a:ext cx="138712" cy="138712"/>
          </a:xfrm>
          <a:prstGeom prst="roundRect">
            <a:avLst>
              <a:gd fmla="val 6815" name="adj"/>
            </a:avLst>
          </a:prstGeom>
          <a:solidFill>
            <a:srgbClr val="0E3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992216" y="5400916"/>
            <a:ext cx="2015880" cy="138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Training Completion 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2984157" y="5400916"/>
            <a:ext cx="138712" cy="138712"/>
          </a:xfrm>
          <a:prstGeom prst="roundRect">
            <a:avLst>
              <a:gd fmla="val 6815" name="adj"/>
            </a:avLst>
          </a:prstGeom>
          <a:solidFill>
            <a:srgbClr val="165E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3154378" y="5400916"/>
            <a:ext cx="1801473" cy="138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System Adoption 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4931973" y="5400916"/>
            <a:ext cx="138712" cy="138712"/>
          </a:xfrm>
          <a:prstGeom prst="roundRect">
            <a:avLst>
              <a:gd fmla="val 6815" name="adj"/>
            </a:avLst>
          </a:prstGeom>
          <a:solidFill>
            <a:srgbClr val="1D7E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5102194" y="5400916"/>
            <a:ext cx="1818150" cy="138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User Proficiency Score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485616" y="6007951"/>
            <a:ext cx="6590795" cy="15754"/>
          </a:xfrm>
          <a:prstGeom prst="roundRect">
            <a:avLst>
              <a:gd fmla="val 60001" name="adj"/>
            </a:avLst>
          </a:prstGeom>
          <a:solidFill>
            <a:srgbClr val="333F70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485616" y="6283776"/>
            <a:ext cx="1517587" cy="457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600"/>
              <a:buFont typeface="Unbounded"/>
              <a:buNone/>
            </a:pPr>
            <a:r>
              <a:rPr b="1" i="0" lang="en-US" sz="36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85%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485616" y="6915058"/>
            <a:ext cx="1517587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Target Satisfaction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485616" y="7431752"/>
            <a:ext cx="1517587" cy="111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Minimum acceptable rating for training quality and relevance from participant surveys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2176623" y="6283776"/>
            <a:ext cx="1517649" cy="457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600"/>
              <a:buFont typeface="Unbounded"/>
              <a:buNone/>
            </a:pPr>
            <a:r>
              <a:rPr b="1" i="0" lang="en-US" sz="36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90%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2176623" y="6915058"/>
            <a:ext cx="1517649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Active Usage Goal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2176623" y="7431752"/>
            <a:ext cx="1517649" cy="888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Percentage of trained users actively logging in and using core CRM features daily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3867693" y="6283776"/>
            <a:ext cx="1517649" cy="457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600"/>
              <a:buFont typeface="Unbounded"/>
              <a:buNone/>
            </a:pPr>
            <a:r>
              <a:rPr b="1" i="0" lang="en-US" sz="36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20%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3867693" y="6915058"/>
            <a:ext cx="1517649" cy="433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Efficiency Gain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3867693" y="7431752"/>
            <a:ext cx="1517649" cy="888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Expected reduction in loan processing time within 90 days of full adoption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5558762" y="6283776"/>
            <a:ext cx="1517649" cy="457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600"/>
              <a:buFont typeface="Unbounded"/>
              <a:buNone/>
            </a:pPr>
            <a:r>
              <a:rPr b="1" i="0" lang="en-US" sz="36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6mo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5558762" y="6915058"/>
            <a:ext cx="1517649" cy="216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ROI Timeline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5558762" y="7215006"/>
            <a:ext cx="1517649" cy="1110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Projected timeframe to achieve positive return on training investment through productivity gains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485616" y="8698009"/>
            <a:ext cx="15754" cy="1356352"/>
          </a:xfrm>
          <a:prstGeom prst="roundRect">
            <a:avLst>
              <a:gd fmla="val 60001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693745" y="8854076"/>
            <a:ext cx="6382666" cy="1044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Ready to Transform ABC Bank's Lending Operations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0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Our comprehensive training solution combines proven adult learning principles, flexible delivery methods, and rigorous evaluation to ensure your CRM deployment succeeds. Let's partner to make this implementation a model for organizational change.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