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handoutMasterIdLst>
    <p:handoutMasterId r:id="rId17"/>
  </p:handoutMasterIdLst>
  <p:sldIdLst>
    <p:sldId id="260" r:id="rId3"/>
    <p:sldId id="288" r:id="rId4"/>
    <p:sldId id="278" r:id="rId6"/>
    <p:sldId id="280" r:id="rId7"/>
    <p:sldId id="315" r:id="rId8"/>
    <p:sldId id="316" r:id="rId9"/>
    <p:sldId id="318" r:id="rId10"/>
    <p:sldId id="319" r:id="rId11"/>
    <p:sldId id="320" r:id="rId12"/>
    <p:sldId id="321" r:id="rId13"/>
    <p:sldId id="322" r:id="rId14"/>
    <p:sldId id="323" r:id="rId15"/>
    <p:sldId id="297" r:id="rId16"/>
  </p:sldIdLst>
  <p:sldSz cx="12192000" cy="6858000"/>
  <p:notesSz cx="6858000" cy="9144000"/>
  <p:embeddedFontLst>
    <p:embeddedFont>
      <p:font typeface="OPPOSans R" panose="00020600040101010101" pitchFamily="18" charset="-122"/>
      <p:regular r:id="rId21"/>
    </p:embeddedFont>
    <p:embeddedFont>
      <p:font typeface="OPPOSans H" panose="00020600040101010101" pitchFamily="18" charset="-122"/>
      <p:regular r:id="rId22"/>
    </p:embeddedFont>
  </p:embeddedFontLst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A0F9"/>
    <a:srgbClr val="FCB045"/>
    <a:srgbClr val="6389F9"/>
    <a:srgbClr val="30267E"/>
    <a:srgbClr val="48D8B6"/>
    <a:srgbClr val="7AA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6" autoAdjust="0"/>
    <p:restoredTop sz="94682" autoAdjust="0"/>
  </p:normalViewPr>
  <p:slideViewPr>
    <p:cSldViewPr snapToGrid="0">
      <p:cViewPr>
        <p:scale>
          <a:sx n="66" d="100"/>
          <a:sy n="66" d="100"/>
        </p:scale>
        <p:origin x="678" y="6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176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OPPOSans R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A96F1-042D-4E72-B7CA-41E63C09C6D4}" type="datetimeFigureOut">
              <a:rPr lang="en-US" smtClean="0">
                <a:latin typeface="OPPOSans R" panose="00020600040101010101" pitchFamily="18" charset="-122"/>
              </a:rPr>
            </a:fld>
            <a:endParaRPr lang="en-US">
              <a:latin typeface="OPPOSans R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OPPOSans R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BC7-24B6-46DE-9AA5-BB4501279F8D}" type="slidenum">
              <a:rPr lang="en-US" smtClean="0">
                <a:latin typeface="OPPOSans R" panose="00020600040101010101" pitchFamily="18" charset="-122"/>
              </a:rPr>
            </a:fld>
            <a:endParaRPr lang="en-US">
              <a:latin typeface="OPPOSans R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</a:defRPr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</a:defRPr>
            </a:lvl1pPr>
          </a:lstStyle>
          <a:p>
            <a:fld id="{EED2D1EB-85B6-47F2-86DB-21D18914FA1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</a:defRPr>
            </a:lvl1pPr>
          </a:lstStyle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2533C-0749-4C9A-A1F3-E76E009C751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100000">
              <a:schemeClr val="accent3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 flipH="1">
            <a:off x="4954940" y="1003560"/>
            <a:ext cx="7237060" cy="5854441"/>
          </a:xfrm>
          <a:custGeom>
            <a:avLst/>
            <a:gdLst>
              <a:gd name="connsiteX0" fmla="*/ 3464101 w 7237060"/>
              <a:gd name="connsiteY0" fmla="*/ 0 h 5854441"/>
              <a:gd name="connsiteX1" fmla="*/ 146518 w 7237060"/>
              <a:gd name="connsiteY1" fmla="*/ 1974543 h 5854441"/>
              <a:gd name="connsiteX2" fmla="*/ 0 w 7237060"/>
              <a:gd name="connsiteY2" fmla="*/ 2278696 h 5854441"/>
              <a:gd name="connsiteX3" fmla="*/ 0 w 7237060"/>
              <a:gd name="connsiteY3" fmla="*/ 5267223 h 5854441"/>
              <a:gd name="connsiteX4" fmla="*/ 146518 w 7237060"/>
              <a:gd name="connsiteY4" fmla="*/ 5571375 h 5854441"/>
              <a:gd name="connsiteX5" fmla="*/ 318485 w 7237060"/>
              <a:gd name="connsiteY5" fmla="*/ 5854441 h 5854441"/>
              <a:gd name="connsiteX6" fmla="*/ 6609717 w 7237060"/>
              <a:gd name="connsiteY6" fmla="*/ 5854441 h 5854441"/>
              <a:gd name="connsiteX7" fmla="*/ 6781684 w 7237060"/>
              <a:gd name="connsiteY7" fmla="*/ 5571375 h 5854441"/>
              <a:gd name="connsiteX8" fmla="*/ 7237060 w 7237060"/>
              <a:gd name="connsiteY8" fmla="*/ 3772959 h 5854441"/>
              <a:gd name="connsiteX9" fmla="*/ 7233638 w 7237060"/>
              <a:gd name="connsiteY9" fmla="*/ 3705149 h 5854441"/>
              <a:gd name="connsiteX10" fmla="*/ 7237060 w 7237060"/>
              <a:gd name="connsiteY10" fmla="*/ 3705149 h 5854441"/>
              <a:gd name="connsiteX11" fmla="*/ 7237060 w 7237060"/>
              <a:gd name="connsiteY11" fmla="*/ 7650 h 5854441"/>
              <a:gd name="connsiteX12" fmla="*/ 3615588 w 7237060"/>
              <a:gd name="connsiteY12" fmla="*/ 7650 h 585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37060" h="5854441">
                <a:moveTo>
                  <a:pt x="3464101" y="0"/>
                </a:moveTo>
                <a:cubicBezTo>
                  <a:pt x="2031525" y="0"/>
                  <a:pt x="785428" y="798417"/>
                  <a:pt x="146518" y="1974543"/>
                </a:cubicBezTo>
                <a:lnTo>
                  <a:pt x="0" y="2278696"/>
                </a:lnTo>
                <a:lnTo>
                  <a:pt x="0" y="5267223"/>
                </a:lnTo>
                <a:lnTo>
                  <a:pt x="146518" y="5571375"/>
                </a:lnTo>
                <a:lnTo>
                  <a:pt x="318485" y="5854441"/>
                </a:lnTo>
                <a:lnTo>
                  <a:pt x="6609717" y="5854441"/>
                </a:lnTo>
                <a:lnTo>
                  <a:pt x="6781684" y="5571375"/>
                </a:lnTo>
                <a:cubicBezTo>
                  <a:pt x="7072098" y="5036772"/>
                  <a:pt x="7237060" y="4424130"/>
                  <a:pt x="7237060" y="3772959"/>
                </a:cubicBezTo>
                <a:lnTo>
                  <a:pt x="7233638" y="3705149"/>
                </a:lnTo>
                <a:lnTo>
                  <a:pt x="7237060" y="3705149"/>
                </a:lnTo>
                <a:lnTo>
                  <a:pt x="7237060" y="7650"/>
                </a:lnTo>
                <a:lnTo>
                  <a:pt x="3615588" y="7650"/>
                </a:lnTo>
                <a:close/>
              </a:path>
            </a:pathLst>
          </a:custGeom>
          <a:noFill/>
          <a:ln w="1905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任意多边形: 形状 14"/>
          <p:cNvSpPr/>
          <p:nvPr/>
        </p:nvSpPr>
        <p:spPr>
          <a:xfrm flipH="1">
            <a:off x="5694636" y="372958"/>
            <a:ext cx="6497365" cy="6485042"/>
          </a:xfrm>
          <a:custGeom>
            <a:avLst/>
            <a:gdLst>
              <a:gd name="connsiteX0" fmla="*/ 2724406 w 6497365"/>
              <a:gd name="connsiteY0" fmla="*/ 0 h 6485042"/>
              <a:gd name="connsiteX1" fmla="*/ 56521 w 6497365"/>
              <a:gd name="connsiteY1" fmla="*/ 1105075 h 6485042"/>
              <a:gd name="connsiteX2" fmla="*/ 0 w 6497365"/>
              <a:gd name="connsiteY2" fmla="*/ 1167264 h 6485042"/>
              <a:gd name="connsiteX3" fmla="*/ 0 w 6497365"/>
              <a:gd name="connsiteY3" fmla="*/ 6378654 h 6485042"/>
              <a:gd name="connsiteX4" fmla="*/ 56521 w 6497365"/>
              <a:gd name="connsiteY4" fmla="*/ 6440844 h 6485042"/>
              <a:gd name="connsiteX5" fmla="*/ 105152 w 6497365"/>
              <a:gd name="connsiteY5" fmla="*/ 6485042 h 6485042"/>
              <a:gd name="connsiteX6" fmla="*/ 5343660 w 6497365"/>
              <a:gd name="connsiteY6" fmla="*/ 6485042 h 6485042"/>
              <a:gd name="connsiteX7" fmla="*/ 5392291 w 6497365"/>
              <a:gd name="connsiteY7" fmla="*/ 6440844 h 6485042"/>
              <a:gd name="connsiteX8" fmla="*/ 6497365 w 6497365"/>
              <a:gd name="connsiteY8" fmla="*/ 3772959 h 6485042"/>
              <a:gd name="connsiteX9" fmla="*/ 6493943 w 6497365"/>
              <a:gd name="connsiteY9" fmla="*/ 3705149 h 6485042"/>
              <a:gd name="connsiteX10" fmla="*/ 6497365 w 6497365"/>
              <a:gd name="connsiteY10" fmla="*/ 3705149 h 6485042"/>
              <a:gd name="connsiteX11" fmla="*/ 6497365 w 6497365"/>
              <a:gd name="connsiteY11" fmla="*/ 7650 h 6485042"/>
              <a:gd name="connsiteX12" fmla="*/ 2875893 w 6497365"/>
              <a:gd name="connsiteY12" fmla="*/ 7650 h 6485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97365" h="6485042">
                <a:moveTo>
                  <a:pt x="2724406" y="0"/>
                </a:moveTo>
                <a:cubicBezTo>
                  <a:pt x="1682532" y="0"/>
                  <a:pt x="739293" y="422303"/>
                  <a:pt x="56521" y="1105075"/>
                </a:cubicBezTo>
                <a:lnTo>
                  <a:pt x="0" y="1167264"/>
                </a:lnTo>
                <a:lnTo>
                  <a:pt x="0" y="6378654"/>
                </a:lnTo>
                <a:lnTo>
                  <a:pt x="56521" y="6440844"/>
                </a:lnTo>
                <a:lnTo>
                  <a:pt x="105152" y="6485042"/>
                </a:lnTo>
                <a:lnTo>
                  <a:pt x="5343660" y="6485042"/>
                </a:lnTo>
                <a:lnTo>
                  <a:pt x="5392291" y="6440844"/>
                </a:lnTo>
                <a:cubicBezTo>
                  <a:pt x="6075062" y="5758072"/>
                  <a:pt x="6497365" y="4814833"/>
                  <a:pt x="6497365" y="3772959"/>
                </a:cubicBezTo>
                <a:lnTo>
                  <a:pt x="6493943" y="3705149"/>
                </a:lnTo>
                <a:lnTo>
                  <a:pt x="6497365" y="3705149"/>
                </a:lnTo>
                <a:lnTo>
                  <a:pt x="6497365" y="7650"/>
                </a:lnTo>
                <a:lnTo>
                  <a:pt x="2875893" y="765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537466" y="4627147"/>
            <a:ext cx="3343119" cy="2230853"/>
          </a:xfrm>
          <a:custGeom>
            <a:avLst/>
            <a:gdLst>
              <a:gd name="connsiteX0" fmla="*/ 1671560 w 3343119"/>
              <a:gd name="connsiteY0" fmla="*/ 0 h 2230853"/>
              <a:gd name="connsiteX1" fmla="*/ 1738674 w 3343119"/>
              <a:gd name="connsiteY1" fmla="*/ 3389 h 2230853"/>
              <a:gd name="connsiteX2" fmla="*/ 3343119 w 3343119"/>
              <a:gd name="connsiteY2" fmla="*/ 3389 h 2230853"/>
              <a:gd name="connsiteX3" fmla="*/ 3343119 w 3343119"/>
              <a:gd name="connsiteY3" fmla="*/ 1641517 h 2230853"/>
              <a:gd name="connsiteX4" fmla="*/ 3341603 w 3343119"/>
              <a:gd name="connsiteY4" fmla="*/ 1641517 h 2230853"/>
              <a:gd name="connsiteX5" fmla="*/ 3343119 w 3343119"/>
              <a:gd name="connsiteY5" fmla="*/ 1671560 h 2230853"/>
              <a:gd name="connsiteX6" fmla="*/ 3267969 w 3343119"/>
              <a:gd name="connsiteY6" fmla="*/ 2168630 h 2230853"/>
              <a:gd name="connsiteX7" fmla="*/ 3245195 w 3343119"/>
              <a:gd name="connsiteY7" fmla="*/ 2230853 h 2230853"/>
              <a:gd name="connsiteX8" fmla="*/ 97924 w 3343119"/>
              <a:gd name="connsiteY8" fmla="*/ 2230853 h 2230853"/>
              <a:gd name="connsiteX9" fmla="*/ 75150 w 3343119"/>
              <a:gd name="connsiteY9" fmla="*/ 2168630 h 2230853"/>
              <a:gd name="connsiteX10" fmla="*/ 0 w 3343119"/>
              <a:gd name="connsiteY10" fmla="*/ 1671560 h 2230853"/>
              <a:gd name="connsiteX11" fmla="*/ 1671560 w 3343119"/>
              <a:gd name="connsiteY11" fmla="*/ 0 h 223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43119" h="2230853">
                <a:moveTo>
                  <a:pt x="1671560" y="0"/>
                </a:moveTo>
                <a:lnTo>
                  <a:pt x="1738674" y="3389"/>
                </a:lnTo>
                <a:lnTo>
                  <a:pt x="3343119" y="3389"/>
                </a:lnTo>
                <a:lnTo>
                  <a:pt x="3343119" y="1641517"/>
                </a:lnTo>
                <a:lnTo>
                  <a:pt x="3341603" y="1641517"/>
                </a:lnTo>
                <a:lnTo>
                  <a:pt x="3343119" y="1671560"/>
                </a:lnTo>
                <a:cubicBezTo>
                  <a:pt x="3343119" y="1844655"/>
                  <a:pt x="3316809" y="2011606"/>
                  <a:pt x="3267969" y="2168630"/>
                </a:cubicBezTo>
                <a:lnTo>
                  <a:pt x="3245195" y="2230853"/>
                </a:lnTo>
                <a:lnTo>
                  <a:pt x="97924" y="2230853"/>
                </a:lnTo>
                <a:lnTo>
                  <a:pt x="75150" y="2168630"/>
                </a:lnTo>
                <a:cubicBezTo>
                  <a:pt x="26310" y="2011606"/>
                  <a:pt x="0" y="1844655"/>
                  <a:pt x="0" y="1671560"/>
                </a:cubicBezTo>
                <a:cubicBezTo>
                  <a:pt x="0" y="748383"/>
                  <a:pt x="748383" y="0"/>
                  <a:pt x="167156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715645" y="1953260"/>
            <a:ext cx="5379720" cy="2215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  <a:ea typeface="OPPOSans H" panose="00020600040101010101" pitchFamily="18" charset="-122"/>
                <a:cs typeface="OPPOSans H" panose="00020600040101010101" pitchFamily="18" charset="-122"/>
              </a:rPr>
              <a:t>Comprehensive Overview of Process Mapping and Data Management</a:t>
            </a:r>
            <a:endParaRPr lang="en-US" altLang="en-GB" sz="3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280" y="4451350"/>
            <a:ext cx="3591560" cy="112204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Detailed Exploration of Request </a:t>
            </a:r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Handling, Validation, and Standard </a:t>
            </a:r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Operating Procedures</a:t>
            </a:r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bg1"/>
          </a:solidFill>
        </p:grpSpPr>
        <p:sp>
          <p:nvSpPr>
            <p:cNvPr id="36" name="任意多边形: 形状 35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-635"/>
            <a:ext cx="12192000" cy="691959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alpha val="63000"/>
                </a:schemeClr>
              </a:gs>
              <a:gs pos="100000">
                <a:schemeClr val="accent3">
                  <a:lumMod val="50000"/>
                  <a:alpha val="9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72465" y="282512"/>
            <a:ext cx="102194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Table of Contents</a:t>
            </a:r>
            <a:endParaRPr lang="en-US" sz="3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bg1"/>
          </a:solidFill>
        </p:grpSpPr>
        <p:sp>
          <p:nvSpPr>
            <p:cNvPr id="36" name="任意多边形: 形状 35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02669" y="1342305"/>
            <a:ext cx="4513588" cy="801246"/>
            <a:chOff x="695325" y="1511300"/>
            <a:chExt cx="4513588" cy="801246"/>
          </a:xfrm>
        </p:grpSpPr>
        <p:sp>
          <p:nvSpPr>
            <p:cNvPr id="22" name="文本框 21"/>
            <p:cNvSpPr txBox="1"/>
            <p:nvPr/>
          </p:nvSpPr>
          <p:spPr>
            <a:xfrm>
              <a:off x="1583107" y="1613069"/>
              <a:ext cx="3625806" cy="615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Introduction to Process Mapping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" name="Freeform 19_1"/>
          <p:cNvSpPr/>
          <p:nvPr/>
        </p:nvSpPr>
        <p:spPr>
          <a:xfrm flipH="1">
            <a:off x="778384" y="1418020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01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02669" y="2413449"/>
            <a:ext cx="4513588" cy="801246"/>
            <a:chOff x="695325" y="1511300"/>
            <a:chExt cx="4513588" cy="801246"/>
          </a:xfrm>
        </p:grpSpPr>
        <p:sp>
          <p:nvSpPr>
            <p:cNvPr id="42" name="文本框 41"/>
            <p:cNvSpPr txBox="1"/>
            <p:nvPr/>
          </p:nvSpPr>
          <p:spPr>
            <a:xfrm>
              <a:off x="1583107" y="1613069"/>
              <a:ext cx="3625806" cy="615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Initial Review by Data Steward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33" name="Freeform 19_1"/>
          <p:cNvSpPr/>
          <p:nvPr/>
        </p:nvSpPr>
        <p:spPr>
          <a:xfrm flipH="1">
            <a:off x="778384" y="2489164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03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073140" y="1342305"/>
            <a:ext cx="4513588" cy="801246"/>
            <a:chOff x="695325" y="1511300"/>
            <a:chExt cx="4513588" cy="801246"/>
          </a:xfrm>
        </p:grpSpPr>
        <p:sp>
          <p:nvSpPr>
            <p:cNvPr id="49" name="文本框 48"/>
            <p:cNvSpPr txBox="1"/>
            <p:nvPr/>
          </p:nvSpPr>
          <p:spPr>
            <a:xfrm>
              <a:off x="1583107" y="1613069"/>
              <a:ext cx="3625806" cy="615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>
                  <a:solidFill>
                    <a:schemeClr val="bg1"/>
                  </a:solidFill>
                  <a:latin typeface="+mj-lt"/>
                  <a:cs typeface="+mj-lt"/>
                </a:rPr>
                <a:t>Request Submission by Requester</a:t>
              </a:r>
              <a:endParaRPr lang="en-US" sz="2000">
                <a:solidFill>
                  <a:schemeClr val="bg1"/>
                </a:solidFill>
                <a:latin typeface="+mj-lt"/>
                <a:cs typeface="+mj-lt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5" name="Freeform 19_1"/>
          <p:cNvSpPr/>
          <p:nvPr/>
        </p:nvSpPr>
        <p:spPr>
          <a:xfrm flipH="1">
            <a:off x="6148855" y="1418020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02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073140" y="2413449"/>
            <a:ext cx="4513588" cy="801246"/>
            <a:chOff x="695325" y="1511300"/>
            <a:chExt cx="4513588" cy="801246"/>
          </a:xfrm>
        </p:grpSpPr>
        <p:sp>
          <p:nvSpPr>
            <p:cNvPr id="56" name="文本框 55"/>
            <p:cNvSpPr txBox="1"/>
            <p:nvPr/>
          </p:nvSpPr>
          <p:spPr>
            <a:xfrm>
              <a:off x="1583107" y="1613069"/>
              <a:ext cx="3625806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Data Validation Process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52" name="Freeform 19_1"/>
          <p:cNvSpPr/>
          <p:nvPr/>
        </p:nvSpPr>
        <p:spPr>
          <a:xfrm flipH="1">
            <a:off x="6148855" y="2489164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04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" name="组合 17"/>
          <p:cNvGrpSpPr/>
          <p:nvPr/>
        </p:nvGrpSpPr>
        <p:grpSpPr>
          <a:xfrm>
            <a:off x="743309" y="3633385"/>
            <a:ext cx="4513588" cy="801246"/>
            <a:chOff x="695325" y="1511300"/>
            <a:chExt cx="4513588" cy="801246"/>
          </a:xfrm>
        </p:grpSpPr>
        <p:sp>
          <p:nvSpPr>
            <p:cNvPr id="7" name="文本框 21"/>
            <p:cNvSpPr txBox="1"/>
            <p:nvPr/>
          </p:nvSpPr>
          <p:spPr>
            <a:xfrm>
              <a:off x="1583107" y="1613069"/>
              <a:ext cx="3625806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Processing in Oracle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任意多边形: 形状 19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9" name="Freeform 19_1"/>
          <p:cNvSpPr/>
          <p:nvPr/>
        </p:nvSpPr>
        <p:spPr>
          <a:xfrm flipH="1">
            <a:off x="819024" y="3709100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05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0" name="组合 31"/>
          <p:cNvGrpSpPr/>
          <p:nvPr/>
        </p:nvGrpSpPr>
        <p:grpSpPr>
          <a:xfrm>
            <a:off x="743309" y="4704529"/>
            <a:ext cx="4513588" cy="801246"/>
            <a:chOff x="695325" y="1511300"/>
            <a:chExt cx="4513588" cy="801246"/>
          </a:xfrm>
        </p:grpSpPr>
        <p:sp>
          <p:nvSpPr>
            <p:cNvPr id="13" name="文本框 41"/>
            <p:cNvSpPr txBox="1"/>
            <p:nvPr/>
          </p:nvSpPr>
          <p:spPr>
            <a:xfrm>
              <a:off x="1583107" y="1613069"/>
              <a:ext cx="3625806" cy="615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Confirmation to Requestor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" name="任意多边形: 形状 39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5" name="Freeform 19_1"/>
          <p:cNvSpPr/>
          <p:nvPr/>
        </p:nvSpPr>
        <p:spPr>
          <a:xfrm flipH="1">
            <a:off x="819024" y="4780244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07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7" name="组合 43"/>
          <p:cNvGrpSpPr/>
          <p:nvPr/>
        </p:nvGrpSpPr>
        <p:grpSpPr>
          <a:xfrm>
            <a:off x="6113780" y="3633385"/>
            <a:ext cx="4513588" cy="801246"/>
            <a:chOff x="695325" y="1511300"/>
            <a:chExt cx="4513588" cy="801246"/>
          </a:xfrm>
        </p:grpSpPr>
        <p:sp>
          <p:nvSpPr>
            <p:cNvPr id="26" name="文本框 48"/>
            <p:cNvSpPr txBox="1"/>
            <p:nvPr/>
          </p:nvSpPr>
          <p:spPr>
            <a:xfrm>
              <a:off x="1583107" y="1613069"/>
              <a:ext cx="3625806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Handling Sensitive Data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任意多边形: 形状 46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8" name="Freeform 19_1"/>
          <p:cNvSpPr/>
          <p:nvPr/>
        </p:nvSpPr>
        <p:spPr>
          <a:xfrm flipH="1">
            <a:off x="6189495" y="3709100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06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9" name="组合 50"/>
          <p:cNvGrpSpPr/>
          <p:nvPr/>
        </p:nvGrpSpPr>
        <p:grpSpPr>
          <a:xfrm>
            <a:off x="6113780" y="4704529"/>
            <a:ext cx="4513588" cy="801246"/>
            <a:chOff x="695325" y="1511300"/>
            <a:chExt cx="4513588" cy="801246"/>
          </a:xfrm>
        </p:grpSpPr>
        <p:sp>
          <p:nvSpPr>
            <p:cNvPr id="43" name="文本框 55"/>
            <p:cNvSpPr txBox="1"/>
            <p:nvPr/>
          </p:nvSpPr>
          <p:spPr>
            <a:xfrm>
              <a:off x="1583107" y="1613069"/>
              <a:ext cx="3625806" cy="615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Identifying Gaps in Content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0" name="任意多边形: 形状 53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57" name="Freeform 19_1"/>
          <p:cNvSpPr/>
          <p:nvPr/>
        </p:nvSpPr>
        <p:spPr>
          <a:xfrm flipH="1">
            <a:off x="6189495" y="4780244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08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58" name="组合 31"/>
          <p:cNvGrpSpPr/>
          <p:nvPr/>
        </p:nvGrpSpPr>
        <p:grpSpPr>
          <a:xfrm>
            <a:off x="743309" y="5928174"/>
            <a:ext cx="4513588" cy="801246"/>
            <a:chOff x="695325" y="1511300"/>
            <a:chExt cx="4513588" cy="801246"/>
          </a:xfrm>
        </p:grpSpPr>
        <p:sp>
          <p:nvSpPr>
            <p:cNvPr id="59" name="文本框 41"/>
            <p:cNvSpPr txBox="1"/>
            <p:nvPr/>
          </p:nvSpPr>
          <p:spPr>
            <a:xfrm>
              <a:off x="1583107" y="1613069"/>
              <a:ext cx="3625806" cy="615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Language and Grammer Accuracy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0" name="任意多边形: 形状 39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61" name="Freeform 19_1"/>
          <p:cNvSpPr/>
          <p:nvPr/>
        </p:nvSpPr>
        <p:spPr>
          <a:xfrm flipH="1">
            <a:off x="819024" y="6003889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09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62" name="组合 50"/>
          <p:cNvGrpSpPr/>
          <p:nvPr/>
        </p:nvGrpSpPr>
        <p:grpSpPr>
          <a:xfrm>
            <a:off x="6113780" y="5928174"/>
            <a:ext cx="4513588" cy="801246"/>
            <a:chOff x="695325" y="1511300"/>
            <a:chExt cx="4513588" cy="801246"/>
          </a:xfrm>
        </p:grpSpPr>
        <p:sp>
          <p:nvSpPr>
            <p:cNvPr id="63" name="文本框 55"/>
            <p:cNvSpPr txBox="1"/>
            <p:nvPr/>
          </p:nvSpPr>
          <p:spPr>
            <a:xfrm>
              <a:off x="1583107" y="1613069"/>
              <a:ext cx="3625806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r>
                <a:rPr lang="en-US" sz="2000">
                  <a:solidFill>
                    <a:schemeClr val="bg1"/>
                  </a:solidFill>
                  <a:latin typeface="+mj-lt"/>
                </a:rPr>
                <a:t>Summary of SOP</a:t>
              </a:r>
              <a:endParaRPr lang="en-US" sz="20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4" name="任意多边形: 形状 53"/>
            <p:cNvSpPr/>
            <p:nvPr/>
          </p:nvSpPr>
          <p:spPr>
            <a:xfrm flipH="1">
              <a:off x="695325" y="1511300"/>
              <a:ext cx="801244" cy="801246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 sz="36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65" name="Freeform 19_1"/>
          <p:cNvSpPr/>
          <p:nvPr/>
        </p:nvSpPr>
        <p:spPr>
          <a:xfrm flipH="1">
            <a:off x="6189495" y="6003889"/>
            <a:ext cx="649814" cy="649816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+mj-lt"/>
              </a:rPr>
              <a:t>10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2" name="任意多边形: 形状 31"/>
          <p:cNvSpPr/>
          <p:nvPr/>
        </p:nvSpPr>
        <p:spPr>
          <a:xfrm flipH="1" flipV="1">
            <a:off x="695325" y="1417134"/>
            <a:ext cx="4607891" cy="4607891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76200"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Introduction to Process Mapping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32699" y="3117450"/>
            <a:ext cx="3709785" cy="166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50000"/>
              </a:lnSpc>
            </a:pPr>
            <a:r>
              <a:rPr lang="en-US" altLang="en-GB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Overview of Process Mapping</a:t>
            </a:r>
            <a:endParaRPr lang="en-US" altLang="en-GB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Importance in Business Operations</a:t>
            </a:r>
            <a:endParaRPr lang="en-US" altLang="en-GB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Concepts</a:t>
            </a:r>
            <a:endParaRPr lang="en-US" altLang="en-GB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96892" y="2441375"/>
            <a:ext cx="3181398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Intrdocuction to Process mapping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5931090" y="765975"/>
            <a:ext cx="5553304" cy="5553302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8100000" scaled="1"/>
          </a:gra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任意多边形: 形状 30"/>
          <p:cNvSpPr/>
          <p:nvPr/>
        </p:nvSpPr>
        <p:spPr>
          <a:xfrm flipH="1" flipV="1">
            <a:off x="460618" y="4886498"/>
            <a:ext cx="1389211" cy="1389211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524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6" name="任意多边形: 形状 35"/>
          <p:cNvSpPr/>
          <p:nvPr/>
        </p:nvSpPr>
        <p:spPr>
          <a:xfrm>
            <a:off x="0" y="3721444"/>
            <a:ext cx="12192000" cy="3136555"/>
          </a:xfrm>
          <a:custGeom>
            <a:avLst/>
            <a:gdLst>
              <a:gd name="connsiteX0" fmla="*/ 7835403 w 12192000"/>
              <a:gd name="connsiteY0" fmla="*/ 0 h 3136555"/>
              <a:gd name="connsiteX1" fmla="*/ 11935349 w 12192000"/>
              <a:gd name="connsiteY1" fmla="*/ 1016626 h 3136555"/>
              <a:gd name="connsiteX2" fmla="*/ 12192000 w 12192000"/>
              <a:gd name="connsiteY2" fmla="*/ 1159364 h 3136555"/>
              <a:gd name="connsiteX3" fmla="*/ 12192000 w 12192000"/>
              <a:gd name="connsiteY3" fmla="*/ 3136555 h 3136555"/>
              <a:gd name="connsiteX4" fmla="*/ 0 w 12192000"/>
              <a:gd name="connsiteY4" fmla="*/ 3136555 h 3136555"/>
              <a:gd name="connsiteX5" fmla="*/ 0 w 12192000"/>
              <a:gd name="connsiteY5" fmla="*/ 17764 h 3136555"/>
              <a:gd name="connsiteX6" fmla="*/ 7483657 w 12192000"/>
              <a:gd name="connsiteY6" fmla="*/ 17764 h 313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36555">
                <a:moveTo>
                  <a:pt x="7835403" y="0"/>
                </a:moveTo>
                <a:cubicBezTo>
                  <a:pt x="9316670" y="0"/>
                  <a:pt x="10712073" y="367630"/>
                  <a:pt x="11935349" y="1016626"/>
                </a:cubicBezTo>
                <a:lnTo>
                  <a:pt x="12192000" y="1159364"/>
                </a:lnTo>
                <a:lnTo>
                  <a:pt x="12192000" y="3136555"/>
                </a:lnTo>
                <a:lnTo>
                  <a:pt x="0" y="3136555"/>
                </a:lnTo>
                <a:lnTo>
                  <a:pt x="0" y="17764"/>
                </a:lnTo>
                <a:lnTo>
                  <a:pt x="7483657" y="1776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Request Submission by Requester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任意多边形: 形状 5"/>
          <p:cNvSpPr/>
          <p:nvPr/>
        </p:nvSpPr>
        <p:spPr>
          <a:xfrm>
            <a:off x="845763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6755" y="2069082"/>
            <a:ext cx="3594159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Requestor identifies the need to update customer master records and prepares to submit a request.</a:t>
            </a:r>
            <a:endParaRPr lang="en-US" altLang="en-GB"/>
          </a:p>
        </p:txBody>
      </p:sp>
      <p:sp>
        <p:nvSpPr>
          <p:cNvPr id="9" name="文本框 8"/>
          <p:cNvSpPr txBox="1"/>
          <p:nvPr/>
        </p:nvSpPr>
        <p:spPr>
          <a:xfrm>
            <a:off x="1906755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Initial Request</a:t>
            </a:r>
            <a:endParaRPr lang="en-US" sz="2000">
              <a:latin typeface="+mj-lt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6" y="2011267"/>
            <a:ext cx="540000" cy="540000"/>
          </a:xfrm>
          <a:prstGeom prst="rect">
            <a:avLst/>
          </a:prstGeom>
        </p:spPr>
      </p:pic>
      <p:sp>
        <p:nvSpPr>
          <p:cNvPr id="45" name="任意多边形: 形状 44"/>
          <p:cNvSpPr/>
          <p:nvPr/>
        </p:nvSpPr>
        <p:spPr>
          <a:xfrm>
            <a:off x="6390808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1800" y="2069082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Requestor gathers all necessary supporting documentation required for the update, ensuring completeness and accuracy.</a:t>
            </a:r>
            <a:endParaRPr lang="en-US" altLang="en-GB"/>
          </a:p>
        </p:txBody>
      </p:sp>
      <p:sp>
        <p:nvSpPr>
          <p:cNvPr id="47" name="文本框 46"/>
          <p:cNvSpPr txBox="1"/>
          <p:nvPr/>
        </p:nvSpPr>
        <p:spPr>
          <a:xfrm>
            <a:off x="7451800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Complie Documentation</a:t>
            </a:r>
            <a:endParaRPr lang="en-US" sz="2000">
              <a:latin typeface="+mj-lt"/>
            </a:endParaRP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4220" y="2024943"/>
            <a:ext cx="540000" cy="540000"/>
          </a:xfrm>
          <a:prstGeom prst="rect">
            <a:avLst/>
          </a:prstGeom>
        </p:spPr>
      </p:pic>
      <p:sp>
        <p:nvSpPr>
          <p:cNvPr id="3" name="文本框 45"/>
          <p:cNvSpPr txBox="1"/>
          <p:nvPr/>
        </p:nvSpPr>
        <p:spPr>
          <a:xfrm>
            <a:off x="4084395" y="4522087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The Requestor sends an email to the Data Steward, including the update request and attached supporting documentation for review.</a:t>
            </a:r>
            <a:endParaRPr lang="en-US" altLang="en-GB"/>
          </a:p>
        </p:txBody>
      </p:sp>
      <p:sp>
        <p:nvSpPr>
          <p:cNvPr id="4" name="文本框 46"/>
          <p:cNvSpPr txBox="1"/>
          <p:nvPr/>
        </p:nvSpPr>
        <p:spPr>
          <a:xfrm>
            <a:off x="4084395" y="4203778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Send Email</a:t>
            </a:r>
            <a:endParaRPr lang="en-US" sz="2000">
              <a:latin typeface="+mj-lt"/>
            </a:endParaRPr>
          </a:p>
        </p:txBody>
      </p:sp>
      <p:pic>
        <p:nvPicPr>
          <p:cNvPr id="5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815" y="4477948"/>
            <a:ext cx="540000" cy="540000"/>
          </a:xfrm>
          <a:prstGeom prst="rect">
            <a:avLst/>
          </a:prstGeom>
        </p:spPr>
      </p:pic>
      <p:sp>
        <p:nvSpPr>
          <p:cNvPr id="7" name="任意多边形: 形状 5"/>
          <p:cNvSpPr/>
          <p:nvPr/>
        </p:nvSpPr>
        <p:spPr>
          <a:xfrm>
            <a:off x="3037783" y="4319164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0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7450" y="447794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6" name="任意多边形: 形状 35"/>
          <p:cNvSpPr/>
          <p:nvPr/>
        </p:nvSpPr>
        <p:spPr>
          <a:xfrm>
            <a:off x="0" y="3721444"/>
            <a:ext cx="12192000" cy="3136555"/>
          </a:xfrm>
          <a:custGeom>
            <a:avLst/>
            <a:gdLst>
              <a:gd name="connsiteX0" fmla="*/ 7835403 w 12192000"/>
              <a:gd name="connsiteY0" fmla="*/ 0 h 3136555"/>
              <a:gd name="connsiteX1" fmla="*/ 11935349 w 12192000"/>
              <a:gd name="connsiteY1" fmla="*/ 1016626 h 3136555"/>
              <a:gd name="connsiteX2" fmla="*/ 12192000 w 12192000"/>
              <a:gd name="connsiteY2" fmla="*/ 1159364 h 3136555"/>
              <a:gd name="connsiteX3" fmla="*/ 12192000 w 12192000"/>
              <a:gd name="connsiteY3" fmla="*/ 3136555 h 3136555"/>
              <a:gd name="connsiteX4" fmla="*/ 0 w 12192000"/>
              <a:gd name="connsiteY4" fmla="*/ 3136555 h 3136555"/>
              <a:gd name="connsiteX5" fmla="*/ 0 w 12192000"/>
              <a:gd name="connsiteY5" fmla="*/ 17764 h 3136555"/>
              <a:gd name="connsiteX6" fmla="*/ 7483657 w 12192000"/>
              <a:gd name="connsiteY6" fmla="*/ 17764 h 313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36555">
                <a:moveTo>
                  <a:pt x="7835403" y="0"/>
                </a:moveTo>
                <a:cubicBezTo>
                  <a:pt x="9316670" y="0"/>
                  <a:pt x="10712073" y="367630"/>
                  <a:pt x="11935349" y="1016626"/>
                </a:cubicBezTo>
                <a:lnTo>
                  <a:pt x="12192000" y="1159364"/>
                </a:lnTo>
                <a:lnTo>
                  <a:pt x="12192000" y="3136555"/>
                </a:lnTo>
                <a:lnTo>
                  <a:pt x="0" y="3136555"/>
                </a:lnTo>
                <a:lnTo>
                  <a:pt x="0" y="17764"/>
                </a:lnTo>
                <a:lnTo>
                  <a:pt x="7483657" y="1776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Initial Review by Data Steward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任意多边形: 形状 5"/>
          <p:cNvSpPr/>
          <p:nvPr/>
        </p:nvSpPr>
        <p:spPr>
          <a:xfrm>
            <a:off x="845763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6755" y="2069082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Data Steward receives the request for updating customer master records along with supporting documentation via email from the Requestor.</a:t>
            </a:r>
            <a:endParaRPr lang="en-US" altLang="en-GB"/>
          </a:p>
        </p:txBody>
      </p:sp>
      <p:sp>
        <p:nvSpPr>
          <p:cNvPr id="9" name="文本框 8"/>
          <p:cNvSpPr txBox="1"/>
          <p:nvPr/>
        </p:nvSpPr>
        <p:spPr>
          <a:xfrm>
            <a:off x="1906755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Recieve Update Request</a:t>
            </a:r>
            <a:endParaRPr lang="en-US" sz="2000">
              <a:latin typeface="+mj-lt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6" y="2011267"/>
            <a:ext cx="540000" cy="540000"/>
          </a:xfrm>
          <a:prstGeom prst="rect">
            <a:avLst/>
          </a:prstGeom>
        </p:spPr>
      </p:pic>
      <p:sp>
        <p:nvSpPr>
          <p:cNvPr id="45" name="任意多边形: 形状 44"/>
          <p:cNvSpPr/>
          <p:nvPr/>
        </p:nvSpPr>
        <p:spPr>
          <a:xfrm>
            <a:off x="6390808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1800" y="2069082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Data Steward thoroughly reviews the request and all accompanying documentation to ensure completeness and relevance.</a:t>
            </a:r>
            <a:endParaRPr lang="en-US" altLang="en-GB"/>
          </a:p>
        </p:txBody>
      </p:sp>
      <p:sp>
        <p:nvSpPr>
          <p:cNvPr id="47" name="文本框 46"/>
          <p:cNvSpPr txBox="1"/>
          <p:nvPr/>
        </p:nvSpPr>
        <p:spPr>
          <a:xfrm>
            <a:off x="7451800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Review Documentation</a:t>
            </a:r>
            <a:endParaRPr lang="en-US" sz="2000">
              <a:latin typeface="+mj-lt"/>
            </a:endParaRP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4220" y="2024943"/>
            <a:ext cx="540000" cy="540000"/>
          </a:xfrm>
          <a:prstGeom prst="rect">
            <a:avLst/>
          </a:prstGeom>
        </p:spPr>
      </p:pic>
      <p:sp>
        <p:nvSpPr>
          <p:cNvPr id="3" name="文本框 45"/>
          <p:cNvSpPr txBox="1"/>
          <p:nvPr/>
        </p:nvSpPr>
        <p:spPr>
          <a:xfrm>
            <a:off x="1906980" y="4597652"/>
            <a:ext cx="3594159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A manual check is conducted to identify any potential duplication of data within the existing customer records.</a:t>
            </a:r>
            <a:endParaRPr lang="en-US" altLang="en-GB"/>
          </a:p>
        </p:txBody>
      </p:sp>
      <p:sp>
        <p:nvSpPr>
          <p:cNvPr id="4" name="文本框 46"/>
          <p:cNvSpPr txBox="1"/>
          <p:nvPr/>
        </p:nvSpPr>
        <p:spPr>
          <a:xfrm>
            <a:off x="1906980" y="427934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Check Data Duplication</a:t>
            </a:r>
            <a:endParaRPr lang="en-US" sz="2000">
              <a:latin typeface="+mj-lt"/>
            </a:endParaRPr>
          </a:p>
        </p:txBody>
      </p:sp>
      <p:pic>
        <p:nvPicPr>
          <p:cNvPr id="5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400" y="4553513"/>
            <a:ext cx="540000" cy="540000"/>
          </a:xfrm>
          <a:prstGeom prst="rect">
            <a:avLst/>
          </a:prstGeom>
        </p:spPr>
      </p:pic>
      <p:sp>
        <p:nvSpPr>
          <p:cNvPr id="7" name="任意多边形: 形状 5"/>
          <p:cNvSpPr/>
          <p:nvPr/>
        </p:nvSpPr>
        <p:spPr>
          <a:xfrm>
            <a:off x="860368" y="439472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0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035" y="4553513"/>
            <a:ext cx="540000" cy="540000"/>
          </a:xfrm>
          <a:prstGeom prst="rect">
            <a:avLst/>
          </a:prstGeom>
        </p:spPr>
      </p:pic>
      <p:sp>
        <p:nvSpPr>
          <p:cNvPr id="12" name="文本框 45"/>
          <p:cNvSpPr txBox="1"/>
          <p:nvPr/>
        </p:nvSpPr>
        <p:spPr>
          <a:xfrm>
            <a:off x="7248600" y="4504307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If duplicate data is found or further information is needed, the Data Steward reaches out to the customer to gather the required details for validation.</a:t>
            </a:r>
            <a:endParaRPr lang="en-US" altLang="en-GB"/>
          </a:p>
        </p:txBody>
      </p:sp>
      <p:sp>
        <p:nvSpPr>
          <p:cNvPr id="13" name="文本框 46"/>
          <p:cNvSpPr txBox="1"/>
          <p:nvPr/>
        </p:nvSpPr>
        <p:spPr>
          <a:xfrm>
            <a:off x="7248600" y="4185998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Contact for Additional Info</a:t>
            </a:r>
            <a:endParaRPr lang="en-US" sz="2000">
              <a:latin typeface="+mj-lt"/>
            </a:endParaRPr>
          </a:p>
        </p:txBody>
      </p:sp>
      <p:pic>
        <p:nvPicPr>
          <p:cNvPr id="14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020" y="4460168"/>
            <a:ext cx="540000" cy="540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>
            <a:off x="6201988" y="4301384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7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655" y="446016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6" name="任意多边形: 形状 35"/>
          <p:cNvSpPr/>
          <p:nvPr/>
        </p:nvSpPr>
        <p:spPr>
          <a:xfrm>
            <a:off x="0" y="3721444"/>
            <a:ext cx="12192000" cy="3136555"/>
          </a:xfrm>
          <a:custGeom>
            <a:avLst/>
            <a:gdLst>
              <a:gd name="connsiteX0" fmla="*/ 7835403 w 12192000"/>
              <a:gd name="connsiteY0" fmla="*/ 0 h 3136555"/>
              <a:gd name="connsiteX1" fmla="*/ 11935349 w 12192000"/>
              <a:gd name="connsiteY1" fmla="*/ 1016626 h 3136555"/>
              <a:gd name="connsiteX2" fmla="*/ 12192000 w 12192000"/>
              <a:gd name="connsiteY2" fmla="*/ 1159364 h 3136555"/>
              <a:gd name="connsiteX3" fmla="*/ 12192000 w 12192000"/>
              <a:gd name="connsiteY3" fmla="*/ 3136555 h 3136555"/>
              <a:gd name="connsiteX4" fmla="*/ 0 w 12192000"/>
              <a:gd name="connsiteY4" fmla="*/ 3136555 h 3136555"/>
              <a:gd name="connsiteX5" fmla="*/ 0 w 12192000"/>
              <a:gd name="connsiteY5" fmla="*/ 17764 h 3136555"/>
              <a:gd name="connsiteX6" fmla="*/ 7483657 w 12192000"/>
              <a:gd name="connsiteY6" fmla="*/ 17764 h 313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36555">
                <a:moveTo>
                  <a:pt x="7835403" y="0"/>
                </a:moveTo>
                <a:cubicBezTo>
                  <a:pt x="9316670" y="0"/>
                  <a:pt x="10712073" y="367630"/>
                  <a:pt x="11935349" y="1016626"/>
                </a:cubicBezTo>
                <a:lnTo>
                  <a:pt x="12192000" y="1159364"/>
                </a:lnTo>
                <a:lnTo>
                  <a:pt x="12192000" y="3136555"/>
                </a:lnTo>
                <a:lnTo>
                  <a:pt x="0" y="3136555"/>
                </a:lnTo>
                <a:lnTo>
                  <a:pt x="0" y="17764"/>
                </a:lnTo>
                <a:lnTo>
                  <a:pt x="7483657" y="1776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Data Validation Process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任意多边形: 形状 5"/>
          <p:cNvSpPr/>
          <p:nvPr/>
        </p:nvSpPr>
        <p:spPr>
          <a:xfrm>
            <a:off x="845763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97380" y="2383155"/>
            <a:ext cx="4167505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Data Steward begins by thoroughly reviewing the update request and all supporting documentation submitted by the Requestor to ensure completeness.</a:t>
            </a:r>
            <a:endParaRPr lang="en-US" altLang="en-GB"/>
          </a:p>
        </p:txBody>
      </p:sp>
      <p:sp>
        <p:nvSpPr>
          <p:cNvPr id="9" name="文本框 8"/>
          <p:cNvSpPr txBox="1"/>
          <p:nvPr/>
        </p:nvSpPr>
        <p:spPr>
          <a:xfrm>
            <a:off x="1906755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Review Request and </a:t>
            </a:r>
            <a:endParaRPr lang="en-US" sz="2000">
              <a:latin typeface="+mj-lt"/>
            </a:endParaRPr>
          </a:p>
          <a:p>
            <a:r>
              <a:rPr lang="en-US" sz="2000">
                <a:latin typeface="+mj-lt"/>
              </a:rPr>
              <a:t>Documentation</a:t>
            </a:r>
            <a:endParaRPr lang="en-US" sz="2000">
              <a:latin typeface="+mj-lt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6" y="2011267"/>
            <a:ext cx="540000" cy="540000"/>
          </a:xfrm>
          <a:prstGeom prst="rect">
            <a:avLst/>
          </a:prstGeom>
        </p:spPr>
      </p:pic>
      <p:sp>
        <p:nvSpPr>
          <p:cNvPr id="45" name="任意多边形: 形状 44"/>
          <p:cNvSpPr/>
          <p:nvPr/>
        </p:nvSpPr>
        <p:spPr>
          <a:xfrm>
            <a:off x="6390808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1800" y="2354832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A manual check for data duplication is conducted to identify any existing records that may conflict with the new information provided.</a:t>
            </a:r>
            <a:endParaRPr lang="en-US" altLang="en-GB"/>
          </a:p>
        </p:txBody>
      </p:sp>
      <p:sp>
        <p:nvSpPr>
          <p:cNvPr id="47" name="文本框 46"/>
          <p:cNvSpPr txBox="1"/>
          <p:nvPr/>
        </p:nvSpPr>
        <p:spPr>
          <a:xfrm>
            <a:off x="7451800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Manual Data Duplication</a:t>
            </a:r>
            <a:endParaRPr lang="en-US" sz="2000">
              <a:latin typeface="+mj-lt"/>
            </a:endParaRPr>
          </a:p>
          <a:p>
            <a:r>
              <a:rPr lang="en-US" sz="2000">
                <a:latin typeface="+mj-lt"/>
              </a:rPr>
              <a:t>Check</a:t>
            </a:r>
            <a:endParaRPr lang="en-US" sz="2000">
              <a:latin typeface="+mj-lt"/>
            </a:endParaRP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4220" y="2024943"/>
            <a:ext cx="540000" cy="540000"/>
          </a:xfrm>
          <a:prstGeom prst="rect">
            <a:avLst/>
          </a:prstGeom>
        </p:spPr>
      </p:pic>
      <p:sp>
        <p:nvSpPr>
          <p:cNvPr id="3" name="文本框 45"/>
          <p:cNvSpPr txBox="1"/>
          <p:nvPr/>
        </p:nvSpPr>
        <p:spPr>
          <a:xfrm>
            <a:off x="4074795" y="4864735"/>
            <a:ext cx="4577080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If any discrepancies or additional information needs arise during the review, the Data Steward contacts the customer directly to gather the necessary details for validation.</a:t>
            </a:r>
            <a:endParaRPr lang="en-US" altLang="en-GB"/>
          </a:p>
        </p:txBody>
      </p:sp>
      <p:sp>
        <p:nvSpPr>
          <p:cNvPr id="4" name="文本框 46"/>
          <p:cNvSpPr txBox="1"/>
          <p:nvPr/>
        </p:nvSpPr>
        <p:spPr>
          <a:xfrm>
            <a:off x="4084395" y="4203778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Coustmer Contact for Additional </a:t>
            </a:r>
            <a:endParaRPr lang="en-US" sz="2000">
              <a:latin typeface="+mj-lt"/>
            </a:endParaRPr>
          </a:p>
          <a:p>
            <a:r>
              <a:rPr lang="en-US" sz="2000">
                <a:latin typeface="+mj-lt"/>
              </a:rPr>
              <a:t>Information</a:t>
            </a:r>
            <a:endParaRPr lang="en-US" sz="2000">
              <a:latin typeface="+mj-lt"/>
            </a:endParaRPr>
          </a:p>
        </p:txBody>
      </p:sp>
      <p:pic>
        <p:nvPicPr>
          <p:cNvPr id="5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815" y="4477948"/>
            <a:ext cx="540000" cy="540000"/>
          </a:xfrm>
          <a:prstGeom prst="rect">
            <a:avLst/>
          </a:prstGeom>
        </p:spPr>
      </p:pic>
      <p:sp>
        <p:nvSpPr>
          <p:cNvPr id="7" name="任意多边形: 形状 5"/>
          <p:cNvSpPr/>
          <p:nvPr/>
        </p:nvSpPr>
        <p:spPr>
          <a:xfrm>
            <a:off x="3037783" y="4319164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0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7450" y="447794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6" name="任意多边形: 形状 35"/>
          <p:cNvSpPr/>
          <p:nvPr/>
        </p:nvSpPr>
        <p:spPr>
          <a:xfrm>
            <a:off x="0" y="3721444"/>
            <a:ext cx="12192000" cy="3136555"/>
          </a:xfrm>
          <a:custGeom>
            <a:avLst/>
            <a:gdLst>
              <a:gd name="connsiteX0" fmla="*/ 7835403 w 12192000"/>
              <a:gd name="connsiteY0" fmla="*/ 0 h 3136555"/>
              <a:gd name="connsiteX1" fmla="*/ 11935349 w 12192000"/>
              <a:gd name="connsiteY1" fmla="*/ 1016626 h 3136555"/>
              <a:gd name="connsiteX2" fmla="*/ 12192000 w 12192000"/>
              <a:gd name="connsiteY2" fmla="*/ 1159364 h 3136555"/>
              <a:gd name="connsiteX3" fmla="*/ 12192000 w 12192000"/>
              <a:gd name="connsiteY3" fmla="*/ 3136555 h 3136555"/>
              <a:gd name="connsiteX4" fmla="*/ 0 w 12192000"/>
              <a:gd name="connsiteY4" fmla="*/ 3136555 h 3136555"/>
              <a:gd name="connsiteX5" fmla="*/ 0 w 12192000"/>
              <a:gd name="connsiteY5" fmla="*/ 17764 h 3136555"/>
              <a:gd name="connsiteX6" fmla="*/ 7483657 w 12192000"/>
              <a:gd name="connsiteY6" fmla="*/ 17764 h 313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36555">
                <a:moveTo>
                  <a:pt x="7835403" y="0"/>
                </a:moveTo>
                <a:cubicBezTo>
                  <a:pt x="9316670" y="0"/>
                  <a:pt x="10712073" y="367630"/>
                  <a:pt x="11935349" y="1016626"/>
                </a:cubicBezTo>
                <a:lnTo>
                  <a:pt x="12192000" y="1159364"/>
                </a:lnTo>
                <a:lnTo>
                  <a:pt x="12192000" y="3136555"/>
                </a:lnTo>
                <a:lnTo>
                  <a:pt x="0" y="3136555"/>
                </a:lnTo>
                <a:lnTo>
                  <a:pt x="0" y="17764"/>
                </a:lnTo>
                <a:lnTo>
                  <a:pt x="7483657" y="1776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Processing in Oracle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任意多边形: 形状 5"/>
          <p:cNvSpPr/>
          <p:nvPr/>
        </p:nvSpPr>
        <p:spPr>
          <a:xfrm>
            <a:off x="845763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6755" y="2069082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Data Steward reviews the update request and supporting documentation to ensure all necessary information is provided.</a:t>
            </a:r>
            <a:endParaRPr lang="en-US" altLang="en-GB"/>
          </a:p>
        </p:txBody>
      </p:sp>
      <p:sp>
        <p:nvSpPr>
          <p:cNvPr id="9" name="文本框 8"/>
          <p:cNvSpPr txBox="1"/>
          <p:nvPr/>
        </p:nvSpPr>
        <p:spPr>
          <a:xfrm>
            <a:off x="1906755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Validate Request</a:t>
            </a:r>
            <a:endParaRPr lang="en-US" sz="2000">
              <a:latin typeface="+mj-lt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6" y="2011267"/>
            <a:ext cx="540000" cy="540000"/>
          </a:xfrm>
          <a:prstGeom prst="rect">
            <a:avLst/>
          </a:prstGeom>
        </p:spPr>
      </p:pic>
      <p:sp>
        <p:nvSpPr>
          <p:cNvPr id="45" name="任意多边形: 形状 44"/>
          <p:cNvSpPr/>
          <p:nvPr/>
        </p:nvSpPr>
        <p:spPr>
          <a:xfrm>
            <a:off x="6390808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1800" y="2069082"/>
            <a:ext cx="3594159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Data Steward evaluates the sensitivity of the data being processed to determine if additional documentation is required.</a:t>
            </a:r>
            <a:endParaRPr lang="en-US" altLang="en-GB"/>
          </a:p>
        </p:txBody>
      </p:sp>
      <p:sp>
        <p:nvSpPr>
          <p:cNvPr id="47" name="文本框 46"/>
          <p:cNvSpPr txBox="1"/>
          <p:nvPr/>
        </p:nvSpPr>
        <p:spPr>
          <a:xfrm>
            <a:off x="7451800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Data Senitivity Assessment</a:t>
            </a:r>
            <a:endParaRPr lang="en-US" sz="2000">
              <a:latin typeface="+mj-lt"/>
            </a:endParaRP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4220" y="2024943"/>
            <a:ext cx="540000" cy="540000"/>
          </a:xfrm>
          <a:prstGeom prst="rect">
            <a:avLst/>
          </a:prstGeom>
        </p:spPr>
      </p:pic>
      <p:sp>
        <p:nvSpPr>
          <p:cNvPr id="3" name="文本框 45"/>
          <p:cNvSpPr txBox="1"/>
          <p:nvPr/>
        </p:nvSpPr>
        <p:spPr>
          <a:xfrm>
            <a:off x="1906980" y="4597652"/>
            <a:ext cx="3594159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A manual check is conducted to identify any duplicate customer records that may exist in the database.</a:t>
            </a:r>
            <a:endParaRPr lang="en-US" altLang="en-GB"/>
          </a:p>
        </p:txBody>
      </p:sp>
      <p:sp>
        <p:nvSpPr>
          <p:cNvPr id="4" name="文本框 46"/>
          <p:cNvSpPr txBox="1"/>
          <p:nvPr/>
        </p:nvSpPr>
        <p:spPr>
          <a:xfrm>
            <a:off x="1906980" y="427934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Check Data Duplication</a:t>
            </a:r>
            <a:endParaRPr lang="en-US" sz="2000">
              <a:latin typeface="+mj-lt"/>
            </a:endParaRPr>
          </a:p>
        </p:txBody>
      </p:sp>
      <p:pic>
        <p:nvPicPr>
          <p:cNvPr id="5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400" y="4553513"/>
            <a:ext cx="540000" cy="540000"/>
          </a:xfrm>
          <a:prstGeom prst="rect">
            <a:avLst/>
          </a:prstGeom>
        </p:spPr>
      </p:pic>
      <p:sp>
        <p:nvSpPr>
          <p:cNvPr id="7" name="任意多边形: 形状 5"/>
          <p:cNvSpPr/>
          <p:nvPr/>
        </p:nvSpPr>
        <p:spPr>
          <a:xfrm>
            <a:off x="860368" y="439472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0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035" y="4553513"/>
            <a:ext cx="540000" cy="540000"/>
          </a:xfrm>
          <a:prstGeom prst="rect">
            <a:avLst/>
          </a:prstGeom>
        </p:spPr>
      </p:pic>
      <p:sp>
        <p:nvSpPr>
          <p:cNvPr id="12" name="文本框 45"/>
          <p:cNvSpPr txBox="1"/>
          <p:nvPr/>
        </p:nvSpPr>
        <p:spPr>
          <a:xfrm>
            <a:off x="7248525" y="4504055"/>
            <a:ext cx="3937000" cy="2215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If the data is validated and deemed non-sensitive, the Data Steward processes the request in Oracle, updating the customer master record accordingly. If the data is sensitive, supporting documentation is attached before execution.</a:t>
            </a:r>
            <a:endParaRPr lang="en-US" altLang="en-GB"/>
          </a:p>
        </p:txBody>
      </p:sp>
      <p:sp>
        <p:nvSpPr>
          <p:cNvPr id="13" name="文本框 46"/>
          <p:cNvSpPr txBox="1"/>
          <p:nvPr/>
        </p:nvSpPr>
        <p:spPr>
          <a:xfrm>
            <a:off x="7248600" y="4185998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Execute in Oracle</a:t>
            </a:r>
            <a:endParaRPr lang="en-US" sz="2000">
              <a:latin typeface="+mj-lt"/>
            </a:endParaRPr>
          </a:p>
        </p:txBody>
      </p:sp>
      <p:pic>
        <p:nvPicPr>
          <p:cNvPr id="14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020" y="4460168"/>
            <a:ext cx="540000" cy="540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>
            <a:off x="6201988" y="4301384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7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655" y="446016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2" name="任意多边形: 形状 31"/>
          <p:cNvSpPr/>
          <p:nvPr/>
        </p:nvSpPr>
        <p:spPr>
          <a:xfrm flipH="1" flipV="1">
            <a:off x="695325" y="1417134"/>
            <a:ext cx="4607891" cy="4607891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76200"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Handling Sensitve data 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32699" y="3117450"/>
            <a:ext cx="3709785" cy="207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50000"/>
              </a:lnSpc>
            </a:pP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Assess data sensitivity during the update process.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Determine the need for additional documentation based on sensitivity.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96892" y="2441375"/>
            <a:ext cx="3181398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Identification of Sensitive Data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31" name="任意多边形: 形状 30"/>
          <p:cNvSpPr/>
          <p:nvPr/>
        </p:nvSpPr>
        <p:spPr>
          <a:xfrm flipH="1" flipV="1">
            <a:off x="460618" y="4886498"/>
            <a:ext cx="1389211" cy="1389211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524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任意多边形: 形状 31"/>
          <p:cNvSpPr/>
          <p:nvPr/>
        </p:nvSpPr>
        <p:spPr>
          <a:xfrm flipH="1" flipV="1">
            <a:off x="6403340" y="1401259"/>
            <a:ext cx="4607891" cy="4607891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76200"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文本框 4"/>
          <p:cNvSpPr txBox="1"/>
          <p:nvPr/>
        </p:nvSpPr>
        <p:spPr>
          <a:xfrm>
            <a:off x="6840714" y="3101575"/>
            <a:ext cx="3709785" cy="2493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50000"/>
              </a:lnSpc>
            </a:pP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 supporting documentation to customer records if data is sensitive.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Execute the updated records in Oracle following the attachment of documentation.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文本框 19"/>
          <p:cNvSpPr txBox="1"/>
          <p:nvPr/>
        </p:nvSpPr>
        <p:spPr>
          <a:xfrm>
            <a:off x="7104907" y="2425500"/>
            <a:ext cx="3181398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Execution Procedure in Oracle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5" name="任意多边形: 形状 30"/>
          <p:cNvSpPr/>
          <p:nvPr/>
        </p:nvSpPr>
        <p:spPr>
          <a:xfrm flipH="1" flipV="1">
            <a:off x="5768583" y="4965873"/>
            <a:ext cx="1389211" cy="1389211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524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6" name="任意多边形: 形状 35"/>
          <p:cNvSpPr/>
          <p:nvPr/>
        </p:nvSpPr>
        <p:spPr>
          <a:xfrm>
            <a:off x="0" y="3721444"/>
            <a:ext cx="12192000" cy="3136555"/>
          </a:xfrm>
          <a:custGeom>
            <a:avLst/>
            <a:gdLst>
              <a:gd name="connsiteX0" fmla="*/ 7835403 w 12192000"/>
              <a:gd name="connsiteY0" fmla="*/ 0 h 3136555"/>
              <a:gd name="connsiteX1" fmla="*/ 11935349 w 12192000"/>
              <a:gd name="connsiteY1" fmla="*/ 1016626 h 3136555"/>
              <a:gd name="connsiteX2" fmla="*/ 12192000 w 12192000"/>
              <a:gd name="connsiteY2" fmla="*/ 1159364 h 3136555"/>
              <a:gd name="connsiteX3" fmla="*/ 12192000 w 12192000"/>
              <a:gd name="connsiteY3" fmla="*/ 3136555 h 3136555"/>
              <a:gd name="connsiteX4" fmla="*/ 0 w 12192000"/>
              <a:gd name="connsiteY4" fmla="*/ 3136555 h 3136555"/>
              <a:gd name="connsiteX5" fmla="*/ 0 w 12192000"/>
              <a:gd name="connsiteY5" fmla="*/ 17764 h 3136555"/>
              <a:gd name="connsiteX6" fmla="*/ 7483657 w 12192000"/>
              <a:gd name="connsiteY6" fmla="*/ 17764 h 313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36555">
                <a:moveTo>
                  <a:pt x="7835403" y="0"/>
                </a:moveTo>
                <a:cubicBezTo>
                  <a:pt x="9316670" y="0"/>
                  <a:pt x="10712073" y="367630"/>
                  <a:pt x="11935349" y="1016626"/>
                </a:cubicBezTo>
                <a:lnTo>
                  <a:pt x="12192000" y="1159364"/>
                </a:lnTo>
                <a:lnTo>
                  <a:pt x="12192000" y="3136555"/>
                </a:lnTo>
                <a:lnTo>
                  <a:pt x="0" y="3136555"/>
                </a:lnTo>
                <a:lnTo>
                  <a:pt x="0" y="17764"/>
                </a:lnTo>
                <a:lnTo>
                  <a:pt x="7483657" y="1776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Confirmation to Requestor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任意多边形: 形状 5"/>
          <p:cNvSpPr/>
          <p:nvPr/>
        </p:nvSpPr>
        <p:spPr>
          <a:xfrm>
            <a:off x="845763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6905" y="2078355"/>
            <a:ext cx="4191000" cy="166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After processing the update request in Oracle, the Data Steward drafts a confirmation email to the Requestor.</a:t>
            </a:r>
            <a:endParaRPr lang="en-US" altLang="en-GB"/>
          </a:p>
          <a:p>
            <a:r>
              <a:rPr lang="en-US" altLang="en-GB"/>
              <a:t>Ensures all necessary details are included.</a:t>
            </a:r>
            <a:endParaRPr lang="en-US" altLang="en-GB"/>
          </a:p>
          <a:p>
            <a:endParaRPr lang="en-US" altLang="en-GB"/>
          </a:p>
        </p:txBody>
      </p:sp>
      <p:sp>
        <p:nvSpPr>
          <p:cNvPr id="9" name="文本框 8"/>
          <p:cNvSpPr txBox="1"/>
          <p:nvPr/>
        </p:nvSpPr>
        <p:spPr>
          <a:xfrm>
            <a:off x="1906755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Prepare Confirmation Email</a:t>
            </a:r>
            <a:endParaRPr lang="en-US" sz="2000">
              <a:latin typeface="+mj-lt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6" y="2011267"/>
            <a:ext cx="540000" cy="540000"/>
          </a:xfrm>
          <a:prstGeom prst="rect">
            <a:avLst/>
          </a:prstGeom>
        </p:spPr>
      </p:pic>
      <p:sp>
        <p:nvSpPr>
          <p:cNvPr id="45" name="任意多边形: 形状 44"/>
          <p:cNvSpPr/>
          <p:nvPr/>
        </p:nvSpPr>
        <p:spPr>
          <a:xfrm>
            <a:off x="6390808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1800" y="2078607"/>
            <a:ext cx="3594159" cy="166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/>
              <a:t>The Data Steward captures a screenshot of the updated customer master record.</a:t>
            </a:r>
            <a:endParaRPr lang="en-US" altLang="en-GB"/>
          </a:p>
          <a:p>
            <a:r>
              <a:rPr lang="en-US" altLang="en-GB"/>
              <a:t>Attaches it to the confirmation email for the Requestor's reference.</a:t>
            </a:r>
            <a:endParaRPr lang="en-US" altLang="en-GB"/>
          </a:p>
        </p:txBody>
      </p:sp>
      <p:sp>
        <p:nvSpPr>
          <p:cNvPr id="47" name="文本框 46"/>
          <p:cNvSpPr txBox="1"/>
          <p:nvPr/>
        </p:nvSpPr>
        <p:spPr>
          <a:xfrm>
            <a:off x="7451800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Attach Screenshot</a:t>
            </a:r>
            <a:endParaRPr lang="en-US" sz="2000">
              <a:latin typeface="+mj-lt"/>
            </a:endParaRP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4220" y="2024943"/>
            <a:ext cx="540000" cy="540000"/>
          </a:xfrm>
          <a:prstGeom prst="rect">
            <a:avLst/>
          </a:prstGeom>
        </p:spPr>
      </p:pic>
      <p:sp>
        <p:nvSpPr>
          <p:cNvPr id="3" name="文本框 45"/>
          <p:cNvSpPr txBox="1"/>
          <p:nvPr/>
        </p:nvSpPr>
        <p:spPr>
          <a:xfrm>
            <a:off x="4084395" y="4522087"/>
            <a:ext cx="3594159" cy="166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/>
              <a:t>The Data Steward sends the confirmation email to the Requestor.</a:t>
            </a:r>
            <a:endParaRPr lang="en-US" altLang="en-GB"/>
          </a:p>
          <a:p>
            <a:r>
              <a:rPr lang="en-US" altLang="en-GB"/>
              <a:t>Provides assurance that the customer record has been successfully updated.</a:t>
            </a:r>
            <a:endParaRPr lang="en-US" altLang="en-GB"/>
          </a:p>
        </p:txBody>
      </p:sp>
      <p:sp>
        <p:nvSpPr>
          <p:cNvPr id="4" name="文本框 46"/>
          <p:cNvSpPr txBox="1"/>
          <p:nvPr/>
        </p:nvSpPr>
        <p:spPr>
          <a:xfrm>
            <a:off x="4084395" y="4203778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Send Email</a:t>
            </a:r>
            <a:endParaRPr lang="en-US" sz="2000">
              <a:latin typeface="+mj-lt"/>
            </a:endParaRPr>
          </a:p>
        </p:txBody>
      </p:sp>
      <p:pic>
        <p:nvPicPr>
          <p:cNvPr id="5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815" y="4477948"/>
            <a:ext cx="540000" cy="540000"/>
          </a:xfrm>
          <a:prstGeom prst="rect">
            <a:avLst/>
          </a:prstGeom>
        </p:spPr>
      </p:pic>
      <p:sp>
        <p:nvSpPr>
          <p:cNvPr id="7" name="任意多边形: 形状 5"/>
          <p:cNvSpPr/>
          <p:nvPr/>
        </p:nvSpPr>
        <p:spPr>
          <a:xfrm>
            <a:off x="3037783" y="4319164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0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7450" y="447794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Identifying Gaps in Content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021715" y="1398270"/>
            <a:ext cx="1987550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Review Process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02225" y="1398270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Documentation Comparision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82735" y="1398270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Stakeholder Feedback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10615" y="4244975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Validation Checks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191125" y="4244975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Continuous Improvement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73455" y="1880235"/>
            <a:ext cx="29025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Conduct a thorough review of existing content to identify inconsistencies and missing information.</a:t>
            </a:r>
            <a:endParaRPr lang="en-US" altLang="en-GB"/>
          </a:p>
        </p:txBody>
      </p:sp>
      <p:sp>
        <p:nvSpPr>
          <p:cNvPr id="11" name="Text Box 10"/>
          <p:cNvSpPr txBox="1"/>
          <p:nvPr/>
        </p:nvSpPr>
        <p:spPr>
          <a:xfrm>
            <a:off x="5026025" y="2141855"/>
            <a:ext cx="29025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Compare current documentation against established standards and procedures to pinpoint discrepancies.</a:t>
            </a:r>
            <a:endParaRPr lang="en-US" altLang="en-GB"/>
          </a:p>
        </p:txBody>
      </p:sp>
      <p:sp>
        <p:nvSpPr>
          <p:cNvPr id="17" name="Text Box 16"/>
          <p:cNvSpPr txBox="1"/>
          <p:nvPr/>
        </p:nvSpPr>
        <p:spPr>
          <a:xfrm>
            <a:off x="9182735" y="2141855"/>
            <a:ext cx="29025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Gather input from stakeholders involved in the process to uncover overlooked areas or unclear instructions.</a:t>
            </a:r>
            <a:endParaRPr lang="en-US" altLang="en-GB"/>
          </a:p>
        </p:txBody>
      </p:sp>
      <p:sp>
        <p:nvSpPr>
          <p:cNvPr id="18" name="Text Box 17"/>
          <p:cNvSpPr txBox="1"/>
          <p:nvPr/>
        </p:nvSpPr>
        <p:spPr>
          <a:xfrm>
            <a:off x="1100455" y="4987925"/>
            <a:ext cx="29025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Implement validation checks to ensure all data points are accurate and complete, flagging any anomalies for review.</a:t>
            </a:r>
            <a:endParaRPr lang="en-US" altLang="en-GB"/>
          </a:p>
        </p:txBody>
      </p:sp>
      <p:sp>
        <p:nvSpPr>
          <p:cNvPr id="19" name="Text Box 18"/>
          <p:cNvSpPr txBox="1"/>
          <p:nvPr/>
        </p:nvSpPr>
        <p:spPr>
          <a:xfrm>
            <a:off x="5102225" y="4987925"/>
            <a:ext cx="29025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Establish a feedback loop for ongoing content evaluation, ensuring gaps are regularly identified and addressed.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6" name="任意多边形: 形状 35"/>
          <p:cNvSpPr/>
          <p:nvPr/>
        </p:nvSpPr>
        <p:spPr>
          <a:xfrm>
            <a:off x="0" y="3721444"/>
            <a:ext cx="12192000" cy="3136555"/>
          </a:xfrm>
          <a:custGeom>
            <a:avLst/>
            <a:gdLst>
              <a:gd name="connsiteX0" fmla="*/ 7835403 w 12192000"/>
              <a:gd name="connsiteY0" fmla="*/ 0 h 3136555"/>
              <a:gd name="connsiteX1" fmla="*/ 11935349 w 12192000"/>
              <a:gd name="connsiteY1" fmla="*/ 1016626 h 3136555"/>
              <a:gd name="connsiteX2" fmla="*/ 12192000 w 12192000"/>
              <a:gd name="connsiteY2" fmla="*/ 1159364 h 3136555"/>
              <a:gd name="connsiteX3" fmla="*/ 12192000 w 12192000"/>
              <a:gd name="connsiteY3" fmla="*/ 3136555 h 3136555"/>
              <a:gd name="connsiteX4" fmla="*/ 0 w 12192000"/>
              <a:gd name="connsiteY4" fmla="*/ 3136555 h 3136555"/>
              <a:gd name="connsiteX5" fmla="*/ 0 w 12192000"/>
              <a:gd name="connsiteY5" fmla="*/ 17764 h 3136555"/>
              <a:gd name="connsiteX6" fmla="*/ 7483657 w 12192000"/>
              <a:gd name="connsiteY6" fmla="*/ 17764 h 313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36555">
                <a:moveTo>
                  <a:pt x="7835403" y="0"/>
                </a:moveTo>
                <a:cubicBezTo>
                  <a:pt x="9316670" y="0"/>
                  <a:pt x="10712073" y="367630"/>
                  <a:pt x="11935349" y="1016626"/>
                </a:cubicBezTo>
                <a:lnTo>
                  <a:pt x="12192000" y="1159364"/>
                </a:lnTo>
                <a:lnTo>
                  <a:pt x="12192000" y="3136555"/>
                </a:lnTo>
                <a:lnTo>
                  <a:pt x="0" y="3136555"/>
                </a:lnTo>
                <a:lnTo>
                  <a:pt x="0" y="17764"/>
                </a:lnTo>
                <a:lnTo>
                  <a:pt x="7483657" y="1776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Language and Grammer Accuracy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任意多边形: 形状 5"/>
          <p:cNvSpPr/>
          <p:nvPr/>
        </p:nvSpPr>
        <p:spPr>
          <a:xfrm>
            <a:off x="845763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6905" y="2087880"/>
            <a:ext cx="4284980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 sz="1600"/>
              <a:t>Ensure all sentences are properly punctuated, including the correct use of commas, periods, and other punctuation marks.</a:t>
            </a:r>
            <a:endParaRPr lang="en-US" altLang="en-GB" sz="1600"/>
          </a:p>
          <a:p>
            <a:r>
              <a:rPr lang="en-US" altLang="en-GB" sz="1600"/>
              <a:t>Review sentence structure for clarity and coherence, avoiding run-on sentences and fragments.</a:t>
            </a:r>
            <a:endParaRPr lang="en-US" altLang="en-GB" sz="1600"/>
          </a:p>
          <a:p>
            <a:endParaRPr lang="en-US" altLang="en-GB" sz="1600"/>
          </a:p>
        </p:txBody>
      </p:sp>
      <p:sp>
        <p:nvSpPr>
          <p:cNvPr id="9" name="文本框 8"/>
          <p:cNvSpPr txBox="1"/>
          <p:nvPr/>
        </p:nvSpPr>
        <p:spPr>
          <a:xfrm>
            <a:off x="1906755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Punctuation and Synta</a:t>
            </a:r>
            <a:r>
              <a:rPr 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x</a:t>
            </a:r>
            <a:endParaRPr lang="en-US" sz="20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6" y="2011267"/>
            <a:ext cx="540000" cy="540000"/>
          </a:xfrm>
          <a:prstGeom prst="rect">
            <a:avLst/>
          </a:prstGeom>
        </p:spPr>
      </p:pic>
      <p:sp>
        <p:nvSpPr>
          <p:cNvPr id="45" name="任意多边形: 形状 44"/>
          <p:cNvSpPr/>
          <p:nvPr/>
        </p:nvSpPr>
        <p:spPr>
          <a:xfrm>
            <a:off x="6390808" y="1881399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1725" y="2097405"/>
            <a:ext cx="3608705" cy="1723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GB" sz="1600"/>
              <a:t>Maintain uniformity in terminology and phrasing throughout the document to enhance readability.</a:t>
            </a:r>
            <a:endParaRPr lang="en-US" altLang="en-GB" sz="1600"/>
          </a:p>
          <a:p>
            <a:r>
              <a:rPr lang="en-US" altLang="en-GB" sz="1600"/>
              <a:t>Adhere to a specific style guide (e.g., APA, MLA) for formatting references, headings, and lists.</a:t>
            </a:r>
            <a:endParaRPr lang="en-US" altLang="en-GB" sz="1600"/>
          </a:p>
          <a:p>
            <a:endParaRPr lang="en-US" altLang="en-GB" sz="1600"/>
          </a:p>
        </p:txBody>
      </p:sp>
      <p:sp>
        <p:nvSpPr>
          <p:cNvPr id="47" name="文本框 46"/>
          <p:cNvSpPr txBox="1"/>
          <p:nvPr/>
        </p:nvSpPr>
        <p:spPr>
          <a:xfrm>
            <a:off x="7451800" y="1750773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>
                <a:latin typeface="+mj-lt"/>
              </a:rPr>
              <a:t>Consistency of Style </a:t>
            </a:r>
            <a:endParaRPr lang="en-US" sz="2000">
              <a:latin typeface="+mj-lt"/>
            </a:endParaRP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4220" y="2024943"/>
            <a:ext cx="540000" cy="540000"/>
          </a:xfrm>
          <a:prstGeom prst="rect">
            <a:avLst/>
          </a:prstGeom>
        </p:spPr>
      </p:pic>
      <p:sp>
        <p:nvSpPr>
          <p:cNvPr id="3" name="文本框 45"/>
          <p:cNvSpPr txBox="1"/>
          <p:nvPr/>
        </p:nvSpPr>
        <p:spPr>
          <a:xfrm>
            <a:off x="4084395" y="4531612"/>
            <a:ext cx="3594159" cy="1723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altLang="en-GB" sz="1600"/>
              <a:t>Use consistent casing for headings and sub-headings, ensuring proper capitalization.</a:t>
            </a:r>
            <a:endParaRPr lang="en-US" altLang="en-GB" sz="1600"/>
          </a:p>
          <a:p>
            <a:r>
              <a:rPr lang="en-US" altLang="en-GB" sz="1600"/>
              <a:t>Verify that all lists and bullet points follow a uniform format for a professional appearance.</a:t>
            </a:r>
            <a:endParaRPr lang="en-US" altLang="en-GB" sz="1600"/>
          </a:p>
          <a:p>
            <a:endParaRPr lang="en-US" altLang="en-GB" sz="1600"/>
          </a:p>
        </p:txBody>
      </p:sp>
      <p:sp>
        <p:nvSpPr>
          <p:cNvPr id="4" name="文本框 46"/>
          <p:cNvSpPr txBox="1"/>
          <p:nvPr/>
        </p:nvSpPr>
        <p:spPr>
          <a:xfrm>
            <a:off x="4084395" y="4203778"/>
            <a:ext cx="3782843" cy="303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r>
              <a:rPr lang="en-US" sz="2000">
                <a:latin typeface="+mj-lt"/>
              </a:rPr>
              <a:t>Casing and Formatting</a:t>
            </a:r>
            <a:endParaRPr lang="en-US" sz="2000">
              <a:latin typeface="+mj-lt"/>
            </a:endParaRPr>
          </a:p>
        </p:txBody>
      </p:sp>
      <p:pic>
        <p:nvPicPr>
          <p:cNvPr id="5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815" y="4477948"/>
            <a:ext cx="540000" cy="540000"/>
          </a:xfrm>
          <a:prstGeom prst="rect">
            <a:avLst/>
          </a:prstGeom>
        </p:spPr>
      </p:pic>
      <p:sp>
        <p:nvSpPr>
          <p:cNvPr id="7" name="任意多边形: 形状 5"/>
          <p:cNvSpPr/>
          <p:nvPr/>
        </p:nvSpPr>
        <p:spPr>
          <a:xfrm>
            <a:off x="3037783" y="4319164"/>
            <a:ext cx="857796" cy="857793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279400" dist="101600" dir="5400000" algn="t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atin typeface="+mj-lt"/>
            </a:endParaRPr>
          </a:p>
        </p:txBody>
      </p:sp>
      <p:pic>
        <p:nvPicPr>
          <p:cNvPr id="10" name="图形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7450" y="447794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5000" contrast="4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075" b="1607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95325" y="547191"/>
            <a:ext cx="10219418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Summary of SOP</a:t>
            </a:r>
            <a:endParaRPr 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891882" y="6100829"/>
            <a:ext cx="943447" cy="293620"/>
            <a:chOff x="10225910" y="5829300"/>
            <a:chExt cx="1632280" cy="507999"/>
          </a:xfrm>
          <a:solidFill>
            <a:schemeClr val="accent2"/>
          </a:solidFill>
        </p:grpSpPr>
        <p:sp>
          <p:nvSpPr>
            <p:cNvPr id="25" name="任意多边形: 形状 24"/>
            <p:cNvSpPr/>
            <p:nvPr/>
          </p:nvSpPr>
          <p:spPr>
            <a:xfrm>
              <a:off x="1135019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0788051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25910" y="5829300"/>
              <a:ext cx="507999" cy="507999"/>
            </a:xfrm>
            <a:custGeom>
              <a:avLst/>
              <a:gdLst>
                <a:gd name="connsiteX0" fmla="*/ 1637035 w 3274070"/>
                <a:gd name="connsiteY0" fmla="*/ 0 h 3274070"/>
                <a:gd name="connsiteX1" fmla="*/ 1702763 w 3274070"/>
                <a:gd name="connsiteY1" fmla="*/ 3319 h 3274070"/>
                <a:gd name="connsiteX2" fmla="*/ 3274070 w 3274070"/>
                <a:gd name="connsiteY2" fmla="*/ 3319 h 3274070"/>
                <a:gd name="connsiteX3" fmla="*/ 3274070 w 3274070"/>
                <a:gd name="connsiteY3" fmla="*/ 1607613 h 3274070"/>
                <a:gd name="connsiteX4" fmla="*/ 3272585 w 3274070"/>
                <a:gd name="connsiteY4" fmla="*/ 1607613 h 3274070"/>
                <a:gd name="connsiteX5" fmla="*/ 3274070 w 3274070"/>
                <a:gd name="connsiteY5" fmla="*/ 1637035 h 3274070"/>
                <a:gd name="connsiteX6" fmla="*/ 1637035 w 3274070"/>
                <a:gd name="connsiteY6" fmla="*/ 3274070 h 3274070"/>
                <a:gd name="connsiteX7" fmla="*/ 0 w 3274070"/>
                <a:gd name="connsiteY7" fmla="*/ 1637035 h 3274070"/>
                <a:gd name="connsiteX8" fmla="*/ 1637035 w 3274070"/>
                <a:gd name="connsiteY8" fmla="*/ 0 h 327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4070" h="3274070">
                  <a:moveTo>
                    <a:pt x="1637035" y="0"/>
                  </a:moveTo>
                  <a:lnTo>
                    <a:pt x="1702763" y="3319"/>
                  </a:lnTo>
                  <a:lnTo>
                    <a:pt x="3274070" y="3319"/>
                  </a:lnTo>
                  <a:lnTo>
                    <a:pt x="3274070" y="1607613"/>
                  </a:lnTo>
                  <a:lnTo>
                    <a:pt x="3272585" y="1607613"/>
                  </a:lnTo>
                  <a:lnTo>
                    <a:pt x="3274070" y="1637035"/>
                  </a:lnTo>
                  <a:cubicBezTo>
                    <a:pt x="3274070" y="2541144"/>
                    <a:pt x="2541144" y="3274070"/>
                    <a:pt x="1637035" y="3274070"/>
                  </a:cubicBezTo>
                  <a:cubicBezTo>
                    <a:pt x="732926" y="3274070"/>
                    <a:pt x="0" y="2541144"/>
                    <a:pt x="0" y="1637035"/>
                  </a:cubicBezTo>
                  <a:cubicBezTo>
                    <a:pt x="0" y="732926"/>
                    <a:pt x="732926" y="0"/>
                    <a:pt x="1637035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021715" y="1398270"/>
            <a:ext cx="20764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Define Objectives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02225" y="1398270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Outline Process Steps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82735" y="1398270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Assign Roles &amp; Responsibilities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10615" y="4244975"/>
            <a:ext cx="2199005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Incorporate Validation Checks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191125" y="4244975"/>
            <a:ext cx="1987550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Review and Revise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63930" y="2127885"/>
            <a:ext cx="29025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Establish clear goals for the SOP to ensure it meets business requirements effectively.</a:t>
            </a:r>
            <a:endParaRPr lang="en-US" altLang="en-GB"/>
          </a:p>
        </p:txBody>
      </p:sp>
      <p:sp>
        <p:nvSpPr>
          <p:cNvPr id="11" name="Text Box 10"/>
          <p:cNvSpPr txBox="1"/>
          <p:nvPr/>
        </p:nvSpPr>
        <p:spPr>
          <a:xfrm>
            <a:off x="5026025" y="2141855"/>
            <a:ext cx="29025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Detail each step involved in the procedure, ensuring a logical flow from initiation to completion.</a:t>
            </a:r>
            <a:endParaRPr lang="en-US" altLang="en-GB"/>
          </a:p>
        </p:txBody>
      </p:sp>
      <p:sp>
        <p:nvSpPr>
          <p:cNvPr id="17" name="Text Box 16"/>
          <p:cNvSpPr txBox="1"/>
          <p:nvPr/>
        </p:nvSpPr>
        <p:spPr>
          <a:xfrm>
            <a:off x="9182735" y="2141855"/>
            <a:ext cx="29025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Identify key stakeholders, such as the Requestor and Data Steward, and clarify their specific duties in the process.</a:t>
            </a:r>
            <a:endParaRPr lang="en-US" altLang="en-GB"/>
          </a:p>
        </p:txBody>
      </p:sp>
      <p:sp>
        <p:nvSpPr>
          <p:cNvPr id="18" name="Text Box 17"/>
          <p:cNvSpPr txBox="1"/>
          <p:nvPr/>
        </p:nvSpPr>
        <p:spPr>
          <a:xfrm>
            <a:off x="1100455" y="4987925"/>
            <a:ext cx="29025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Include steps for data validation and sensitivity checks to maintain accuracy and security in record updates.</a:t>
            </a:r>
            <a:endParaRPr lang="en-US" altLang="en-GB"/>
          </a:p>
        </p:txBody>
      </p:sp>
      <p:sp>
        <p:nvSpPr>
          <p:cNvPr id="19" name="Text Box 18"/>
          <p:cNvSpPr txBox="1"/>
          <p:nvPr/>
        </p:nvSpPr>
        <p:spPr>
          <a:xfrm>
            <a:off x="5102225" y="4987925"/>
            <a:ext cx="29025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Implement a review process to identify gaps and ensure the SOP is accurate, clear, and consistent in language and style.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8" r="11302" b="7812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/>
        </p:nvSpPr>
        <p:spPr>
          <a:xfrm flipH="1">
            <a:off x="3141266" y="640358"/>
            <a:ext cx="5577286" cy="5577284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2852058" y="2780769"/>
            <a:ext cx="615570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lt"/>
              </a:rPr>
              <a:t>THANKS</a:t>
            </a:r>
            <a:endParaRPr lang="en-US" sz="6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j-lt"/>
            </a:endParaRPr>
          </a:p>
        </p:txBody>
      </p:sp>
      <p:sp>
        <p:nvSpPr>
          <p:cNvPr id="9" name="Freeform 9_2"/>
          <p:cNvSpPr/>
          <p:nvPr/>
        </p:nvSpPr>
        <p:spPr>
          <a:xfrm flipH="1">
            <a:off x="2723462" y="1031206"/>
            <a:ext cx="5577286" cy="5577284"/>
          </a:xfrm>
          <a:custGeom>
            <a:avLst/>
            <a:gdLst>
              <a:gd name="connsiteX0" fmla="*/ 1637035 w 3274070"/>
              <a:gd name="connsiteY0" fmla="*/ 0 h 3274070"/>
              <a:gd name="connsiteX1" fmla="*/ 1702763 w 3274070"/>
              <a:gd name="connsiteY1" fmla="*/ 3319 h 3274070"/>
              <a:gd name="connsiteX2" fmla="*/ 3274070 w 3274070"/>
              <a:gd name="connsiteY2" fmla="*/ 3319 h 3274070"/>
              <a:gd name="connsiteX3" fmla="*/ 3274070 w 3274070"/>
              <a:gd name="connsiteY3" fmla="*/ 1607613 h 3274070"/>
              <a:gd name="connsiteX4" fmla="*/ 3272585 w 3274070"/>
              <a:gd name="connsiteY4" fmla="*/ 1607613 h 3274070"/>
              <a:gd name="connsiteX5" fmla="*/ 3274070 w 3274070"/>
              <a:gd name="connsiteY5" fmla="*/ 1637035 h 3274070"/>
              <a:gd name="connsiteX6" fmla="*/ 1637035 w 3274070"/>
              <a:gd name="connsiteY6" fmla="*/ 3274070 h 3274070"/>
              <a:gd name="connsiteX7" fmla="*/ 0 w 3274070"/>
              <a:gd name="connsiteY7" fmla="*/ 1637035 h 3274070"/>
              <a:gd name="connsiteX8" fmla="*/ 1637035 w 3274070"/>
              <a:gd name="connsiteY8" fmla="*/ 0 h 327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4070" h="3274070">
                <a:moveTo>
                  <a:pt x="1637035" y="0"/>
                </a:moveTo>
                <a:lnTo>
                  <a:pt x="1702763" y="3319"/>
                </a:lnTo>
                <a:lnTo>
                  <a:pt x="3274070" y="3319"/>
                </a:lnTo>
                <a:lnTo>
                  <a:pt x="3274070" y="1607613"/>
                </a:lnTo>
                <a:lnTo>
                  <a:pt x="3272585" y="1607613"/>
                </a:lnTo>
                <a:lnTo>
                  <a:pt x="3274070" y="1637035"/>
                </a:lnTo>
                <a:cubicBezTo>
                  <a:pt x="3274070" y="2541144"/>
                  <a:pt x="2541144" y="3274070"/>
                  <a:pt x="1637035" y="3274070"/>
                </a:cubicBezTo>
                <a:cubicBezTo>
                  <a:pt x="732926" y="3274070"/>
                  <a:pt x="0" y="2541144"/>
                  <a:pt x="0" y="1637035"/>
                </a:cubicBezTo>
                <a:cubicBezTo>
                  <a:pt x="0" y="732926"/>
                  <a:pt x="732926" y="0"/>
                  <a:pt x="1637035" y="0"/>
                </a:cubicBezTo>
                <a:close/>
              </a:path>
            </a:pathLst>
          </a:custGeom>
          <a:noFill/>
          <a:ln w="12700">
            <a:gradFill>
              <a:gsLst>
                <a:gs pos="57800">
                  <a:srgbClr val="FFFFFF">
                    <a:alpha val="18000"/>
                  </a:srgbClr>
                </a:gs>
                <a:gs pos="0">
                  <a:schemeClr val="bg1">
                    <a:alpha val="46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ccdfbed9-e6f3-4427-8304-91f6fb7acee1"/>
  <p:tag name="COMMONDATA" val="eyJoZGlkIjoiYjhiZWM4MzBhMGJkMTE4ZDYxMDQzNjIwODEyZDc3NDAifQ=="/>
</p:tagLst>
</file>

<file path=ppt/theme/theme1.xml><?xml version="1.0" encoding="utf-8"?>
<a:theme xmlns:a="http://schemas.openxmlformats.org/drawingml/2006/main" name="Office Theme">
  <a:themeElements>
    <a:clrScheme name="自定义 28">
      <a:dk1>
        <a:srgbClr val="000000"/>
      </a:dk1>
      <a:lt1>
        <a:srgbClr val="FFFFFF"/>
      </a:lt1>
      <a:dk2>
        <a:srgbClr val="262A30"/>
      </a:dk2>
      <a:lt2>
        <a:srgbClr val="F9FAFB"/>
      </a:lt2>
      <a:accent1>
        <a:srgbClr val="6389F9"/>
      </a:accent1>
      <a:accent2>
        <a:srgbClr val="30267E"/>
      </a:accent2>
      <a:accent3>
        <a:srgbClr val="48D8B6"/>
      </a:accent3>
      <a:accent4>
        <a:srgbClr val="FCB045"/>
      </a:accent4>
      <a:accent5>
        <a:srgbClr val="7B7B7B"/>
      </a:accent5>
      <a:accent6>
        <a:srgbClr val="7B7B7B"/>
      </a:accent6>
      <a:hlink>
        <a:srgbClr val="0563C1"/>
      </a:hlink>
      <a:folHlink>
        <a:srgbClr val="954F72"/>
      </a:folHlink>
    </a:clrScheme>
    <a:fontScheme name="自定义 12">
      <a:majorFont>
        <a:latin typeface="OPPOSans H"/>
        <a:ea typeface="OPPOSans H"/>
        <a:cs typeface=""/>
      </a:majorFont>
      <a:minorFont>
        <a:latin typeface="OPPOSans R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5776</Words>
  <Application>WPS Presentation</Application>
  <PresentationFormat>宽屏</PresentationFormat>
  <Paragraphs>219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OPPOSans R</vt:lpstr>
      <vt:lpstr>OPPOSans H</vt:lpstr>
      <vt:lpstr>Microsoft YaHei</vt:lpstr>
      <vt:lpstr>Arial Unicode MS</vt:lpstr>
      <vt:lpstr>Open Sans Medium</vt:lpstr>
      <vt:lpstr>Segoe Print</vt:lpstr>
      <vt:lpstr>Sora</vt:lpstr>
      <vt:lpstr>Book Antiqua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lqzengjx</dc:creator>
  <cp:lastModifiedBy>Ankit Tiwari</cp:lastModifiedBy>
  <cp:revision>71</cp:revision>
  <dcterms:created xsi:type="dcterms:W3CDTF">2023-03-14T10:49:00Z</dcterms:created>
  <dcterms:modified xsi:type="dcterms:W3CDTF">2025-02-09T10:55:40Z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AA19263680FB4E51AC0A6F0B9219889E_11</vt:lpwstr>
  </property>
  <property fmtid="{D5CDD505-2E9C-101B-9397-08002B2CF9AE}" pid="3" name="KSOProductBuildVer">
    <vt:lpwstr>2057-12.2.0.19821</vt:lpwstr>
  </property>
</Properties>
</file>