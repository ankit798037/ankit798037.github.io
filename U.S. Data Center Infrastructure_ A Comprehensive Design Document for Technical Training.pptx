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10689325" cx="7562075"/>
  <p:notesSz cx="10689325" cy="7562075"/>
  <p:embeddedFontLst>
    <p:embeddedFont>
      <p:font typeface="Unbounded Light"/>
      <p:regular r:id="rId15"/>
      <p:bold r:id="rId16"/>
    </p:embeddedFont>
    <p:embeddedFont>
      <p:font typeface="Unbounded"/>
      <p:bold r:id="rId17"/>
    </p:embeddedFont>
    <p:embeddedFont>
      <p:font typeface="Open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OpenSans-italic.fntdata"/><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font" Target="fonts/OpenSans-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UnboundedLight-regular.fntdata"/><Relationship Id="rId14" Type="http://schemas.openxmlformats.org/officeDocument/2006/relationships/slide" Target="slides/slide10.xml"/><Relationship Id="rId17" Type="http://schemas.openxmlformats.org/officeDocument/2006/relationships/font" Target="fonts/Unbounded-bold.fntdata"/><Relationship Id="rId16" Type="http://schemas.openxmlformats.org/officeDocument/2006/relationships/font" Target="fonts/UnboundedLight-bold.fntdata"/><Relationship Id="rId5" Type="http://schemas.openxmlformats.org/officeDocument/2006/relationships/slide" Target="slides/slide1.xml"/><Relationship Id="rId19" Type="http://schemas.openxmlformats.org/officeDocument/2006/relationships/font" Target="fonts/OpenSans-bold.fntdata"/><Relationship Id="rId6" Type="http://schemas.openxmlformats.org/officeDocument/2006/relationships/slide" Target="slides/slide2.xml"/><Relationship Id="rId18" Type="http://schemas.openxmlformats.org/officeDocument/2006/relationships/font" Target="fonts/OpenSans-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000000"/>
        </a:solidFill>
      </p:bgPr>
    </p:bg>
    <p:spTree>
      <p:nvGrpSpPr>
        <p:cNvPr id="10" name="Shape 10"/>
        <p:cNvGrpSpPr/>
        <p:nvPr/>
      </p:nvGrpSpPr>
      <p:grpSpPr>
        <a:xfrm>
          <a:off x="0" y="0"/>
          <a:ext cx="0" cy="0"/>
          <a:chOff x="0" y="0"/>
          <a:chExt cx="0" cy="0"/>
        </a:xfrm>
      </p:grpSpPr>
      <p:sp>
        <p:nvSpPr>
          <p:cNvPr id="11" name="Google Shape;11;p2"/>
          <p:cNvSpPr/>
          <p:nvPr/>
        </p:nvSpPr>
        <p:spPr>
          <a:xfrm>
            <a:off x="0" y="0"/>
            <a:ext cx="7562026" cy="10689336"/>
          </a:xfrm>
          <a:prstGeom prst="rect">
            <a:avLst/>
          </a:prstGeom>
          <a:solidFill>
            <a:srgbClr val="D6F5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7562026" cy="1068933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p:cNvPicPr preferRelativeResize="0"/>
          <p:nvPr/>
        </p:nvPicPr>
        <p:blipFill rotWithShape="1">
          <a:blip r:embed="rId2">
            <a:alphaModFix/>
          </a:blip>
          <a:srcRect b="0" l="0" r="0" t="0"/>
          <a:stretch/>
        </p:blipFill>
        <p:spPr>
          <a:xfrm>
            <a:off x="0" y="0"/>
            <a:ext cx="7562026" cy="10689336"/>
          </a:xfrm>
          <a:prstGeom prst="rect">
            <a:avLst/>
          </a:prstGeom>
          <a:noFill/>
          <a:ln>
            <a:noFill/>
          </a:ln>
        </p:spPr>
      </p:pic>
      <p:sp>
        <p:nvSpPr>
          <p:cNvPr id="14" name="Google Shape;14;p2"/>
          <p:cNvSpPr/>
          <p:nvPr/>
        </p:nvSpPr>
        <p:spPr>
          <a:xfrm>
            <a:off x="0" y="0"/>
            <a:ext cx="7562026" cy="10689336"/>
          </a:xfrm>
          <a:prstGeom prst="rect">
            <a:avLst/>
          </a:prstGeom>
          <a:solidFill>
            <a:srgbClr val="FFFFFF">
              <a:alpha val="8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 name="Google Shape;15;p2">
            <a:hlinkClick r:id="rId3"/>
          </p:cNvPr>
          <p:cNvPicPr preferRelativeResize="0"/>
          <p:nvPr/>
        </p:nvPicPr>
        <p:blipFill rotWithShape="1">
          <a:blip r:embed="rId4">
            <a:alphaModFix/>
          </a:blip>
          <a:srcRect b="0" l="0" r="0" t="0"/>
          <a:stretch/>
        </p:blipFill>
        <p:spPr>
          <a:xfrm>
            <a:off x="6447268" y="10390327"/>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2">
  <p:cSld name="Slide master 2">
    <p:bg>
      <p:bgPr>
        <a:solidFill>
          <a:srgbClr val="000000"/>
        </a:solidFill>
      </p:bgPr>
    </p:bg>
    <p:spTree>
      <p:nvGrpSpPr>
        <p:cNvPr id="16" name="Shape 16"/>
        <p:cNvGrpSpPr/>
        <p:nvPr/>
      </p:nvGrpSpPr>
      <p:grpSpPr>
        <a:xfrm>
          <a:off x="0" y="0"/>
          <a:ext cx="0" cy="0"/>
          <a:chOff x="0" y="0"/>
          <a:chExt cx="0" cy="0"/>
        </a:xfrm>
      </p:grpSpPr>
      <p:sp>
        <p:nvSpPr>
          <p:cNvPr id="17" name="Google Shape;17;p3"/>
          <p:cNvSpPr/>
          <p:nvPr/>
        </p:nvSpPr>
        <p:spPr>
          <a:xfrm>
            <a:off x="0" y="0"/>
            <a:ext cx="7562026" cy="10689336"/>
          </a:xfrm>
          <a:prstGeom prst="rect">
            <a:avLst/>
          </a:prstGeom>
          <a:solidFill>
            <a:srgbClr val="D6F5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0" y="0"/>
            <a:ext cx="7562026" cy="1068933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 name="Google Shape;19;p3">
            <a:hlinkClick r:id="rId2"/>
          </p:cNvPr>
          <p:cNvPicPr preferRelativeResize="0"/>
          <p:nvPr/>
        </p:nvPicPr>
        <p:blipFill rotWithShape="1">
          <a:blip r:embed="rId3">
            <a:alphaModFix/>
          </a:blip>
          <a:srcRect b="0" l="0" r="0" t="0"/>
          <a:stretch/>
        </p:blipFill>
        <p:spPr>
          <a:xfrm>
            <a:off x="6447268" y="10390327"/>
            <a:ext cx="1071843" cy="25603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0" name="Shape 2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jpg"/><Relationship Id="rId4" Type="http://schemas.openxmlformats.org/officeDocument/2006/relationships/image" Target="../media/image12.png"/><Relationship Id="rId5" Type="http://schemas.openxmlformats.org/officeDocument/2006/relationships/image" Target="../media/image16.png"/><Relationship Id="rId6" Type="http://schemas.openxmlformats.org/officeDocument/2006/relationships/image" Target="../media/image8.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21.png"/><Relationship Id="rId5" Type="http://schemas.openxmlformats.org/officeDocument/2006/relationships/image" Target="../media/image24.png"/><Relationship Id="rId6"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sp>
        <p:nvSpPr>
          <p:cNvPr id="26" name="Google Shape;26;p5"/>
          <p:cNvSpPr/>
          <p:nvPr/>
        </p:nvSpPr>
        <p:spPr>
          <a:xfrm>
            <a:off x="485616" y="381551"/>
            <a:ext cx="6590795" cy="216807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2700"/>
              <a:buFont typeface="Unbounded"/>
              <a:buNone/>
            </a:pPr>
            <a:r>
              <a:rPr b="1" i="0" lang="en-US" sz="2700" u="none" cap="none" strike="noStrike">
                <a:solidFill>
                  <a:srgbClr val="333F70"/>
                </a:solidFill>
                <a:latin typeface="Unbounded"/>
                <a:ea typeface="Unbounded"/>
                <a:cs typeface="Unbounded"/>
                <a:sym typeface="Unbounded"/>
              </a:rPr>
              <a:t>U.S. Data Center Infrastructure: A Comprehensive Design Document for Technical Training</a:t>
            </a:r>
            <a:endParaRPr b="0" i="0" sz="2700" u="none" cap="none" strike="noStrike">
              <a:solidFill>
                <a:schemeClr val="dk1"/>
              </a:solidFill>
              <a:latin typeface="Calibri"/>
              <a:ea typeface="Calibri"/>
              <a:cs typeface="Calibri"/>
              <a:sym typeface="Calibri"/>
            </a:endParaRPr>
          </a:p>
        </p:txBody>
      </p:sp>
      <p:sp>
        <p:nvSpPr>
          <p:cNvPr id="27" name="Google Shape;27;p5"/>
          <p:cNvSpPr/>
          <p:nvPr/>
        </p:nvSpPr>
        <p:spPr>
          <a:xfrm>
            <a:off x="485616" y="2757752"/>
            <a:ext cx="6590795" cy="177630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This design document outlines an instructional approach for developing a self-paced technical course on U.S. data center operations and infrastructure. The course targets corporate trainers and instructional designers who are creating learning experiences for diverse adult learners in IT operations and data center management. The document incorporates two distinct instructional strategies—scenario-based learning and gamified challenges—to enhance knowledge retention and practical application. Through careful attention to accessibility standards, inclusive design principles, and learner engagement techniques, this framework ensures all participants can successfully navigate the complexities of modern data center environments.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6"/>
          <p:cNvSpPr/>
          <p:nvPr/>
        </p:nvSpPr>
        <p:spPr>
          <a:xfrm>
            <a:off x="485616" y="381551"/>
            <a:ext cx="6590795" cy="86722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2700"/>
              <a:buFont typeface="Unbounded"/>
              <a:buNone/>
            </a:pPr>
            <a:r>
              <a:rPr b="1" i="0" lang="en-US" sz="2700" u="none" cap="none" strike="noStrike">
                <a:solidFill>
                  <a:srgbClr val="333F70"/>
                </a:solidFill>
                <a:latin typeface="Unbounded"/>
                <a:ea typeface="Unbounded"/>
                <a:cs typeface="Unbounded"/>
                <a:sym typeface="Unbounded"/>
              </a:rPr>
              <a:t>Understanding Data Center Fundamentals</a:t>
            </a:r>
            <a:endParaRPr b="0" i="0" sz="2700" u="none" cap="none" strike="noStrike">
              <a:solidFill>
                <a:schemeClr val="dk1"/>
              </a:solidFill>
              <a:latin typeface="Calibri"/>
              <a:ea typeface="Calibri"/>
              <a:cs typeface="Calibri"/>
              <a:sym typeface="Calibri"/>
            </a:endParaRPr>
          </a:p>
        </p:txBody>
      </p:sp>
      <p:sp>
        <p:nvSpPr>
          <p:cNvPr id="34" name="Google Shape;34;p6"/>
          <p:cNvSpPr/>
          <p:nvPr/>
        </p:nvSpPr>
        <p:spPr>
          <a:xfrm>
            <a:off x="485616" y="1595622"/>
            <a:ext cx="3819076" cy="2167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What Is a Data Center?</a:t>
            </a:r>
            <a:endParaRPr b="0" i="0" sz="1350" u="none" cap="none" strike="noStrike">
              <a:solidFill>
                <a:schemeClr val="dk1"/>
              </a:solidFill>
              <a:latin typeface="Calibri"/>
              <a:ea typeface="Calibri"/>
              <a:cs typeface="Calibri"/>
              <a:sym typeface="Calibri"/>
            </a:endParaRPr>
          </a:p>
        </p:txBody>
      </p:sp>
      <p:sp>
        <p:nvSpPr>
          <p:cNvPr id="35" name="Google Shape;35;p6"/>
          <p:cNvSpPr/>
          <p:nvPr/>
        </p:nvSpPr>
        <p:spPr>
          <a:xfrm>
            <a:off x="485616" y="1951080"/>
            <a:ext cx="3819076" cy="345543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A data center is a specialized facility that serves as the backbone of modern technological infrastructure. These facilities are designed to store, process, and manage digital data that supports a wide range of online services and applications—from banking systems and cloud computing platforms to hardware management software and enterprise applications.</a:t>
            </a:r>
            <a:endParaRPr b="0" i="0" sz="1050" u="none" cap="none" strike="noStrike">
              <a:solidFill>
                <a:schemeClr val="dk1"/>
              </a:solidFill>
              <a:latin typeface="Calibri"/>
              <a:ea typeface="Calibri"/>
              <a:cs typeface="Calibri"/>
              <a:sym typeface="Calibri"/>
            </a:endParaRPr>
          </a:p>
          <a:p>
            <a:pPr indent="0" lvl="0" marL="0" marR="0" rtl="0" algn="l">
              <a:lnSpc>
                <a:spcPct val="133000"/>
              </a:lnSpc>
              <a:spcBef>
                <a:spcPts val="95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Data centers bring computing equipment and data together in centralized, secure locations. They require significant power resources, robust cooling systems to prevent equipment overheating, and extensive network connectivity to handle vast amounts of data traffic. Due to their critical role in supporting digital services, data centers implement enhanced security measures including surveillance cameras and biometric screening systems.</a:t>
            </a:r>
            <a:endParaRPr b="0" i="0" sz="1050" u="none" cap="none" strike="noStrike">
              <a:solidFill>
                <a:schemeClr val="dk1"/>
              </a:solidFill>
              <a:latin typeface="Calibri"/>
              <a:ea typeface="Calibri"/>
              <a:cs typeface="Calibri"/>
              <a:sym typeface="Calibri"/>
            </a:endParaRPr>
          </a:p>
        </p:txBody>
      </p:sp>
      <p:pic>
        <p:nvPicPr>
          <p:cNvPr descr="preencoded.png" id="36" name="Google Shape;36;p6"/>
          <p:cNvPicPr preferRelativeResize="0"/>
          <p:nvPr/>
        </p:nvPicPr>
        <p:blipFill rotWithShape="1">
          <a:blip r:embed="rId3">
            <a:alphaModFix/>
          </a:blip>
          <a:srcRect b="0" l="0" r="0" t="0"/>
          <a:stretch/>
        </p:blipFill>
        <p:spPr>
          <a:xfrm>
            <a:off x="4647102" y="1612976"/>
            <a:ext cx="346842" cy="346842"/>
          </a:xfrm>
          <a:prstGeom prst="rect">
            <a:avLst/>
          </a:prstGeom>
          <a:noFill/>
          <a:ln>
            <a:noFill/>
          </a:ln>
        </p:spPr>
      </p:pic>
      <p:sp>
        <p:nvSpPr>
          <p:cNvPr id="37" name="Google Shape;37;p6"/>
          <p:cNvSpPr/>
          <p:nvPr/>
        </p:nvSpPr>
        <p:spPr>
          <a:xfrm>
            <a:off x="5167365" y="1612976"/>
            <a:ext cx="1912923" cy="4334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Processing Power</a:t>
            </a:r>
            <a:endParaRPr b="0" i="0" sz="1350" u="none" cap="none" strike="noStrike">
              <a:solidFill>
                <a:schemeClr val="dk1"/>
              </a:solidFill>
              <a:latin typeface="Calibri"/>
              <a:ea typeface="Calibri"/>
              <a:cs typeface="Calibri"/>
              <a:sym typeface="Calibri"/>
            </a:endParaRPr>
          </a:p>
        </p:txBody>
      </p:sp>
      <p:sp>
        <p:nvSpPr>
          <p:cNvPr id="38" name="Google Shape;38;p6"/>
          <p:cNvSpPr/>
          <p:nvPr/>
        </p:nvSpPr>
        <p:spPr>
          <a:xfrm>
            <a:off x="5167365" y="2185180"/>
            <a:ext cx="1912923" cy="6661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High-performance servers handle computational workloads</a:t>
            </a:r>
            <a:endParaRPr b="0" i="0" sz="1050" u="none" cap="none" strike="noStrike">
              <a:solidFill>
                <a:schemeClr val="dk1"/>
              </a:solidFill>
              <a:latin typeface="Calibri"/>
              <a:ea typeface="Calibri"/>
              <a:cs typeface="Calibri"/>
              <a:sym typeface="Calibri"/>
            </a:endParaRPr>
          </a:p>
        </p:txBody>
      </p:sp>
      <p:pic>
        <p:nvPicPr>
          <p:cNvPr descr="preencoded.png" id="39" name="Google Shape;39;p6"/>
          <p:cNvPicPr preferRelativeResize="0"/>
          <p:nvPr/>
        </p:nvPicPr>
        <p:blipFill rotWithShape="1">
          <a:blip r:embed="rId4">
            <a:alphaModFix/>
          </a:blip>
          <a:srcRect b="0" l="0" r="0" t="0"/>
          <a:stretch/>
        </p:blipFill>
        <p:spPr>
          <a:xfrm>
            <a:off x="4647102" y="3128780"/>
            <a:ext cx="346842" cy="346842"/>
          </a:xfrm>
          <a:prstGeom prst="rect">
            <a:avLst/>
          </a:prstGeom>
          <a:noFill/>
          <a:ln>
            <a:noFill/>
          </a:ln>
        </p:spPr>
      </p:pic>
      <p:sp>
        <p:nvSpPr>
          <p:cNvPr id="40" name="Google Shape;40;p6"/>
          <p:cNvSpPr/>
          <p:nvPr/>
        </p:nvSpPr>
        <p:spPr>
          <a:xfrm>
            <a:off x="5167365" y="3128780"/>
            <a:ext cx="1912923" cy="2167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Data Storage</a:t>
            </a:r>
            <a:endParaRPr b="0" i="0" sz="1350" u="none" cap="none" strike="noStrike">
              <a:solidFill>
                <a:schemeClr val="dk1"/>
              </a:solidFill>
              <a:latin typeface="Calibri"/>
              <a:ea typeface="Calibri"/>
              <a:cs typeface="Calibri"/>
              <a:sym typeface="Calibri"/>
            </a:endParaRPr>
          </a:p>
        </p:txBody>
      </p:sp>
      <p:sp>
        <p:nvSpPr>
          <p:cNvPr id="41" name="Google Shape;41;p6"/>
          <p:cNvSpPr/>
          <p:nvPr/>
        </p:nvSpPr>
        <p:spPr>
          <a:xfrm>
            <a:off x="5167365" y="3484238"/>
            <a:ext cx="1912923" cy="44407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Storage systems house digital information securely</a:t>
            </a:r>
            <a:endParaRPr b="0" i="0" sz="1050" u="none" cap="none" strike="noStrike">
              <a:solidFill>
                <a:schemeClr val="dk1"/>
              </a:solidFill>
              <a:latin typeface="Calibri"/>
              <a:ea typeface="Calibri"/>
              <a:cs typeface="Calibri"/>
              <a:sym typeface="Calibri"/>
            </a:endParaRPr>
          </a:p>
        </p:txBody>
      </p:sp>
      <p:pic>
        <p:nvPicPr>
          <p:cNvPr descr="preencoded.png" id="42" name="Google Shape;42;p6"/>
          <p:cNvPicPr preferRelativeResize="0"/>
          <p:nvPr/>
        </p:nvPicPr>
        <p:blipFill rotWithShape="1">
          <a:blip r:embed="rId5">
            <a:alphaModFix/>
          </a:blip>
          <a:srcRect b="0" l="0" r="0" t="0"/>
          <a:stretch/>
        </p:blipFill>
        <p:spPr>
          <a:xfrm>
            <a:off x="4647102" y="4205800"/>
            <a:ext cx="346842" cy="346842"/>
          </a:xfrm>
          <a:prstGeom prst="rect">
            <a:avLst/>
          </a:prstGeom>
          <a:noFill/>
          <a:ln>
            <a:noFill/>
          </a:ln>
        </p:spPr>
      </p:pic>
      <p:sp>
        <p:nvSpPr>
          <p:cNvPr id="43" name="Google Shape;43;p6"/>
          <p:cNvSpPr/>
          <p:nvPr/>
        </p:nvSpPr>
        <p:spPr>
          <a:xfrm>
            <a:off x="5167365" y="4205800"/>
            <a:ext cx="1912923" cy="4334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Network Infrastructure</a:t>
            </a:r>
            <a:endParaRPr b="0" i="0" sz="1350" u="none" cap="none" strike="noStrike">
              <a:solidFill>
                <a:schemeClr val="dk1"/>
              </a:solidFill>
              <a:latin typeface="Calibri"/>
              <a:ea typeface="Calibri"/>
              <a:cs typeface="Calibri"/>
              <a:sym typeface="Calibri"/>
            </a:endParaRPr>
          </a:p>
        </p:txBody>
      </p:sp>
      <p:sp>
        <p:nvSpPr>
          <p:cNvPr id="44" name="Google Shape;44;p6"/>
          <p:cNvSpPr/>
          <p:nvPr/>
        </p:nvSpPr>
        <p:spPr>
          <a:xfrm>
            <a:off x="5167365" y="4778003"/>
            <a:ext cx="1912923" cy="6661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Hardware enables data transmission and connectivity</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7"/>
          <p:cNvSpPr/>
          <p:nvPr/>
        </p:nvSpPr>
        <p:spPr>
          <a:xfrm>
            <a:off x="485616" y="381551"/>
            <a:ext cx="6590795" cy="86722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2700"/>
              <a:buFont typeface="Unbounded"/>
              <a:buNone/>
            </a:pPr>
            <a:r>
              <a:rPr b="1" i="0" lang="en-US" sz="2700" u="none" cap="none" strike="noStrike">
                <a:solidFill>
                  <a:srgbClr val="333F70"/>
                </a:solidFill>
                <a:latin typeface="Unbounded"/>
                <a:ea typeface="Unbounded"/>
                <a:cs typeface="Unbounded"/>
                <a:sym typeface="Unbounded"/>
              </a:rPr>
              <a:t>The Four Primary Data Center Types</a:t>
            </a:r>
            <a:endParaRPr b="0" i="0" sz="2700" u="none" cap="none" strike="noStrike">
              <a:solidFill>
                <a:schemeClr val="dk1"/>
              </a:solidFill>
              <a:latin typeface="Calibri"/>
              <a:ea typeface="Calibri"/>
              <a:cs typeface="Calibri"/>
              <a:sym typeface="Calibri"/>
            </a:endParaRPr>
          </a:p>
        </p:txBody>
      </p:sp>
      <p:sp>
        <p:nvSpPr>
          <p:cNvPr id="51" name="Google Shape;51;p7"/>
          <p:cNvSpPr/>
          <p:nvPr/>
        </p:nvSpPr>
        <p:spPr>
          <a:xfrm>
            <a:off x="485616" y="1526266"/>
            <a:ext cx="6590795" cy="6661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The U.S. market encompasses a diverse mix of data center types, each serving distinct operational purposes and business models. Understanding these categories is essential for professionals working in IT infrastructure and operations management.</a:t>
            </a:r>
            <a:endParaRPr b="0" i="0" sz="1050" u="none" cap="none" strike="noStrike">
              <a:solidFill>
                <a:schemeClr val="dk1"/>
              </a:solidFill>
              <a:latin typeface="Calibri"/>
              <a:ea typeface="Calibri"/>
              <a:cs typeface="Calibri"/>
              <a:sym typeface="Calibri"/>
            </a:endParaRPr>
          </a:p>
        </p:txBody>
      </p:sp>
      <p:sp>
        <p:nvSpPr>
          <p:cNvPr id="52" name="Google Shape;52;p7"/>
          <p:cNvSpPr/>
          <p:nvPr/>
        </p:nvSpPr>
        <p:spPr>
          <a:xfrm>
            <a:off x="485616" y="2348446"/>
            <a:ext cx="3226011" cy="2702366"/>
          </a:xfrm>
          <a:prstGeom prst="roundRect">
            <a:avLst>
              <a:gd fmla="val 2157"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7"/>
          <p:cNvSpPr/>
          <p:nvPr/>
        </p:nvSpPr>
        <p:spPr>
          <a:xfrm>
            <a:off x="632205" y="2495036"/>
            <a:ext cx="416259" cy="416260"/>
          </a:xfrm>
          <a:prstGeom prst="ellipse">
            <a:avLst/>
          </a:prstGeom>
          <a:solidFill>
            <a:srgbClr val="26A6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4" name="Google Shape;54;p7"/>
          <p:cNvPicPr preferRelativeResize="0"/>
          <p:nvPr/>
        </p:nvPicPr>
        <p:blipFill rotWithShape="1">
          <a:blip r:embed="rId3">
            <a:alphaModFix/>
          </a:blip>
          <a:srcRect b="0" l="0" r="0" t="0"/>
          <a:stretch/>
        </p:blipFill>
        <p:spPr>
          <a:xfrm>
            <a:off x="746670" y="2609501"/>
            <a:ext cx="187268" cy="187268"/>
          </a:xfrm>
          <a:prstGeom prst="rect">
            <a:avLst/>
          </a:prstGeom>
          <a:noFill/>
          <a:ln>
            <a:noFill/>
          </a:ln>
        </p:spPr>
      </p:pic>
      <p:sp>
        <p:nvSpPr>
          <p:cNvPr id="55" name="Google Shape;55;p7"/>
          <p:cNvSpPr/>
          <p:nvPr/>
        </p:nvSpPr>
        <p:spPr>
          <a:xfrm>
            <a:off x="632205" y="3050008"/>
            <a:ext cx="2932832" cy="2167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Hyperscale Data Centers</a:t>
            </a:r>
            <a:endParaRPr b="0" i="0" sz="1350" u="none" cap="none" strike="noStrike">
              <a:solidFill>
                <a:schemeClr val="dk1"/>
              </a:solidFill>
              <a:latin typeface="Calibri"/>
              <a:ea typeface="Calibri"/>
              <a:cs typeface="Calibri"/>
              <a:sym typeface="Calibri"/>
            </a:endParaRPr>
          </a:p>
        </p:txBody>
      </p:sp>
      <p:sp>
        <p:nvSpPr>
          <p:cNvPr id="56" name="Google Shape;56;p7"/>
          <p:cNvSpPr/>
          <p:nvPr/>
        </p:nvSpPr>
        <p:spPr>
          <a:xfrm>
            <a:off x="632205" y="3349956"/>
            <a:ext cx="2932832" cy="155426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Operated by technology giants such as Amazon Web Services (AWS), Google, and Microsoft to support massive, scalable cloud computing and artificial intelligence workloads. These facilities are often vast, centralized campuses designed for maximum efficiency and scalability.</a:t>
            </a:r>
            <a:endParaRPr b="0" i="0" sz="1050" u="none" cap="none" strike="noStrike">
              <a:solidFill>
                <a:schemeClr val="dk1"/>
              </a:solidFill>
              <a:latin typeface="Calibri"/>
              <a:ea typeface="Calibri"/>
              <a:cs typeface="Calibri"/>
              <a:sym typeface="Calibri"/>
            </a:endParaRPr>
          </a:p>
        </p:txBody>
      </p:sp>
      <p:sp>
        <p:nvSpPr>
          <p:cNvPr id="57" name="Google Shape;57;p7"/>
          <p:cNvSpPr/>
          <p:nvPr/>
        </p:nvSpPr>
        <p:spPr>
          <a:xfrm>
            <a:off x="3850339" y="2348446"/>
            <a:ext cx="3226072" cy="2702366"/>
          </a:xfrm>
          <a:prstGeom prst="roundRect">
            <a:avLst>
              <a:gd fmla="val 2157"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7"/>
          <p:cNvSpPr/>
          <p:nvPr/>
        </p:nvSpPr>
        <p:spPr>
          <a:xfrm>
            <a:off x="3996928" y="2495036"/>
            <a:ext cx="416259" cy="416260"/>
          </a:xfrm>
          <a:prstGeom prst="ellipse">
            <a:avLst/>
          </a:prstGeom>
          <a:solidFill>
            <a:srgbClr val="26A6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 name="Google Shape;59;p7"/>
          <p:cNvPicPr preferRelativeResize="0"/>
          <p:nvPr/>
        </p:nvPicPr>
        <p:blipFill rotWithShape="1">
          <a:blip r:embed="rId4">
            <a:alphaModFix/>
          </a:blip>
          <a:srcRect b="0" l="0" r="0" t="0"/>
          <a:stretch/>
        </p:blipFill>
        <p:spPr>
          <a:xfrm>
            <a:off x="4111393" y="2609501"/>
            <a:ext cx="187268" cy="187268"/>
          </a:xfrm>
          <a:prstGeom prst="rect">
            <a:avLst/>
          </a:prstGeom>
          <a:noFill/>
          <a:ln>
            <a:noFill/>
          </a:ln>
        </p:spPr>
      </p:pic>
      <p:sp>
        <p:nvSpPr>
          <p:cNvPr id="60" name="Google Shape;60;p7"/>
          <p:cNvSpPr/>
          <p:nvPr/>
        </p:nvSpPr>
        <p:spPr>
          <a:xfrm>
            <a:off x="3996928" y="3050008"/>
            <a:ext cx="2932894" cy="2167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Colocation Data Centers</a:t>
            </a:r>
            <a:endParaRPr b="0" i="0" sz="1350" u="none" cap="none" strike="noStrike">
              <a:solidFill>
                <a:schemeClr val="dk1"/>
              </a:solidFill>
              <a:latin typeface="Calibri"/>
              <a:ea typeface="Calibri"/>
              <a:cs typeface="Calibri"/>
              <a:sym typeface="Calibri"/>
            </a:endParaRPr>
          </a:p>
        </p:txBody>
      </p:sp>
      <p:sp>
        <p:nvSpPr>
          <p:cNvPr id="61" name="Google Shape;61;p7"/>
          <p:cNvSpPr/>
          <p:nvPr/>
        </p:nvSpPr>
        <p:spPr>
          <a:xfrm>
            <a:off x="3996928" y="3349956"/>
            <a:ext cx="2932894" cy="13322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Facilities where multiple businesses rent space, power, and cooling infrastructure for their own equipment. Major providers like Equinix and Digital Realty manage the physical infrastructure while clients maintain operational control of their hardware.</a:t>
            </a:r>
            <a:endParaRPr b="0" i="0" sz="1050" u="none" cap="none" strike="noStrike">
              <a:solidFill>
                <a:schemeClr val="dk1"/>
              </a:solidFill>
              <a:latin typeface="Calibri"/>
              <a:ea typeface="Calibri"/>
              <a:cs typeface="Calibri"/>
              <a:sym typeface="Calibri"/>
            </a:endParaRPr>
          </a:p>
        </p:txBody>
      </p:sp>
      <p:sp>
        <p:nvSpPr>
          <p:cNvPr id="62" name="Google Shape;62;p7"/>
          <p:cNvSpPr/>
          <p:nvPr/>
        </p:nvSpPr>
        <p:spPr>
          <a:xfrm>
            <a:off x="485616" y="5189524"/>
            <a:ext cx="3226011" cy="2480328"/>
          </a:xfrm>
          <a:prstGeom prst="roundRect">
            <a:avLst>
              <a:gd fmla="val 2350"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7"/>
          <p:cNvSpPr/>
          <p:nvPr/>
        </p:nvSpPr>
        <p:spPr>
          <a:xfrm>
            <a:off x="632205" y="5336114"/>
            <a:ext cx="416259" cy="416260"/>
          </a:xfrm>
          <a:prstGeom prst="ellipse">
            <a:avLst/>
          </a:prstGeom>
          <a:solidFill>
            <a:srgbClr val="26A6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4" name="Google Shape;64;p7"/>
          <p:cNvPicPr preferRelativeResize="0"/>
          <p:nvPr/>
        </p:nvPicPr>
        <p:blipFill rotWithShape="1">
          <a:blip r:embed="rId5">
            <a:alphaModFix/>
          </a:blip>
          <a:srcRect b="0" l="0" r="0" t="0"/>
          <a:stretch/>
        </p:blipFill>
        <p:spPr>
          <a:xfrm>
            <a:off x="746670" y="5450579"/>
            <a:ext cx="187268" cy="187268"/>
          </a:xfrm>
          <a:prstGeom prst="rect">
            <a:avLst/>
          </a:prstGeom>
          <a:noFill/>
          <a:ln>
            <a:noFill/>
          </a:ln>
        </p:spPr>
      </p:pic>
      <p:sp>
        <p:nvSpPr>
          <p:cNvPr id="65" name="Google Shape;65;p7"/>
          <p:cNvSpPr/>
          <p:nvPr/>
        </p:nvSpPr>
        <p:spPr>
          <a:xfrm>
            <a:off x="632205" y="5891086"/>
            <a:ext cx="2932832" cy="2167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Enterprise Data Centers</a:t>
            </a:r>
            <a:endParaRPr b="0" i="0" sz="1350" u="none" cap="none" strike="noStrike">
              <a:solidFill>
                <a:schemeClr val="dk1"/>
              </a:solidFill>
              <a:latin typeface="Calibri"/>
              <a:ea typeface="Calibri"/>
              <a:cs typeface="Calibri"/>
              <a:sym typeface="Calibri"/>
            </a:endParaRPr>
          </a:p>
        </p:txBody>
      </p:sp>
      <p:sp>
        <p:nvSpPr>
          <p:cNvPr id="66" name="Google Shape;66;p7"/>
          <p:cNvSpPr/>
          <p:nvPr/>
        </p:nvSpPr>
        <p:spPr>
          <a:xfrm>
            <a:off x="632205" y="6191034"/>
            <a:ext cx="2932832" cy="13322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Privately owned and operated by a single organization for its exclusive IT needs. These facilities can be located on-premises at corporate headquarters or maintained at off-site locations for business continuity purposes.</a:t>
            </a:r>
            <a:endParaRPr b="0" i="0" sz="1050" u="none" cap="none" strike="noStrike">
              <a:solidFill>
                <a:schemeClr val="dk1"/>
              </a:solidFill>
              <a:latin typeface="Calibri"/>
              <a:ea typeface="Calibri"/>
              <a:cs typeface="Calibri"/>
              <a:sym typeface="Calibri"/>
            </a:endParaRPr>
          </a:p>
        </p:txBody>
      </p:sp>
      <p:sp>
        <p:nvSpPr>
          <p:cNvPr id="67" name="Google Shape;67;p7"/>
          <p:cNvSpPr/>
          <p:nvPr/>
        </p:nvSpPr>
        <p:spPr>
          <a:xfrm>
            <a:off x="3850339" y="5189524"/>
            <a:ext cx="3226072" cy="2480328"/>
          </a:xfrm>
          <a:prstGeom prst="roundRect">
            <a:avLst>
              <a:gd fmla="val 2350"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p:nvPr/>
        </p:nvSpPr>
        <p:spPr>
          <a:xfrm>
            <a:off x="3996928" y="5336114"/>
            <a:ext cx="416259" cy="416260"/>
          </a:xfrm>
          <a:prstGeom prst="ellipse">
            <a:avLst/>
          </a:prstGeom>
          <a:solidFill>
            <a:srgbClr val="26A6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 name="Google Shape;69;p7"/>
          <p:cNvPicPr preferRelativeResize="0"/>
          <p:nvPr/>
        </p:nvPicPr>
        <p:blipFill rotWithShape="1">
          <a:blip r:embed="rId6">
            <a:alphaModFix/>
          </a:blip>
          <a:srcRect b="0" l="0" r="0" t="0"/>
          <a:stretch/>
        </p:blipFill>
        <p:spPr>
          <a:xfrm>
            <a:off x="4111393" y="5450579"/>
            <a:ext cx="187268" cy="187268"/>
          </a:xfrm>
          <a:prstGeom prst="rect">
            <a:avLst/>
          </a:prstGeom>
          <a:noFill/>
          <a:ln>
            <a:noFill/>
          </a:ln>
        </p:spPr>
      </p:pic>
      <p:sp>
        <p:nvSpPr>
          <p:cNvPr id="70" name="Google Shape;70;p7"/>
          <p:cNvSpPr/>
          <p:nvPr/>
        </p:nvSpPr>
        <p:spPr>
          <a:xfrm>
            <a:off x="3996928" y="5891086"/>
            <a:ext cx="2932894" cy="2167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Edge Data Centers</a:t>
            </a:r>
            <a:endParaRPr b="0" i="0" sz="1350" u="none" cap="none" strike="noStrike">
              <a:solidFill>
                <a:schemeClr val="dk1"/>
              </a:solidFill>
              <a:latin typeface="Calibri"/>
              <a:ea typeface="Calibri"/>
              <a:cs typeface="Calibri"/>
              <a:sym typeface="Calibri"/>
            </a:endParaRPr>
          </a:p>
        </p:txBody>
      </p:sp>
      <p:sp>
        <p:nvSpPr>
          <p:cNvPr id="71" name="Google Shape;71;p7"/>
          <p:cNvSpPr/>
          <p:nvPr/>
        </p:nvSpPr>
        <p:spPr>
          <a:xfrm>
            <a:off x="3996928" y="6191034"/>
            <a:ext cx="2932894" cy="13322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Smaller, decentralized facilities positioned closer to end users to minimize latency and improve response times. These centers support applications like 5G networks and Internet of Things (IoT) devices that require faster, real-time data processing.</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8"/>
          <p:cNvSpPr/>
          <p:nvPr/>
        </p:nvSpPr>
        <p:spPr>
          <a:xfrm>
            <a:off x="485616" y="381551"/>
            <a:ext cx="6590795" cy="86722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2700"/>
              <a:buFont typeface="Unbounded"/>
              <a:buNone/>
            </a:pPr>
            <a:r>
              <a:rPr b="1" i="0" lang="en-US" sz="2700" u="none" cap="none" strike="noStrike">
                <a:solidFill>
                  <a:srgbClr val="333F70"/>
                </a:solidFill>
                <a:latin typeface="Unbounded"/>
                <a:ea typeface="Unbounded"/>
                <a:cs typeface="Unbounded"/>
                <a:sym typeface="Unbounded"/>
              </a:rPr>
              <a:t>Market Overview and Growth Projections</a:t>
            </a:r>
            <a:endParaRPr b="0" i="0" sz="2700" u="none" cap="none" strike="noStrike">
              <a:solidFill>
                <a:schemeClr val="dk1"/>
              </a:solidFill>
              <a:latin typeface="Calibri"/>
              <a:ea typeface="Calibri"/>
              <a:cs typeface="Calibri"/>
              <a:sym typeface="Calibri"/>
            </a:endParaRPr>
          </a:p>
        </p:txBody>
      </p:sp>
      <p:sp>
        <p:nvSpPr>
          <p:cNvPr id="78" name="Google Shape;78;p8"/>
          <p:cNvSpPr/>
          <p:nvPr/>
        </p:nvSpPr>
        <p:spPr>
          <a:xfrm>
            <a:off x="485616" y="1526266"/>
            <a:ext cx="6590795" cy="88815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The U.S. data center market represents a multi-billion-dollar industry valued at over $100 billion, with projections indicating strong continued growth. This expansion is driven primarily by increasing demand from cloud computing services and artificial intelligence applications, which require substantial processing power and storage capacity.</a:t>
            </a:r>
            <a:endParaRPr b="0" i="0" sz="1050" u="none" cap="none" strike="noStrike">
              <a:solidFill>
                <a:schemeClr val="dk1"/>
              </a:solidFill>
              <a:latin typeface="Calibri"/>
              <a:ea typeface="Calibri"/>
              <a:cs typeface="Calibri"/>
              <a:sym typeface="Calibri"/>
            </a:endParaRPr>
          </a:p>
        </p:txBody>
      </p:sp>
      <p:sp>
        <p:nvSpPr>
          <p:cNvPr id="79" name="Google Shape;79;p8"/>
          <p:cNvSpPr/>
          <p:nvPr/>
        </p:nvSpPr>
        <p:spPr>
          <a:xfrm>
            <a:off x="485616" y="2639841"/>
            <a:ext cx="2081297" cy="457861"/>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333F70"/>
              </a:buClr>
              <a:buSzPts val="3600"/>
              <a:buFont typeface="Unbounded"/>
              <a:buNone/>
            </a:pPr>
            <a:r>
              <a:rPr b="1" i="0" lang="en-US" sz="3600" u="none" cap="none" strike="noStrike">
                <a:solidFill>
                  <a:srgbClr val="333F70"/>
                </a:solidFill>
                <a:latin typeface="Unbounded"/>
                <a:ea typeface="Unbounded"/>
                <a:cs typeface="Unbounded"/>
                <a:sym typeface="Unbounded"/>
              </a:rPr>
              <a:t>$100B+</a:t>
            </a:r>
            <a:endParaRPr b="0" i="0" sz="3600" u="none" cap="none" strike="noStrike">
              <a:solidFill>
                <a:schemeClr val="dk1"/>
              </a:solidFill>
              <a:latin typeface="Calibri"/>
              <a:ea typeface="Calibri"/>
              <a:cs typeface="Calibri"/>
              <a:sym typeface="Calibri"/>
            </a:endParaRPr>
          </a:p>
        </p:txBody>
      </p:sp>
      <p:sp>
        <p:nvSpPr>
          <p:cNvPr id="80" name="Google Shape;80;p8"/>
          <p:cNvSpPr/>
          <p:nvPr/>
        </p:nvSpPr>
        <p:spPr>
          <a:xfrm>
            <a:off x="485616" y="3271123"/>
            <a:ext cx="2081297" cy="433491"/>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Current Market Value</a:t>
            </a:r>
            <a:endParaRPr b="0" i="0" sz="1350" u="none" cap="none" strike="noStrike">
              <a:solidFill>
                <a:schemeClr val="dk1"/>
              </a:solidFill>
              <a:latin typeface="Calibri"/>
              <a:ea typeface="Calibri"/>
              <a:cs typeface="Calibri"/>
              <a:sym typeface="Calibri"/>
            </a:endParaRPr>
          </a:p>
        </p:txBody>
      </p:sp>
      <p:sp>
        <p:nvSpPr>
          <p:cNvPr id="81" name="Google Shape;81;p8"/>
          <p:cNvSpPr/>
          <p:nvPr/>
        </p:nvSpPr>
        <p:spPr>
          <a:xfrm>
            <a:off x="485616" y="3787817"/>
            <a:ext cx="2081297" cy="444076"/>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Total valuation of the U.S. data center industry</a:t>
            </a:r>
            <a:endParaRPr b="0" i="0" sz="1050" u="none" cap="none" strike="noStrike">
              <a:solidFill>
                <a:schemeClr val="dk1"/>
              </a:solidFill>
              <a:latin typeface="Calibri"/>
              <a:ea typeface="Calibri"/>
              <a:cs typeface="Calibri"/>
              <a:sym typeface="Calibri"/>
            </a:endParaRPr>
          </a:p>
        </p:txBody>
      </p:sp>
      <p:sp>
        <p:nvSpPr>
          <p:cNvPr id="82" name="Google Shape;82;p8"/>
          <p:cNvSpPr/>
          <p:nvPr/>
        </p:nvSpPr>
        <p:spPr>
          <a:xfrm>
            <a:off x="2740334" y="2639841"/>
            <a:ext cx="2081297" cy="457861"/>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333F70"/>
              </a:buClr>
              <a:buSzPts val="3600"/>
              <a:buFont typeface="Unbounded"/>
              <a:buNone/>
            </a:pPr>
            <a:r>
              <a:rPr b="1" i="0" lang="en-US" sz="3600" u="none" cap="none" strike="noStrike">
                <a:solidFill>
                  <a:srgbClr val="333F70"/>
                </a:solidFill>
                <a:latin typeface="Unbounded"/>
                <a:ea typeface="Unbounded"/>
                <a:cs typeface="Unbounded"/>
                <a:sym typeface="Unbounded"/>
              </a:rPr>
              <a:t>25%</a:t>
            </a:r>
            <a:endParaRPr b="0" i="0" sz="3600" u="none" cap="none" strike="noStrike">
              <a:solidFill>
                <a:schemeClr val="dk1"/>
              </a:solidFill>
              <a:latin typeface="Calibri"/>
              <a:ea typeface="Calibri"/>
              <a:cs typeface="Calibri"/>
              <a:sym typeface="Calibri"/>
            </a:endParaRPr>
          </a:p>
        </p:txBody>
      </p:sp>
      <p:sp>
        <p:nvSpPr>
          <p:cNvPr id="83" name="Google Shape;83;p8"/>
          <p:cNvSpPr/>
          <p:nvPr/>
        </p:nvSpPr>
        <p:spPr>
          <a:xfrm>
            <a:off x="2740334" y="3271123"/>
            <a:ext cx="2081297" cy="433491"/>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Projected Growth Rate</a:t>
            </a:r>
            <a:endParaRPr b="0" i="0" sz="1350" u="none" cap="none" strike="noStrike">
              <a:solidFill>
                <a:schemeClr val="dk1"/>
              </a:solidFill>
              <a:latin typeface="Calibri"/>
              <a:ea typeface="Calibri"/>
              <a:cs typeface="Calibri"/>
              <a:sym typeface="Calibri"/>
            </a:endParaRPr>
          </a:p>
        </p:txBody>
      </p:sp>
      <p:sp>
        <p:nvSpPr>
          <p:cNvPr id="84" name="Google Shape;84;p8"/>
          <p:cNvSpPr/>
          <p:nvPr/>
        </p:nvSpPr>
        <p:spPr>
          <a:xfrm>
            <a:off x="2740334" y="3787817"/>
            <a:ext cx="2081297" cy="444076"/>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Expected annual market expansion through 2028</a:t>
            </a:r>
            <a:endParaRPr b="0" i="0" sz="1050" u="none" cap="none" strike="noStrike">
              <a:solidFill>
                <a:schemeClr val="dk1"/>
              </a:solidFill>
              <a:latin typeface="Calibri"/>
              <a:ea typeface="Calibri"/>
              <a:cs typeface="Calibri"/>
              <a:sym typeface="Calibri"/>
            </a:endParaRPr>
          </a:p>
        </p:txBody>
      </p:sp>
      <p:sp>
        <p:nvSpPr>
          <p:cNvPr id="85" name="Google Shape;85;p8"/>
          <p:cNvSpPr/>
          <p:nvPr/>
        </p:nvSpPr>
        <p:spPr>
          <a:xfrm>
            <a:off x="4995052" y="2639841"/>
            <a:ext cx="2081359" cy="457861"/>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333F70"/>
              </a:buClr>
              <a:buSzPts val="3600"/>
              <a:buFont typeface="Unbounded"/>
              <a:buNone/>
            </a:pPr>
            <a:r>
              <a:rPr b="1" i="0" lang="en-US" sz="3600" u="none" cap="none" strike="noStrike">
                <a:solidFill>
                  <a:srgbClr val="333F70"/>
                </a:solidFill>
                <a:latin typeface="Unbounded"/>
                <a:ea typeface="Unbounded"/>
                <a:cs typeface="Unbounded"/>
                <a:sym typeface="Unbounded"/>
              </a:rPr>
              <a:t>3</a:t>
            </a:r>
            <a:endParaRPr b="0" i="0" sz="3600" u="none" cap="none" strike="noStrike">
              <a:solidFill>
                <a:schemeClr val="dk1"/>
              </a:solidFill>
              <a:latin typeface="Calibri"/>
              <a:ea typeface="Calibri"/>
              <a:cs typeface="Calibri"/>
              <a:sym typeface="Calibri"/>
            </a:endParaRPr>
          </a:p>
        </p:txBody>
      </p:sp>
      <p:sp>
        <p:nvSpPr>
          <p:cNvPr id="86" name="Google Shape;86;p8"/>
          <p:cNvSpPr/>
          <p:nvPr/>
        </p:nvSpPr>
        <p:spPr>
          <a:xfrm>
            <a:off x="4995052" y="3271123"/>
            <a:ext cx="2081359" cy="433491"/>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Major Deployment Models</a:t>
            </a:r>
            <a:endParaRPr b="0" i="0" sz="1350" u="none" cap="none" strike="noStrike">
              <a:solidFill>
                <a:schemeClr val="dk1"/>
              </a:solidFill>
              <a:latin typeface="Calibri"/>
              <a:ea typeface="Calibri"/>
              <a:cs typeface="Calibri"/>
              <a:sym typeface="Calibri"/>
            </a:endParaRPr>
          </a:p>
        </p:txBody>
      </p:sp>
      <p:sp>
        <p:nvSpPr>
          <p:cNvPr id="87" name="Google Shape;87;p8"/>
          <p:cNvSpPr/>
          <p:nvPr/>
        </p:nvSpPr>
        <p:spPr>
          <a:xfrm>
            <a:off x="4995052" y="3787817"/>
            <a:ext cx="2081359" cy="444076"/>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On-premises, colocation, and cloud-based solutions</a:t>
            </a:r>
            <a:endParaRPr b="0" i="0" sz="1050" u="none" cap="none" strike="noStrike">
              <a:solidFill>
                <a:schemeClr val="dk1"/>
              </a:solidFill>
              <a:latin typeface="Calibri"/>
              <a:ea typeface="Calibri"/>
              <a:cs typeface="Calibri"/>
              <a:sym typeface="Calibri"/>
            </a:endParaRPr>
          </a:p>
        </p:txBody>
      </p:sp>
      <p:sp>
        <p:nvSpPr>
          <p:cNvPr id="88" name="Google Shape;88;p8"/>
          <p:cNvSpPr/>
          <p:nvPr/>
        </p:nvSpPr>
        <p:spPr>
          <a:xfrm>
            <a:off x="485616" y="4387960"/>
            <a:ext cx="6590795" cy="111019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The market is increasingly characterized by hybrid approaches, where companies utilize a combination of their own infrastructure and cloud-based data center resources. This trend reflects the growing need for flexibility, scalability, and cost optimization in IT operations. Significant investments from industry leaders like Equinix and Digital Realty continue to shape the competitive landscape.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9"/>
          <p:cNvSpPr/>
          <p:nvPr/>
        </p:nvSpPr>
        <p:spPr>
          <a:xfrm>
            <a:off x="485616" y="381551"/>
            <a:ext cx="6590795" cy="86722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2700"/>
              <a:buFont typeface="Unbounded"/>
              <a:buNone/>
            </a:pPr>
            <a:r>
              <a:rPr b="1" i="0" lang="en-US" sz="2700" u="none" cap="none" strike="noStrike">
                <a:solidFill>
                  <a:srgbClr val="333F70"/>
                </a:solidFill>
                <a:latin typeface="Unbounded"/>
                <a:ea typeface="Unbounded"/>
                <a:cs typeface="Unbounded"/>
                <a:sym typeface="Unbounded"/>
              </a:rPr>
              <a:t>Major U.S. Data Center Geographic Hubs</a:t>
            </a:r>
            <a:endParaRPr b="0" i="0" sz="2700" u="none" cap="none" strike="noStrike">
              <a:solidFill>
                <a:schemeClr val="dk1"/>
              </a:solidFill>
              <a:latin typeface="Calibri"/>
              <a:ea typeface="Calibri"/>
              <a:cs typeface="Calibri"/>
              <a:sym typeface="Calibri"/>
            </a:endParaRPr>
          </a:p>
        </p:txBody>
      </p:sp>
      <p:pic>
        <p:nvPicPr>
          <p:cNvPr descr="preencoded.png" id="95" name="Google Shape;95;p9"/>
          <p:cNvPicPr preferRelativeResize="0"/>
          <p:nvPr/>
        </p:nvPicPr>
        <p:blipFill rotWithShape="1">
          <a:blip r:embed="rId3">
            <a:alphaModFix/>
          </a:blip>
          <a:srcRect b="0" l="0" r="0" t="0"/>
          <a:stretch/>
        </p:blipFill>
        <p:spPr>
          <a:xfrm>
            <a:off x="485616" y="1612976"/>
            <a:ext cx="3126131" cy="3126134"/>
          </a:xfrm>
          <a:prstGeom prst="rect">
            <a:avLst/>
          </a:prstGeom>
          <a:noFill/>
          <a:ln>
            <a:noFill/>
          </a:ln>
        </p:spPr>
      </p:pic>
      <p:sp>
        <p:nvSpPr>
          <p:cNvPr id="96" name="Google Shape;96;p9"/>
          <p:cNvSpPr/>
          <p:nvPr/>
        </p:nvSpPr>
        <p:spPr>
          <a:xfrm>
            <a:off x="3954157" y="1595622"/>
            <a:ext cx="3126131" cy="2167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Strategic Location Factors</a:t>
            </a:r>
            <a:endParaRPr b="0" i="0" sz="1350" u="none" cap="none" strike="noStrike">
              <a:solidFill>
                <a:schemeClr val="dk1"/>
              </a:solidFill>
              <a:latin typeface="Calibri"/>
              <a:ea typeface="Calibri"/>
              <a:cs typeface="Calibri"/>
              <a:sym typeface="Calibri"/>
            </a:endParaRPr>
          </a:p>
        </p:txBody>
      </p:sp>
      <p:sp>
        <p:nvSpPr>
          <p:cNvPr id="97" name="Google Shape;97;p9"/>
          <p:cNvSpPr/>
          <p:nvPr/>
        </p:nvSpPr>
        <p:spPr>
          <a:xfrm>
            <a:off x="3954157" y="1951080"/>
            <a:ext cx="3126131" cy="13322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Data center location selection depends on several critical infrastructure factors including access to extensive fiber-optic networks, proximity to major population centers, availability of reliable power supplies, and favorable regulatory environments.</a:t>
            </a:r>
            <a:endParaRPr b="0" i="0" sz="1050" u="none" cap="none" strike="noStrike">
              <a:solidFill>
                <a:schemeClr val="dk1"/>
              </a:solidFill>
              <a:latin typeface="Calibri"/>
              <a:ea typeface="Calibri"/>
              <a:cs typeface="Calibri"/>
              <a:sym typeface="Calibri"/>
            </a:endParaRPr>
          </a:p>
        </p:txBody>
      </p:sp>
      <p:pic>
        <p:nvPicPr>
          <p:cNvPr descr="preencoded.png" id="98" name="Google Shape;98;p9"/>
          <p:cNvPicPr preferRelativeResize="0"/>
          <p:nvPr/>
        </p:nvPicPr>
        <p:blipFill rotWithShape="1">
          <a:blip r:embed="rId4">
            <a:alphaModFix/>
          </a:blip>
          <a:srcRect b="0" l="0" r="0" t="0"/>
          <a:stretch/>
        </p:blipFill>
        <p:spPr>
          <a:xfrm>
            <a:off x="485616" y="5051243"/>
            <a:ext cx="2104437" cy="3901051"/>
          </a:xfrm>
          <a:prstGeom prst="rect">
            <a:avLst/>
          </a:prstGeom>
          <a:noFill/>
          <a:ln>
            <a:noFill/>
          </a:ln>
        </p:spPr>
      </p:pic>
      <p:pic>
        <p:nvPicPr>
          <p:cNvPr descr="preencoded.png" id="99" name="Google Shape;99;p9"/>
          <p:cNvPicPr preferRelativeResize="0"/>
          <p:nvPr/>
        </p:nvPicPr>
        <p:blipFill rotWithShape="1">
          <a:blip r:embed="rId5">
            <a:alphaModFix/>
          </a:blip>
          <a:srcRect b="0" l="0" r="0" t="0"/>
          <a:stretch/>
        </p:blipFill>
        <p:spPr>
          <a:xfrm>
            <a:off x="1433769" y="5167062"/>
            <a:ext cx="208130" cy="208130"/>
          </a:xfrm>
          <a:prstGeom prst="rect">
            <a:avLst/>
          </a:prstGeom>
          <a:noFill/>
          <a:ln>
            <a:noFill/>
          </a:ln>
        </p:spPr>
      </p:pic>
      <p:sp>
        <p:nvSpPr>
          <p:cNvPr id="100" name="Google Shape;100;p9"/>
          <p:cNvSpPr/>
          <p:nvPr/>
        </p:nvSpPr>
        <p:spPr>
          <a:xfrm>
            <a:off x="640082" y="5621969"/>
            <a:ext cx="1795504" cy="65023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Northern Virginia (Ashburn)</a:t>
            </a:r>
            <a:endParaRPr b="0" i="0" sz="1350" u="none" cap="none" strike="noStrike">
              <a:solidFill>
                <a:schemeClr val="dk1"/>
              </a:solidFill>
              <a:latin typeface="Calibri"/>
              <a:ea typeface="Calibri"/>
              <a:cs typeface="Calibri"/>
              <a:sym typeface="Calibri"/>
            </a:endParaRPr>
          </a:p>
        </p:txBody>
      </p:sp>
      <p:sp>
        <p:nvSpPr>
          <p:cNvPr id="101" name="Google Shape;101;p9"/>
          <p:cNvSpPr/>
          <p:nvPr/>
        </p:nvSpPr>
        <p:spPr>
          <a:xfrm>
            <a:off x="640082" y="6355409"/>
            <a:ext cx="1795504" cy="222038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One of the largest data center markets globally, featuring extensive fiber networks and proximity to major East Coast population centers. The region's nickname "Data Center Alley" reflects its dominant position in the industry.</a:t>
            </a:r>
            <a:endParaRPr b="0" i="0" sz="1050" u="none" cap="none" strike="noStrike">
              <a:solidFill>
                <a:schemeClr val="dk1"/>
              </a:solidFill>
              <a:latin typeface="Calibri"/>
              <a:ea typeface="Calibri"/>
              <a:cs typeface="Calibri"/>
              <a:sym typeface="Calibri"/>
            </a:endParaRPr>
          </a:p>
        </p:txBody>
      </p:sp>
      <p:pic>
        <p:nvPicPr>
          <p:cNvPr descr="preencoded.png" id="102" name="Google Shape;102;p9"/>
          <p:cNvPicPr preferRelativeResize="0"/>
          <p:nvPr/>
        </p:nvPicPr>
        <p:blipFill rotWithShape="1">
          <a:blip r:embed="rId4">
            <a:alphaModFix/>
          </a:blip>
          <a:srcRect b="0" l="0" r="0" t="0"/>
          <a:stretch/>
        </p:blipFill>
        <p:spPr>
          <a:xfrm>
            <a:off x="2728764" y="5051243"/>
            <a:ext cx="2104437" cy="3901051"/>
          </a:xfrm>
          <a:prstGeom prst="rect">
            <a:avLst/>
          </a:prstGeom>
          <a:noFill/>
          <a:ln>
            <a:noFill/>
          </a:ln>
        </p:spPr>
      </p:pic>
      <p:pic>
        <p:nvPicPr>
          <p:cNvPr descr="preencoded.png" id="103" name="Google Shape;103;p9"/>
          <p:cNvPicPr preferRelativeResize="0"/>
          <p:nvPr/>
        </p:nvPicPr>
        <p:blipFill rotWithShape="1">
          <a:blip r:embed="rId6">
            <a:alphaModFix/>
          </a:blip>
          <a:srcRect b="0" l="0" r="0" t="0"/>
          <a:stretch/>
        </p:blipFill>
        <p:spPr>
          <a:xfrm>
            <a:off x="3676918" y="5167062"/>
            <a:ext cx="208130" cy="208130"/>
          </a:xfrm>
          <a:prstGeom prst="rect">
            <a:avLst/>
          </a:prstGeom>
          <a:noFill/>
          <a:ln>
            <a:noFill/>
          </a:ln>
        </p:spPr>
      </p:pic>
      <p:sp>
        <p:nvSpPr>
          <p:cNvPr id="104" name="Google Shape;104;p9"/>
          <p:cNvSpPr/>
          <p:nvPr/>
        </p:nvSpPr>
        <p:spPr>
          <a:xfrm>
            <a:off x="2883231" y="5621969"/>
            <a:ext cx="1795504" cy="65023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Northern California (Silicon Valley)</a:t>
            </a:r>
            <a:endParaRPr b="0" i="0" sz="1350" u="none" cap="none" strike="noStrike">
              <a:solidFill>
                <a:schemeClr val="dk1"/>
              </a:solidFill>
              <a:latin typeface="Calibri"/>
              <a:ea typeface="Calibri"/>
              <a:cs typeface="Calibri"/>
              <a:sym typeface="Calibri"/>
            </a:endParaRPr>
          </a:p>
        </p:txBody>
      </p:sp>
      <p:sp>
        <p:nvSpPr>
          <p:cNvPr id="105" name="Google Shape;105;p9"/>
          <p:cNvSpPr/>
          <p:nvPr/>
        </p:nvSpPr>
        <p:spPr>
          <a:xfrm>
            <a:off x="2883231" y="6355409"/>
            <a:ext cx="1795504" cy="244241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A hub for technological innovation with high concentrations of data centers supporting the region's technology companies, startups, and research institutions. The area benefits from proximity to major cloud service providers and tech enterprises.</a:t>
            </a:r>
            <a:endParaRPr b="0" i="0" sz="1050" u="none" cap="none" strike="noStrike">
              <a:solidFill>
                <a:schemeClr val="dk1"/>
              </a:solidFill>
              <a:latin typeface="Calibri"/>
              <a:ea typeface="Calibri"/>
              <a:cs typeface="Calibri"/>
              <a:sym typeface="Calibri"/>
            </a:endParaRPr>
          </a:p>
        </p:txBody>
      </p:sp>
      <p:pic>
        <p:nvPicPr>
          <p:cNvPr descr="preencoded.png" id="106" name="Google Shape;106;p9"/>
          <p:cNvPicPr preferRelativeResize="0"/>
          <p:nvPr/>
        </p:nvPicPr>
        <p:blipFill rotWithShape="1">
          <a:blip r:embed="rId4">
            <a:alphaModFix/>
          </a:blip>
          <a:srcRect b="0" l="0" r="0" t="0"/>
          <a:stretch/>
        </p:blipFill>
        <p:spPr>
          <a:xfrm>
            <a:off x="4971913" y="5051243"/>
            <a:ext cx="2104498" cy="3901051"/>
          </a:xfrm>
          <a:prstGeom prst="rect">
            <a:avLst/>
          </a:prstGeom>
          <a:noFill/>
          <a:ln>
            <a:noFill/>
          </a:ln>
        </p:spPr>
      </p:pic>
      <p:pic>
        <p:nvPicPr>
          <p:cNvPr descr="preencoded.png" id="107" name="Google Shape;107;p9"/>
          <p:cNvPicPr preferRelativeResize="0"/>
          <p:nvPr/>
        </p:nvPicPr>
        <p:blipFill rotWithShape="1">
          <a:blip r:embed="rId7">
            <a:alphaModFix/>
          </a:blip>
          <a:srcRect b="0" l="0" r="0" t="0"/>
          <a:stretch/>
        </p:blipFill>
        <p:spPr>
          <a:xfrm>
            <a:off x="5920066" y="5167062"/>
            <a:ext cx="208130" cy="208130"/>
          </a:xfrm>
          <a:prstGeom prst="rect">
            <a:avLst/>
          </a:prstGeom>
          <a:noFill/>
          <a:ln>
            <a:noFill/>
          </a:ln>
        </p:spPr>
      </p:pic>
      <p:sp>
        <p:nvSpPr>
          <p:cNvPr id="108" name="Google Shape;108;p9"/>
          <p:cNvSpPr/>
          <p:nvPr/>
        </p:nvSpPr>
        <p:spPr>
          <a:xfrm>
            <a:off x="5126379" y="5621969"/>
            <a:ext cx="1795565" cy="4334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New Jersey and Illinois Regions</a:t>
            </a:r>
            <a:endParaRPr b="0" i="0" sz="1350" u="none" cap="none" strike="noStrike">
              <a:solidFill>
                <a:schemeClr val="dk1"/>
              </a:solidFill>
              <a:latin typeface="Calibri"/>
              <a:ea typeface="Calibri"/>
              <a:cs typeface="Calibri"/>
              <a:sym typeface="Calibri"/>
            </a:endParaRPr>
          </a:p>
        </p:txBody>
      </p:sp>
      <p:sp>
        <p:nvSpPr>
          <p:cNvPr id="109" name="Google Shape;109;p9"/>
          <p:cNvSpPr/>
          <p:nvPr/>
        </p:nvSpPr>
        <p:spPr>
          <a:xfrm>
            <a:off x="5126379" y="6138663"/>
            <a:ext cx="1795565" cy="244241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These markets host major data center operations driven by high demand from financial services, healthcare, and enterprise sectors. Strong infrastructure and connectivity to metropolitan areas make these regions strategically valuable.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0"/>
          <p:cNvSpPr/>
          <p:nvPr/>
        </p:nvSpPr>
        <p:spPr>
          <a:xfrm>
            <a:off x="485616" y="381551"/>
            <a:ext cx="6590795" cy="86722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2700"/>
              <a:buFont typeface="Unbounded"/>
              <a:buNone/>
            </a:pPr>
            <a:r>
              <a:rPr b="1" i="0" lang="en-US" sz="2700" u="none" cap="none" strike="noStrike">
                <a:solidFill>
                  <a:srgbClr val="333F70"/>
                </a:solidFill>
                <a:latin typeface="Unbounded"/>
                <a:ea typeface="Unbounded"/>
                <a:cs typeface="Unbounded"/>
                <a:sym typeface="Unbounded"/>
              </a:rPr>
              <a:t>Critical Infrastructure and Operational Requirements</a:t>
            </a:r>
            <a:endParaRPr b="0" i="0" sz="2700" u="none" cap="none" strike="noStrike">
              <a:solidFill>
                <a:schemeClr val="dk1"/>
              </a:solidFill>
              <a:latin typeface="Calibri"/>
              <a:ea typeface="Calibri"/>
              <a:cs typeface="Calibri"/>
              <a:sym typeface="Calibri"/>
            </a:endParaRPr>
          </a:p>
        </p:txBody>
      </p:sp>
      <p:sp>
        <p:nvSpPr>
          <p:cNvPr id="116" name="Google Shape;116;p10"/>
          <p:cNvSpPr/>
          <p:nvPr/>
        </p:nvSpPr>
        <p:spPr>
          <a:xfrm>
            <a:off x="485616" y="1526266"/>
            <a:ext cx="6590795" cy="6661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Data centers demand sophisticated infrastructure systems to ensure continuous, reliable operations. Understanding these requirements is fundamental for professionals managing or designing data center facilities.</a:t>
            </a:r>
            <a:endParaRPr b="0" i="0" sz="1050" u="none" cap="none" strike="noStrike">
              <a:solidFill>
                <a:schemeClr val="dk1"/>
              </a:solidFill>
              <a:latin typeface="Calibri"/>
              <a:ea typeface="Calibri"/>
              <a:cs typeface="Calibri"/>
              <a:sym typeface="Calibri"/>
            </a:endParaRPr>
          </a:p>
        </p:txBody>
      </p:sp>
      <p:sp>
        <p:nvSpPr>
          <p:cNvPr id="117" name="Google Shape;117;p10"/>
          <p:cNvSpPr/>
          <p:nvPr/>
        </p:nvSpPr>
        <p:spPr>
          <a:xfrm>
            <a:off x="485616" y="2348446"/>
            <a:ext cx="277486" cy="17342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F70"/>
              </a:buClr>
              <a:buSzPts val="1050"/>
              <a:buFont typeface="Unbounded Light"/>
              <a:buNone/>
            </a:pPr>
            <a:r>
              <a:rPr b="0" i="0" lang="en-US" sz="1050" u="none" cap="none" strike="noStrike">
                <a:solidFill>
                  <a:srgbClr val="333F70"/>
                </a:solidFill>
                <a:latin typeface="Unbounded Light"/>
                <a:ea typeface="Unbounded Light"/>
                <a:cs typeface="Unbounded Light"/>
                <a:sym typeface="Unbounded Light"/>
              </a:rPr>
              <a:t>01</a:t>
            </a:r>
            <a:endParaRPr b="0" i="0" sz="1050" u="none" cap="none" strike="noStrike">
              <a:solidFill>
                <a:schemeClr val="dk1"/>
              </a:solidFill>
              <a:latin typeface="Calibri"/>
              <a:ea typeface="Calibri"/>
              <a:cs typeface="Calibri"/>
              <a:sym typeface="Calibri"/>
            </a:endParaRPr>
          </a:p>
        </p:txBody>
      </p:sp>
      <p:sp>
        <p:nvSpPr>
          <p:cNvPr id="118" name="Google Shape;118;p10"/>
          <p:cNvSpPr/>
          <p:nvPr/>
        </p:nvSpPr>
        <p:spPr>
          <a:xfrm>
            <a:off x="485616" y="2568454"/>
            <a:ext cx="3226011" cy="15754"/>
          </a:xfrm>
          <a:prstGeom prst="rect">
            <a:avLst/>
          </a:prstGeom>
          <a:solidFill>
            <a:srgbClr val="26A6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0"/>
          <p:cNvSpPr/>
          <p:nvPr/>
        </p:nvSpPr>
        <p:spPr>
          <a:xfrm>
            <a:off x="485616" y="2669319"/>
            <a:ext cx="3226011" cy="4334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Power Supply and Distribution</a:t>
            </a:r>
            <a:endParaRPr b="0" i="0" sz="1350" u="none" cap="none" strike="noStrike">
              <a:solidFill>
                <a:schemeClr val="dk1"/>
              </a:solidFill>
              <a:latin typeface="Calibri"/>
              <a:ea typeface="Calibri"/>
              <a:cs typeface="Calibri"/>
              <a:sym typeface="Calibri"/>
            </a:endParaRPr>
          </a:p>
        </p:txBody>
      </p:sp>
      <p:sp>
        <p:nvSpPr>
          <p:cNvPr id="120" name="Google Shape;120;p10"/>
          <p:cNvSpPr/>
          <p:nvPr/>
        </p:nvSpPr>
        <p:spPr>
          <a:xfrm>
            <a:off x="485616" y="3186012"/>
            <a:ext cx="3226011" cy="13322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Data centers require significant electrical power to operate servers, storage systems, and networking equipment. Redundant power systems, including backup generators and uninterruptible power supplies (UPS), ensure continuity during outages.</a:t>
            </a:r>
            <a:endParaRPr b="0" i="0" sz="1050" u="none" cap="none" strike="noStrike">
              <a:solidFill>
                <a:schemeClr val="dk1"/>
              </a:solidFill>
              <a:latin typeface="Calibri"/>
              <a:ea typeface="Calibri"/>
              <a:cs typeface="Calibri"/>
              <a:sym typeface="Calibri"/>
            </a:endParaRPr>
          </a:p>
        </p:txBody>
      </p:sp>
      <p:sp>
        <p:nvSpPr>
          <p:cNvPr id="121" name="Google Shape;121;p10"/>
          <p:cNvSpPr/>
          <p:nvPr/>
        </p:nvSpPr>
        <p:spPr>
          <a:xfrm>
            <a:off x="3850339" y="2348446"/>
            <a:ext cx="277486" cy="17342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F70"/>
              </a:buClr>
              <a:buSzPts val="1050"/>
              <a:buFont typeface="Unbounded Light"/>
              <a:buNone/>
            </a:pPr>
            <a:r>
              <a:rPr b="0" i="0" lang="en-US" sz="1050" u="none" cap="none" strike="noStrike">
                <a:solidFill>
                  <a:srgbClr val="333F70"/>
                </a:solidFill>
                <a:latin typeface="Unbounded Light"/>
                <a:ea typeface="Unbounded Light"/>
                <a:cs typeface="Unbounded Light"/>
                <a:sym typeface="Unbounded Light"/>
              </a:rPr>
              <a:t>02</a:t>
            </a:r>
            <a:endParaRPr b="0" i="0" sz="1050" u="none" cap="none" strike="noStrike">
              <a:solidFill>
                <a:schemeClr val="dk1"/>
              </a:solidFill>
              <a:latin typeface="Calibri"/>
              <a:ea typeface="Calibri"/>
              <a:cs typeface="Calibri"/>
              <a:sym typeface="Calibri"/>
            </a:endParaRPr>
          </a:p>
        </p:txBody>
      </p:sp>
      <p:sp>
        <p:nvSpPr>
          <p:cNvPr id="122" name="Google Shape;122;p10"/>
          <p:cNvSpPr/>
          <p:nvPr/>
        </p:nvSpPr>
        <p:spPr>
          <a:xfrm>
            <a:off x="3850339" y="2568454"/>
            <a:ext cx="3226072" cy="15754"/>
          </a:xfrm>
          <a:prstGeom prst="rect">
            <a:avLst/>
          </a:prstGeom>
          <a:solidFill>
            <a:srgbClr val="26A6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0"/>
          <p:cNvSpPr/>
          <p:nvPr/>
        </p:nvSpPr>
        <p:spPr>
          <a:xfrm>
            <a:off x="3850339" y="2669319"/>
            <a:ext cx="3226072" cy="2167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Cooling and Climate Control</a:t>
            </a:r>
            <a:endParaRPr b="0" i="0" sz="1350" u="none" cap="none" strike="noStrike">
              <a:solidFill>
                <a:schemeClr val="dk1"/>
              </a:solidFill>
              <a:latin typeface="Calibri"/>
              <a:ea typeface="Calibri"/>
              <a:cs typeface="Calibri"/>
              <a:sym typeface="Calibri"/>
            </a:endParaRPr>
          </a:p>
        </p:txBody>
      </p:sp>
      <p:sp>
        <p:nvSpPr>
          <p:cNvPr id="124" name="Google Shape;124;p10"/>
          <p:cNvSpPr/>
          <p:nvPr/>
        </p:nvSpPr>
        <p:spPr>
          <a:xfrm>
            <a:off x="3850339" y="2969267"/>
            <a:ext cx="3226072" cy="13322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Robust cooling systems prevent equipment overheating and maintain optimal operating temperatures. Modern facilities employ advanced cooling technologies including hot-aisle/cold-aisle configurations, liquid cooling, and free-air cooling where climate permits.</a:t>
            </a:r>
            <a:endParaRPr b="0" i="0" sz="1050" u="none" cap="none" strike="noStrike">
              <a:solidFill>
                <a:schemeClr val="dk1"/>
              </a:solidFill>
              <a:latin typeface="Calibri"/>
              <a:ea typeface="Calibri"/>
              <a:cs typeface="Calibri"/>
              <a:sym typeface="Calibri"/>
            </a:endParaRPr>
          </a:p>
        </p:txBody>
      </p:sp>
      <p:sp>
        <p:nvSpPr>
          <p:cNvPr id="125" name="Google Shape;125;p10"/>
          <p:cNvSpPr/>
          <p:nvPr/>
        </p:nvSpPr>
        <p:spPr>
          <a:xfrm>
            <a:off x="485616" y="4761018"/>
            <a:ext cx="277486" cy="17342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F70"/>
              </a:buClr>
              <a:buSzPts val="1050"/>
              <a:buFont typeface="Unbounded Light"/>
              <a:buNone/>
            </a:pPr>
            <a:r>
              <a:rPr b="0" i="0" lang="en-US" sz="1050" u="none" cap="none" strike="noStrike">
                <a:solidFill>
                  <a:srgbClr val="333F70"/>
                </a:solidFill>
                <a:latin typeface="Unbounded Light"/>
                <a:ea typeface="Unbounded Light"/>
                <a:cs typeface="Unbounded Light"/>
                <a:sym typeface="Unbounded Light"/>
              </a:rPr>
              <a:t>03</a:t>
            </a:r>
            <a:endParaRPr b="0" i="0" sz="1050" u="none" cap="none" strike="noStrike">
              <a:solidFill>
                <a:schemeClr val="dk1"/>
              </a:solidFill>
              <a:latin typeface="Calibri"/>
              <a:ea typeface="Calibri"/>
              <a:cs typeface="Calibri"/>
              <a:sym typeface="Calibri"/>
            </a:endParaRPr>
          </a:p>
        </p:txBody>
      </p:sp>
      <p:sp>
        <p:nvSpPr>
          <p:cNvPr id="126" name="Google Shape;126;p10"/>
          <p:cNvSpPr/>
          <p:nvPr/>
        </p:nvSpPr>
        <p:spPr>
          <a:xfrm>
            <a:off x="485616" y="4981025"/>
            <a:ext cx="3226011" cy="15754"/>
          </a:xfrm>
          <a:prstGeom prst="rect">
            <a:avLst/>
          </a:prstGeom>
          <a:solidFill>
            <a:srgbClr val="26A6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0"/>
          <p:cNvSpPr/>
          <p:nvPr/>
        </p:nvSpPr>
        <p:spPr>
          <a:xfrm>
            <a:off x="485616" y="5081890"/>
            <a:ext cx="3226011" cy="2167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Network Connectivity</a:t>
            </a:r>
            <a:endParaRPr b="0" i="0" sz="1350" u="none" cap="none" strike="noStrike">
              <a:solidFill>
                <a:schemeClr val="dk1"/>
              </a:solidFill>
              <a:latin typeface="Calibri"/>
              <a:ea typeface="Calibri"/>
              <a:cs typeface="Calibri"/>
              <a:sym typeface="Calibri"/>
            </a:endParaRPr>
          </a:p>
        </p:txBody>
      </p:sp>
      <p:sp>
        <p:nvSpPr>
          <p:cNvPr id="128" name="Google Shape;128;p10"/>
          <p:cNvSpPr/>
          <p:nvPr/>
        </p:nvSpPr>
        <p:spPr>
          <a:xfrm>
            <a:off x="485616" y="5381838"/>
            <a:ext cx="3226011" cy="111019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Extensive network infrastructure enables data transmission and connectivity to handle vast amounts of information. Multiple fiber-optic connections and redundant network paths ensure reliability and performance.</a:t>
            </a:r>
            <a:endParaRPr b="0" i="0" sz="1050" u="none" cap="none" strike="noStrike">
              <a:solidFill>
                <a:schemeClr val="dk1"/>
              </a:solidFill>
              <a:latin typeface="Calibri"/>
              <a:ea typeface="Calibri"/>
              <a:cs typeface="Calibri"/>
              <a:sym typeface="Calibri"/>
            </a:endParaRPr>
          </a:p>
        </p:txBody>
      </p:sp>
      <p:sp>
        <p:nvSpPr>
          <p:cNvPr id="129" name="Google Shape;129;p10"/>
          <p:cNvSpPr/>
          <p:nvPr/>
        </p:nvSpPr>
        <p:spPr>
          <a:xfrm>
            <a:off x="3850339" y="4761018"/>
            <a:ext cx="277486" cy="17342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F70"/>
              </a:buClr>
              <a:buSzPts val="1050"/>
              <a:buFont typeface="Unbounded Light"/>
              <a:buNone/>
            </a:pPr>
            <a:r>
              <a:rPr b="0" i="0" lang="en-US" sz="1050" u="none" cap="none" strike="noStrike">
                <a:solidFill>
                  <a:srgbClr val="333F70"/>
                </a:solidFill>
                <a:latin typeface="Unbounded Light"/>
                <a:ea typeface="Unbounded Light"/>
                <a:cs typeface="Unbounded Light"/>
                <a:sym typeface="Unbounded Light"/>
              </a:rPr>
              <a:t>04</a:t>
            </a:r>
            <a:endParaRPr b="0" i="0" sz="1050" u="none" cap="none" strike="noStrike">
              <a:solidFill>
                <a:schemeClr val="dk1"/>
              </a:solidFill>
              <a:latin typeface="Calibri"/>
              <a:ea typeface="Calibri"/>
              <a:cs typeface="Calibri"/>
              <a:sym typeface="Calibri"/>
            </a:endParaRPr>
          </a:p>
        </p:txBody>
      </p:sp>
      <p:sp>
        <p:nvSpPr>
          <p:cNvPr id="130" name="Google Shape;130;p10"/>
          <p:cNvSpPr/>
          <p:nvPr/>
        </p:nvSpPr>
        <p:spPr>
          <a:xfrm>
            <a:off x="3850339" y="4981025"/>
            <a:ext cx="3226072" cy="15754"/>
          </a:xfrm>
          <a:prstGeom prst="rect">
            <a:avLst/>
          </a:prstGeom>
          <a:solidFill>
            <a:srgbClr val="26A6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0"/>
          <p:cNvSpPr/>
          <p:nvPr/>
        </p:nvSpPr>
        <p:spPr>
          <a:xfrm>
            <a:off x="3850339" y="5081890"/>
            <a:ext cx="3226072" cy="2167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Physical Security Measures</a:t>
            </a:r>
            <a:endParaRPr b="0" i="0" sz="1350" u="none" cap="none" strike="noStrike">
              <a:solidFill>
                <a:schemeClr val="dk1"/>
              </a:solidFill>
              <a:latin typeface="Calibri"/>
              <a:ea typeface="Calibri"/>
              <a:cs typeface="Calibri"/>
              <a:sym typeface="Calibri"/>
            </a:endParaRPr>
          </a:p>
        </p:txBody>
      </p:sp>
      <p:sp>
        <p:nvSpPr>
          <p:cNvPr id="132" name="Google Shape;132;p10"/>
          <p:cNvSpPr/>
          <p:nvPr/>
        </p:nvSpPr>
        <p:spPr>
          <a:xfrm>
            <a:off x="3850339" y="5381838"/>
            <a:ext cx="3226072" cy="111019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Enhanced security protocols protect critical infrastructure from unauthorized access. Facilities implement surveillance cameras, biometric screening, mantrap entries, and 24/7 security personnel monitoring.</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p:nvPr/>
        </p:nvSpPr>
        <p:spPr>
          <a:xfrm>
            <a:off x="485616" y="381551"/>
            <a:ext cx="6590795" cy="86722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2700"/>
              <a:buFont typeface="Unbounded"/>
              <a:buNone/>
            </a:pPr>
            <a:r>
              <a:rPr b="1" i="0" lang="en-US" sz="2700" u="none" cap="none" strike="noStrike">
                <a:solidFill>
                  <a:srgbClr val="333F70"/>
                </a:solidFill>
                <a:latin typeface="Unbounded"/>
                <a:ea typeface="Unbounded"/>
                <a:cs typeface="Unbounded"/>
                <a:sym typeface="Unbounded"/>
              </a:rPr>
              <a:t>Industry Challenges and Emerging Concerns</a:t>
            </a:r>
            <a:endParaRPr b="0" i="0" sz="2700" u="none" cap="none" strike="noStrike">
              <a:solidFill>
                <a:schemeClr val="dk1"/>
              </a:solidFill>
              <a:latin typeface="Calibri"/>
              <a:ea typeface="Calibri"/>
              <a:cs typeface="Calibri"/>
              <a:sym typeface="Calibri"/>
            </a:endParaRPr>
          </a:p>
        </p:txBody>
      </p:sp>
      <p:sp>
        <p:nvSpPr>
          <p:cNvPr id="139" name="Google Shape;139;p11"/>
          <p:cNvSpPr/>
          <p:nvPr/>
        </p:nvSpPr>
        <p:spPr>
          <a:xfrm>
            <a:off x="485616" y="1612976"/>
            <a:ext cx="2086713" cy="1309458"/>
          </a:xfrm>
          <a:prstGeom prst="roundRect">
            <a:avLst>
              <a:gd fmla="val 4450" name="adj"/>
            </a:avLst>
          </a:prstGeom>
          <a:solidFill>
            <a:srgbClr val="192248"/>
          </a:solidFill>
          <a:ln cap="flat" cmpd="sng" w="9525">
            <a:solidFill>
              <a:srgbClr val="323B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1"/>
          <p:cNvSpPr/>
          <p:nvPr/>
        </p:nvSpPr>
        <p:spPr>
          <a:xfrm>
            <a:off x="632205" y="1759566"/>
            <a:ext cx="1793534" cy="4334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350"/>
              <a:buFont typeface="Unbounded"/>
              <a:buNone/>
            </a:pPr>
            <a:r>
              <a:rPr b="1" i="0" lang="en-US" sz="1350" u="none" cap="none" strike="noStrike">
                <a:solidFill>
                  <a:srgbClr val="FFFFFF"/>
                </a:solidFill>
                <a:latin typeface="Unbounded"/>
                <a:ea typeface="Unbounded"/>
                <a:cs typeface="Unbounded"/>
                <a:sym typeface="Unbounded"/>
              </a:rPr>
              <a:t>Power Supply Constraints</a:t>
            </a:r>
            <a:endParaRPr b="0" i="0" sz="1350" u="none" cap="none" strike="noStrike">
              <a:solidFill>
                <a:schemeClr val="dk1"/>
              </a:solidFill>
              <a:latin typeface="Calibri"/>
              <a:ea typeface="Calibri"/>
              <a:cs typeface="Calibri"/>
              <a:sym typeface="Calibri"/>
            </a:endParaRPr>
          </a:p>
        </p:txBody>
      </p:sp>
      <p:sp>
        <p:nvSpPr>
          <p:cNvPr id="141" name="Google Shape;141;p11"/>
          <p:cNvSpPr/>
          <p:nvPr/>
        </p:nvSpPr>
        <p:spPr>
          <a:xfrm>
            <a:off x="632205" y="2331769"/>
            <a:ext cx="1793534" cy="44407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FFFFF"/>
              </a:buClr>
              <a:buSzPts val="1050"/>
              <a:buFont typeface="Open Sans"/>
              <a:buNone/>
            </a:pPr>
            <a:r>
              <a:rPr b="0" i="0" lang="en-US" sz="1050" u="none" cap="none" strike="noStrike">
                <a:solidFill>
                  <a:srgbClr val="FFFFFF"/>
                </a:solidFill>
                <a:latin typeface="Open Sans"/>
                <a:ea typeface="Open Sans"/>
                <a:cs typeface="Open Sans"/>
                <a:sym typeface="Open Sans"/>
              </a:rPr>
              <a:t>Growing demand outpaces available electrical capacity</a:t>
            </a:r>
            <a:endParaRPr b="0" i="0" sz="1050" u="none" cap="none" strike="noStrike">
              <a:solidFill>
                <a:schemeClr val="dk1"/>
              </a:solidFill>
              <a:latin typeface="Calibri"/>
              <a:ea typeface="Calibri"/>
              <a:cs typeface="Calibri"/>
              <a:sym typeface="Calibri"/>
            </a:endParaRPr>
          </a:p>
        </p:txBody>
      </p:sp>
      <p:sp>
        <p:nvSpPr>
          <p:cNvPr id="142" name="Google Shape;142;p11"/>
          <p:cNvSpPr/>
          <p:nvPr/>
        </p:nvSpPr>
        <p:spPr>
          <a:xfrm>
            <a:off x="485616" y="3061147"/>
            <a:ext cx="2086713" cy="1531496"/>
          </a:xfrm>
          <a:prstGeom prst="roundRect">
            <a:avLst>
              <a:gd fmla="val 3805" name="adj"/>
            </a:avLst>
          </a:prstGeom>
          <a:solidFill>
            <a:srgbClr val="26A688"/>
          </a:solidFill>
          <a:ln cap="flat" cmpd="sng" w="9525">
            <a:solidFill>
              <a:srgbClr val="3FBFA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
          <p:cNvSpPr/>
          <p:nvPr/>
        </p:nvSpPr>
        <p:spPr>
          <a:xfrm>
            <a:off x="632205" y="3207736"/>
            <a:ext cx="1793534" cy="4334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350"/>
              <a:buFont typeface="Unbounded"/>
              <a:buNone/>
            </a:pPr>
            <a:r>
              <a:rPr b="1" i="0" lang="en-US" sz="1350" u="none" cap="none" strike="noStrike">
                <a:solidFill>
                  <a:srgbClr val="FFFFFF"/>
                </a:solidFill>
                <a:latin typeface="Unbounded"/>
                <a:ea typeface="Unbounded"/>
                <a:cs typeface="Unbounded"/>
                <a:sym typeface="Unbounded"/>
              </a:rPr>
              <a:t>Land Availability</a:t>
            </a:r>
            <a:endParaRPr b="0" i="0" sz="1350" u="none" cap="none" strike="noStrike">
              <a:solidFill>
                <a:schemeClr val="dk1"/>
              </a:solidFill>
              <a:latin typeface="Calibri"/>
              <a:ea typeface="Calibri"/>
              <a:cs typeface="Calibri"/>
              <a:sym typeface="Calibri"/>
            </a:endParaRPr>
          </a:p>
        </p:txBody>
      </p:sp>
      <p:sp>
        <p:nvSpPr>
          <p:cNvPr id="144" name="Google Shape;144;p11"/>
          <p:cNvSpPr/>
          <p:nvPr/>
        </p:nvSpPr>
        <p:spPr>
          <a:xfrm>
            <a:off x="632205" y="3779940"/>
            <a:ext cx="1793534" cy="6661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FFFFF"/>
              </a:buClr>
              <a:buSzPts val="1050"/>
              <a:buFont typeface="Open Sans"/>
              <a:buNone/>
            </a:pPr>
            <a:r>
              <a:rPr b="0" i="0" lang="en-US" sz="1050" u="none" cap="none" strike="noStrike">
                <a:solidFill>
                  <a:srgbClr val="FFFFFF"/>
                </a:solidFill>
                <a:latin typeface="Open Sans"/>
                <a:ea typeface="Open Sans"/>
                <a:cs typeface="Open Sans"/>
                <a:sym typeface="Open Sans"/>
              </a:rPr>
              <a:t>Limited space in established markets drives costs</a:t>
            </a:r>
            <a:endParaRPr b="0" i="0" sz="1050" u="none" cap="none" strike="noStrike">
              <a:solidFill>
                <a:schemeClr val="dk1"/>
              </a:solidFill>
              <a:latin typeface="Calibri"/>
              <a:ea typeface="Calibri"/>
              <a:cs typeface="Calibri"/>
              <a:sym typeface="Calibri"/>
            </a:endParaRPr>
          </a:p>
        </p:txBody>
      </p:sp>
      <p:sp>
        <p:nvSpPr>
          <p:cNvPr id="145" name="Google Shape;145;p11"/>
          <p:cNvSpPr/>
          <p:nvPr/>
        </p:nvSpPr>
        <p:spPr>
          <a:xfrm>
            <a:off x="485616" y="4731356"/>
            <a:ext cx="2086713" cy="1309458"/>
          </a:xfrm>
          <a:prstGeom prst="roundRect">
            <a:avLst>
              <a:gd fmla="val 4450" name="adj"/>
            </a:avLst>
          </a:prstGeom>
          <a:solidFill>
            <a:srgbClr val="192248"/>
          </a:solidFill>
          <a:ln cap="flat" cmpd="sng" w="9525">
            <a:solidFill>
              <a:srgbClr val="323B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a:off x="632205" y="4877945"/>
            <a:ext cx="1793534" cy="4334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350"/>
              <a:buFont typeface="Unbounded"/>
              <a:buNone/>
            </a:pPr>
            <a:r>
              <a:rPr b="1" i="0" lang="en-US" sz="1350" u="none" cap="none" strike="noStrike">
                <a:solidFill>
                  <a:srgbClr val="FFFFFF"/>
                </a:solidFill>
                <a:latin typeface="Unbounded"/>
                <a:ea typeface="Unbounded"/>
                <a:cs typeface="Unbounded"/>
                <a:sym typeface="Unbounded"/>
              </a:rPr>
              <a:t>Sustainability Pressure</a:t>
            </a:r>
            <a:endParaRPr b="0" i="0" sz="1350" u="none" cap="none" strike="noStrike">
              <a:solidFill>
                <a:schemeClr val="dk1"/>
              </a:solidFill>
              <a:latin typeface="Calibri"/>
              <a:ea typeface="Calibri"/>
              <a:cs typeface="Calibri"/>
              <a:sym typeface="Calibri"/>
            </a:endParaRPr>
          </a:p>
        </p:txBody>
      </p:sp>
      <p:sp>
        <p:nvSpPr>
          <p:cNvPr id="147" name="Google Shape;147;p11"/>
          <p:cNvSpPr/>
          <p:nvPr/>
        </p:nvSpPr>
        <p:spPr>
          <a:xfrm>
            <a:off x="632205" y="5450148"/>
            <a:ext cx="1793534" cy="44407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FFFFF"/>
              </a:buClr>
              <a:buSzPts val="1050"/>
              <a:buFont typeface="Open Sans"/>
              <a:buNone/>
            </a:pPr>
            <a:r>
              <a:rPr b="0" i="0" lang="en-US" sz="1050" u="none" cap="none" strike="noStrike">
                <a:solidFill>
                  <a:srgbClr val="FFFFFF"/>
                </a:solidFill>
                <a:latin typeface="Open Sans"/>
                <a:ea typeface="Open Sans"/>
                <a:cs typeface="Open Sans"/>
                <a:sym typeface="Open Sans"/>
              </a:rPr>
              <a:t>Environmental impact and energy efficiency concerns</a:t>
            </a:r>
            <a:endParaRPr b="0" i="0" sz="1050" u="none" cap="none" strike="noStrike">
              <a:solidFill>
                <a:schemeClr val="dk1"/>
              </a:solidFill>
              <a:latin typeface="Calibri"/>
              <a:ea typeface="Calibri"/>
              <a:cs typeface="Calibri"/>
              <a:sym typeface="Calibri"/>
            </a:endParaRPr>
          </a:p>
        </p:txBody>
      </p:sp>
      <p:sp>
        <p:nvSpPr>
          <p:cNvPr id="148" name="Google Shape;148;p11"/>
          <p:cNvSpPr/>
          <p:nvPr/>
        </p:nvSpPr>
        <p:spPr>
          <a:xfrm>
            <a:off x="485616" y="6179526"/>
            <a:ext cx="2086713" cy="1531496"/>
          </a:xfrm>
          <a:prstGeom prst="roundRect">
            <a:avLst>
              <a:gd fmla="val 3805" name="adj"/>
            </a:avLst>
          </a:prstGeom>
          <a:solidFill>
            <a:srgbClr val="26A688"/>
          </a:solidFill>
          <a:ln cap="flat" cmpd="sng" w="9525">
            <a:solidFill>
              <a:srgbClr val="3FBFA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
          <p:cNvSpPr/>
          <p:nvPr/>
        </p:nvSpPr>
        <p:spPr>
          <a:xfrm>
            <a:off x="632205" y="6326116"/>
            <a:ext cx="1793534" cy="4334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350"/>
              <a:buFont typeface="Unbounded"/>
              <a:buNone/>
            </a:pPr>
            <a:r>
              <a:rPr b="1" i="0" lang="en-US" sz="1350" u="none" cap="none" strike="noStrike">
                <a:solidFill>
                  <a:srgbClr val="FFFFFF"/>
                </a:solidFill>
                <a:latin typeface="Unbounded"/>
                <a:ea typeface="Unbounded"/>
                <a:cs typeface="Unbounded"/>
                <a:sym typeface="Unbounded"/>
              </a:rPr>
              <a:t>Cybersecurity Threats</a:t>
            </a:r>
            <a:endParaRPr b="0" i="0" sz="1350" u="none" cap="none" strike="noStrike">
              <a:solidFill>
                <a:schemeClr val="dk1"/>
              </a:solidFill>
              <a:latin typeface="Calibri"/>
              <a:ea typeface="Calibri"/>
              <a:cs typeface="Calibri"/>
              <a:sym typeface="Calibri"/>
            </a:endParaRPr>
          </a:p>
        </p:txBody>
      </p:sp>
      <p:sp>
        <p:nvSpPr>
          <p:cNvPr id="150" name="Google Shape;150;p11"/>
          <p:cNvSpPr/>
          <p:nvPr/>
        </p:nvSpPr>
        <p:spPr>
          <a:xfrm>
            <a:off x="632205" y="6898319"/>
            <a:ext cx="1793534" cy="6661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FFFFF"/>
              </a:buClr>
              <a:buSzPts val="1050"/>
              <a:buFont typeface="Open Sans"/>
              <a:buNone/>
            </a:pPr>
            <a:r>
              <a:rPr b="0" i="0" lang="en-US" sz="1050" u="none" cap="none" strike="noStrike">
                <a:solidFill>
                  <a:srgbClr val="FFFFFF"/>
                </a:solidFill>
                <a:latin typeface="Open Sans"/>
                <a:ea typeface="Open Sans"/>
                <a:cs typeface="Open Sans"/>
                <a:sym typeface="Open Sans"/>
              </a:rPr>
              <a:t>Protecting vast data quantities from evolving attacks</a:t>
            </a:r>
            <a:endParaRPr b="0" i="0" sz="1050" u="none" cap="none" strike="noStrike">
              <a:solidFill>
                <a:schemeClr val="dk1"/>
              </a:solidFill>
              <a:latin typeface="Calibri"/>
              <a:ea typeface="Calibri"/>
              <a:cs typeface="Calibri"/>
              <a:sym typeface="Calibri"/>
            </a:endParaRPr>
          </a:p>
        </p:txBody>
      </p:sp>
      <p:sp>
        <p:nvSpPr>
          <p:cNvPr id="151" name="Google Shape;151;p11"/>
          <p:cNvSpPr/>
          <p:nvPr/>
        </p:nvSpPr>
        <p:spPr>
          <a:xfrm>
            <a:off x="2914739" y="1595622"/>
            <a:ext cx="4165549" cy="4334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Navigating Complex Market Dynamics</a:t>
            </a:r>
            <a:endParaRPr b="0" i="0" sz="1350" u="none" cap="none" strike="noStrike">
              <a:solidFill>
                <a:schemeClr val="dk1"/>
              </a:solidFill>
              <a:latin typeface="Calibri"/>
              <a:ea typeface="Calibri"/>
              <a:cs typeface="Calibri"/>
              <a:sym typeface="Calibri"/>
            </a:endParaRPr>
          </a:p>
        </p:txBody>
      </p:sp>
      <p:sp>
        <p:nvSpPr>
          <p:cNvPr id="152" name="Google Shape;152;p11"/>
          <p:cNvSpPr/>
          <p:nvPr/>
        </p:nvSpPr>
        <p:spPr>
          <a:xfrm>
            <a:off x="2914739" y="2167825"/>
            <a:ext cx="4165549" cy="367747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The U.S. data center industry faces several interconnected challenges that impact development and operations. A lack of sufficient power supply represents a growing constraint in established markets, as expanding facilities require electrical capacity that often exceeds local utility availability. This challenge is compounded by limited land availability in prime locations, driving up real estate costs and forcing developers to explore secondary markets.</a:t>
            </a:r>
            <a:endParaRPr b="0" i="0" sz="1050" u="none" cap="none" strike="noStrike">
              <a:solidFill>
                <a:schemeClr val="dk1"/>
              </a:solidFill>
              <a:latin typeface="Calibri"/>
              <a:ea typeface="Calibri"/>
              <a:cs typeface="Calibri"/>
              <a:sym typeface="Calibri"/>
            </a:endParaRPr>
          </a:p>
          <a:p>
            <a:pPr indent="0" lvl="0" marL="0" marR="0" rtl="0" algn="l">
              <a:lnSpc>
                <a:spcPct val="133000"/>
              </a:lnSpc>
              <a:spcBef>
                <a:spcPts val="95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Environmental sustainability has emerged as a critical concern, with stakeholders increasingly focused on developing energy-efficient solutions, renewable energy integration, and carbon footprint reduction. Simultaneously, heightened cybersecurity threats require constant vigilance and investment in protecting facilities and the vast quantities of sensitive data they house. Organizations must balance these competing demands while maintaining operational excellence and cost effectiveness.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2"/>
          <p:cNvSpPr/>
          <p:nvPr/>
        </p:nvSpPr>
        <p:spPr>
          <a:xfrm>
            <a:off x="485616" y="381551"/>
            <a:ext cx="6590795" cy="86722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2700"/>
              <a:buFont typeface="Unbounded"/>
              <a:buNone/>
            </a:pPr>
            <a:r>
              <a:rPr b="1" i="0" lang="en-US" sz="2700" u="none" cap="none" strike="noStrike">
                <a:solidFill>
                  <a:srgbClr val="333F70"/>
                </a:solidFill>
                <a:latin typeface="Unbounded"/>
                <a:ea typeface="Unbounded"/>
                <a:cs typeface="Unbounded"/>
                <a:sym typeface="Unbounded"/>
              </a:rPr>
              <a:t>Instructional Strategy 1: Scenario-Based Learning</a:t>
            </a:r>
            <a:endParaRPr b="0" i="0" sz="2700" u="none" cap="none" strike="noStrike">
              <a:solidFill>
                <a:schemeClr val="dk1"/>
              </a:solidFill>
              <a:latin typeface="Calibri"/>
              <a:ea typeface="Calibri"/>
              <a:cs typeface="Calibri"/>
              <a:sym typeface="Calibri"/>
            </a:endParaRPr>
          </a:p>
        </p:txBody>
      </p:sp>
      <p:sp>
        <p:nvSpPr>
          <p:cNvPr id="159" name="Google Shape;159;p12"/>
          <p:cNvSpPr/>
          <p:nvPr/>
        </p:nvSpPr>
        <p:spPr>
          <a:xfrm>
            <a:off x="485616" y="1304227"/>
            <a:ext cx="6590795" cy="2167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Immersive Problem-Solving Through Real-World Contexts</a:t>
            </a:r>
            <a:endParaRPr b="0" i="0" sz="1350" u="none" cap="none" strike="noStrike">
              <a:solidFill>
                <a:schemeClr val="dk1"/>
              </a:solidFill>
              <a:latin typeface="Calibri"/>
              <a:ea typeface="Calibri"/>
              <a:cs typeface="Calibri"/>
              <a:sym typeface="Calibri"/>
            </a:endParaRPr>
          </a:p>
        </p:txBody>
      </p:sp>
      <p:sp>
        <p:nvSpPr>
          <p:cNvPr id="160" name="Google Shape;160;p12"/>
          <p:cNvSpPr/>
          <p:nvPr/>
        </p:nvSpPr>
        <p:spPr>
          <a:xfrm>
            <a:off x="485616" y="1729103"/>
            <a:ext cx="6590795" cy="6661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Scenario-based learning places learners in realistic, job-relevant situations that require them to apply technical knowledge and make critical decisions. This instructional strategy enhances transfer of learning by contextualizing abstract concepts within authentic workplace challenges.</a:t>
            </a:r>
            <a:endParaRPr b="0" i="0" sz="1050" u="none" cap="none" strike="noStrike">
              <a:solidFill>
                <a:schemeClr val="dk1"/>
              </a:solidFill>
              <a:latin typeface="Calibri"/>
              <a:ea typeface="Calibri"/>
              <a:cs typeface="Calibri"/>
              <a:sym typeface="Calibri"/>
            </a:endParaRPr>
          </a:p>
        </p:txBody>
      </p:sp>
      <p:pic>
        <p:nvPicPr>
          <p:cNvPr descr="preencoded.png" id="161" name="Google Shape;161;p12"/>
          <p:cNvPicPr preferRelativeResize="0"/>
          <p:nvPr/>
        </p:nvPicPr>
        <p:blipFill rotWithShape="1">
          <a:blip r:embed="rId3">
            <a:alphaModFix/>
          </a:blip>
          <a:srcRect b="0" l="0" r="0" t="0"/>
          <a:stretch/>
        </p:blipFill>
        <p:spPr>
          <a:xfrm>
            <a:off x="485616" y="2551284"/>
            <a:ext cx="2196932" cy="554972"/>
          </a:xfrm>
          <a:prstGeom prst="rect">
            <a:avLst/>
          </a:prstGeom>
          <a:noFill/>
          <a:ln>
            <a:noFill/>
          </a:ln>
        </p:spPr>
      </p:pic>
      <p:sp>
        <p:nvSpPr>
          <p:cNvPr id="162" name="Google Shape;162;p12"/>
          <p:cNvSpPr/>
          <p:nvPr/>
        </p:nvSpPr>
        <p:spPr>
          <a:xfrm>
            <a:off x="624328" y="3244968"/>
            <a:ext cx="1919508" cy="4334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Scenario Presentation</a:t>
            </a:r>
            <a:endParaRPr b="0" i="0" sz="1350" u="none" cap="none" strike="noStrike">
              <a:solidFill>
                <a:schemeClr val="dk1"/>
              </a:solidFill>
              <a:latin typeface="Calibri"/>
              <a:ea typeface="Calibri"/>
              <a:cs typeface="Calibri"/>
              <a:sym typeface="Calibri"/>
            </a:endParaRPr>
          </a:p>
        </p:txBody>
      </p:sp>
      <p:sp>
        <p:nvSpPr>
          <p:cNvPr id="163" name="Google Shape;163;p12"/>
          <p:cNvSpPr/>
          <p:nvPr/>
        </p:nvSpPr>
        <p:spPr>
          <a:xfrm>
            <a:off x="624328" y="3761662"/>
            <a:ext cx="1919508" cy="13322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Learners receive a detailed case describing a data center operational challenge, such as responding to a power failure or capacity planning for growth.</a:t>
            </a:r>
            <a:endParaRPr b="0" i="0" sz="1050" u="none" cap="none" strike="noStrike">
              <a:solidFill>
                <a:schemeClr val="dk1"/>
              </a:solidFill>
              <a:latin typeface="Calibri"/>
              <a:ea typeface="Calibri"/>
              <a:cs typeface="Calibri"/>
              <a:sym typeface="Calibri"/>
            </a:endParaRPr>
          </a:p>
        </p:txBody>
      </p:sp>
      <p:pic>
        <p:nvPicPr>
          <p:cNvPr descr="preencoded.png" id="164" name="Google Shape;164;p12"/>
          <p:cNvPicPr preferRelativeResize="0"/>
          <p:nvPr/>
        </p:nvPicPr>
        <p:blipFill rotWithShape="1">
          <a:blip r:embed="rId4">
            <a:alphaModFix/>
          </a:blip>
          <a:srcRect b="0" l="0" r="0" t="0"/>
          <a:stretch/>
        </p:blipFill>
        <p:spPr>
          <a:xfrm>
            <a:off x="2682547" y="2551284"/>
            <a:ext cx="2196932" cy="554972"/>
          </a:xfrm>
          <a:prstGeom prst="rect">
            <a:avLst/>
          </a:prstGeom>
          <a:noFill/>
          <a:ln>
            <a:noFill/>
          </a:ln>
        </p:spPr>
      </p:pic>
      <p:sp>
        <p:nvSpPr>
          <p:cNvPr id="165" name="Google Shape;165;p12"/>
          <p:cNvSpPr/>
          <p:nvPr/>
        </p:nvSpPr>
        <p:spPr>
          <a:xfrm>
            <a:off x="2821259" y="3244968"/>
            <a:ext cx="1919508" cy="4334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Analysis and Decision Making</a:t>
            </a:r>
            <a:endParaRPr b="0" i="0" sz="1350" u="none" cap="none" strike="noStrike">
              <a:solidFill>
                <a:schemeClr val="dk1"/>
              </a:solidFill>
              <a:latin typeface="Calibri"/>
              <a:ea typeface="Calibri"/>
              <a:cs typeface="Calibri"/>
              <a:sym typeface="Calibri"/>
            </a:endParaRPr>
          </a:p>
        </p:txBody>
      </p:sp>
      <p:sp>
        <p:nvSpPr>
          <p:cNvPr id="166" name="Google Shape;166;p12"/>
          <p:cNvSpPr/>
          <p:nvPr/>
        </p:nvSpPr>
        <p:spPr>
          <a:xfrm>
            <a:off x="2821259" y="3761662"/>
            <a:ext cx="1919508" cy="13322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Participants analyze the situation, consider multiple variables, and select appropriate responses from branching options that reflect real-world complexity.</a:t>
            </a:r>
            <a:endParaRPr b="0" i="0" sz="1050" u="none" cap="none" strike="noStrike">
              <a:solidFill>
                <a:schemeClr val="dk1"/>
              </a:solidFill>
              <a:latin typeface="Calibri"/>
              <a:ea typeface="Calibri"/>
              <a:cs typeface="Calibri"/>
              <a:sym typeface="Calibri"/>
            </a:endParaRPr>
          </a:p>
        </p:txBody>
      </p:sp>
      <p:pic>
        <p:nvPicPr>
          <p:cNvPr descr="preencoded.png" id="167" name="Google Shape;167;p12"/>
          <p:cNvPicPr preferRelativeResize="0"/>
          <p:nvPr/>
        </p:nvPicPr>
        <p:blipFill rotWithShape="1">
          <a:blip r:embed="rId5">
            <a:alphaModFix/>
          </a:blip>
          <a:srcRect b="0" l="0" r="0" t="0"/>
          <a:stretch/>
        </p:blipFill>
        <p:spPr>
          <a:xfrm>
            <a:off x="4879479" y="2551284"/>
            <a:ext cx="2196932" cy="554972"/>
          </a:xfrm>
          <a:prstGeom prst="rect">
            <a:avLst/>
          </a:prstGeom>
          <a:noFill/>
          <a:ln>
            <a:noFill/>
          </a:ln>
        </p:spPr>
      </p:pic>
      <p:sp>
        <p:nvSpPr>
          <p:cNvPr id="168" name="Google Shape;168;p12"/>
          <p:cNvSpPr/>
          <p:nvPr/>
        </p:nvSpPr>
        <p:spPr>
          <a:xfrm>
            <a:off x="5018191" y="3244968"/>
            <a:ext cx="1919508" cy="4334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Feedback and Reflection</a:t>
            </a:r>
            <a:endParaRPr b="0" i="0" sz="1350" u="none" cap="none" strike="noStrike">
              <a:solidFill>
                <a:schemeClr val="dk1"/>
              </a:solidFill>
              <a:latin typeface="Calibri"/>
              <a:ea typeface="Calibri"/>
              <a:cs typeface="Calibri"/>
              <a:sym typeface="Calibri"/>
            </a:endParaRPr>
          </a:p>
        </p:txBody>
      </p:sp>
      <p:sp>
        <p:nvSpPr>
          <p:cNvPr id="169" name="Google Shape;169;p12"/>
          <p:cNvSpPr/>
          <p:nvPr/>
        </p:nvSpPr>
        <p:spPr>
          <a:xfrm>
            <a:off x="5018191" y="3761662"/>
            <a:ext cx="1919508" cy="13322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The system provides immediate, specific feedback explaining the consequences of decisions and guiding learners toward optimal solutions and best practices.</a:t>
            </a:r>
            <a:endParaRPr b="0" i="0" sz="1050" u="none" cap="none" strike="noStrike">
              <a:solidFill>
                <a:schemeClr val="dk1"/>
              </a:solidFill>
              <a:latin typeface="Calibri"/>
              <a:ea typeface="Calibri"/>
              <a:cs typeface="Calibri"/>
              <a:sym typeface="Calibri"/>
            </a:endParaRPr>
          </a:p>
        </p:txBody>
      </p:sp>
      <p:sp>
        <p:nvSpPr>
          <p:cNvPr id="170" name="Google Shape;170;p12"/>
          <p:cNvSpPr/>
          <p:nvPr/>
        </p:nvSpPr>
        <p:spPr>
          <a:xfrm>
            <a:off x="485616" y="5388669"/>
            <a:ext cx="6590795" cy="998987"/>
          </a:xfrm>
          <a:prstGeom prst="roundRect">
            <a:avLst>
              <a:gd fmla="val 5834" name="adj"/>
            </a:avLst>
          </a:prstGeom>
          <a:solidFill>
            <a:srgbClr val="D6F5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1" name="Google Shape;171;p12"/>
          <p:cNvPicPr preferRelativeResize="0"/>
          <p:nvPr/>
        </p:nvPicPr>
        <p:blipFill rotWithShape="1">
          <a:blip r:embed="rId6">
            <a:alphaModFix/>
          </a:blip>
          <a:srcRect b="0" l="0" r="0" t="0"/>
          <a:stretch/>
        </p:blipFill>
        <p:spPr>
          <a:xfrm>
            <a:off x="624328" y="5586337"/>
            <a:ext cx="173421" cy="138712"/>
          </a:xfrm>
          <a:prstGeom prst="rect">
            <a:avLst/>
          </a:prstGeom>
          <a:noFill/>
          <a:ln>
            <a:noFill/>
          </a:ln>
        </p:spPr>
      </p:pic>
      <p:sp>
        <p:nvSpPr>
          <p:cNvPr id="172" name="Google Shape;172;p12"/>
          <p:cNvSpPr/>
          <p:nvPr/>
        </p:nvSpPr>
        <p:spPr>
          <a:xfrm>
            <a:off x="936461" y="5562029"/>
            <a:ext cx="6001238" cy="6661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00"/>
              </a:buClr>
              <a:buSzPts val="1050"/>
              <a:buFont typeface="Open Sans"/>
              <a:buNone/>
            </a:pPr>
            <a:r>
              <a:rPr b="1" i="0" lang="en-US" sz="1050" u="none" cap="none" strike="noStrike">
                <a:solidFill>
                  <a:srgbClr val="000000"/>
                </a:solidFill>
                <a:latin typeface="Open Sans"/>
                <a:ea typeface="Open Sans"/>
                <a:cs typeface="Open Sans"/>
                <a:sym typeface="Open Sans"/>
              </a:rPr>
              <a:t>Accessibility Consideration:</a:t>
            </a:r>
            <a:r>
              <a:rPr b="0" i="0" lang="en-US" sz="1050" u="none" cap="none" strike="noStrike">
                <a:solidFill>
                  <a:srgbClr val="000000"/>
                </a:solidFill>
                <a:latin typeface="Open Sans"/>
                <a:ea typeface="Open Sans"/>
                <a:cs typeface="Open Sans"/>
                <a:sym typeface="Open Sans"/>
              </a:rPr>
              <a:t> Scenarios include text descriptions, optional audio narration with transcripts, and keyboard-navigable decision trees to accommodate diverse learning needs and assistive technology users.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3"/>
          <p:cNvSpPr/>
          <p:nvPr/>
        </p:nvSpPr>
        <p:spPr>
          <a:xfrm>
            <a:off x="485616" y="381551"/>
            <a:ext cx="6590795" cy="86722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2700"/>
              <a:buFont typeface="Unbounded"/>
              <a:buNone/>
            </a:pPr>
            <a:r>
              <a:rPr b="1" i="0" lang="en-US" sz="2700" u="none" cap="none" strike="noStrike">
                <a:solidFill>
                  <a:srgbClr val="333F70"/>
                </a:solidFill>
                <a:latin typeface="Unbounded"/>
                <a:ea typeface="Unbounded"/>
                <a:cs typeface="Unbounded"/>
                <a:sym typeface="Unbounded"/>
              </a:rPr>
              <a:t>Instructional Strategy 2: Gamified Challenge System</a:t>
            </a:r>
            <a:endParaRPr b="0" i="0" sz="2700" u="none" cap="none" strike="noStrike">
              <a:solidFill>
                <a:schemeClr val="dk1"/>
              </a:solidFill>
              <a:latin typeface="Calibri"/>
              <a:ea typeface="Calibri"/>
              <a:cs typeface="Calibri"/>
              <a:sym typeface="Calibri"/>
            </a:endParaRPr>
          </a:p>
        </p:txBody>
      </p:sp>
      <p:sp>
        <p:nvSpPr>
          <p:cNvPr id="179" name="Google Shape;179;p13"/>
          <p:cNvSpPr/>
          <p:nvPr/>
        </p:nvSpPr>
        <p:spPr>
          <a:xfrm>
            <a:off x="485616" y="1526266"/>
            <a:ext cx="6590795" cy="6661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Gamification incorporates game design elements into learning experiences to increase motivation, engagement, and knowledge retention. This strategy leverages achievement systems, progress tracking, and competitive elements to sustain learner interest throughout self-paced modules.</a:t>
            </a:r>
            <a:endParaRPr b="0" i="0" sz="1050" u="none" cap="none" strike="noStrike">
              <a:solidFill>
                <a:schemeClr val="dk1"/>
              </a:solidFill>
              <a:latin typeface="Calibri"/>
              <a:ea typeface="Calibri"/>
              <a:cs typeface="Calibri"/>
              <a:sym typeface="Calibri"/>
            </a:endParaRPr>
          </a:p>
        </p:txBody>
      </p:sp>
      <p:sp>
        <p:nvSpPr>
          <p:cNvPr id="180" name="Google Shape;180;p13"/>
          <p:cNvSpPr/>
          <p:nvPr/>
        </p:nvSpPr>
        <p:spPr>
          <a:xfrm>
            <a:off x="485616" y="2504513"/>
            <a:ext cx="2497557" cy="1387492"/>
          </a:xfrm>
          <a:prstGeom prst="roundRect">
            <a:avLst>
              <a:gd fmla="val 4200" name="adj"/>
            </a:avLst>
          </a:prstGeom>
          <a:solidFill>
            <a:srgbClr val="DFDF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1" name="Google Shape;181;p13"/>
          <p:cNvPicPr preferRelativeResize="0"/>
          <p:nvPr/>
        </p:nvPicPr>
        <p:blipFill rotWithShape="1">
          <a:blip r:embed="rId3">
            <a:alphaModFix/>
          </a:blip>
          <a:srcRect b="0" l="0" r="0" t="0"/>
          <a:stretch/>
        </p:blipFill>
        <p:spPr>
          <a:xfrm>
            <a:off x="1675254" y="3086194"/>
            <a:ext cx="118158" cy="118158"/>
          </a:xfrm>
          <a:prstGeom prst="rect">
            <a:avLst/>
          </a:prstGeom>
          <a:noFill/>
          <a:ln>
            <a:noFill/>
          </a:ln>
        </p:spPr>
      </p:pic>
      <p:sp>
        <p:nvSpPr>
          <p:cNvPr id="182" name="Google Shape;182;p13"/>
          <p:cNvSpPr/>
          <p:nvPr/>
        </p:nvSpPr>
        <p:spPr>
          <a:xfrm>
            <a:off x="1016894" y="3256538"/>
            <a:ext cx="1434938" cy="88188"/>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AEAEB2"/>
              </a:buClr>
              <a:buSzPts val="400"/>
              <a:buFont typeface="Open Sans"/>
              <a:buNone/>
            </a:pPr>
            <a:r>
              <a:rPr b="0" i="0" lang="en-US" sz="400" u="none" cap="none" strike="noStrike">
                <a:solidFill>
                  <a:srgbClr val="AEAEB2"/>
                </a:solidFill>
                <a:latin typeface="Open Sans"/>
                <a:ea typeface="Open Sans"/>
                <a:cs typeface="Open Sans"/>
                <a:sym typeface="Open Sans"/>
              </a:rPr>
              <a:t>There was an error generating this image</a:t>
            </a:r>
            <a:endParaRPr b="0" i="0" sz="400" u="none" cap="none" strike="noStrike">
              <a:solidFill>
                <a:schemeClr val="dk1"/>
              </a:solidFill>
              <a:latin typeface="Calibri"/>
              <a:ea typeface="Calibri"/>
              <a:cs typeface="Calibri"/>
              <a:sym typeface="Calibri"/>
            </a:endParaRPr>
          </a:p>
        </p:txBody>
      </p:sp>
      <p:sp>
        <p:nvSpPr>
          <p:cNvPr id="183" name="Google Shape;183;p13"/>
          <p:cNvSpPr/>
          <p:nvPr/>
        </p:nvSpPr>
        <p:spPr>
          <a:xfrm>
            <a:off x="3954157" y="2487159"/>
            <a:ext cx="3126131" cy="2167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Implementation Framework</a:t>
            </a:r>
            <a:endParaRPr b="0" i="0" sz="1350" u="none" cap="none" strike="noStrike">
              <a:solidFill>
                <a:schemeClr val="dk1"/>
              </a:solidFill>
              <a:latin typeface="Calibri"/>
              <a:ea typeface="Calibri"/>
              <a:cs typeface="Calibri"/>
              <a:sym typeface="Calibri"/>
            </a:endParaRPr>
          </a:p>
        </p:txBody>
      </p:sp>
      <p:sp>
        <p:nvSpPr>
          <p:cNvPr id="184" name="Google Shape;184;p13"/>
          <p:cNvSpPr/>
          <p:nvPr/>
        </p:nvSpPr>
        <p:spPr>
          <a:xfrm>
            <a:off x="3954157" y="2842617"/>
            <a:ext cx="3126131" cy="323339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Learners progress through a series of increasingly complex challenges that test their understanding of data center concepts. Each module presents missions such as "Optimize a colocation facility's cooling efficiency" or "Design a security protocol for a hyperscale center."</a:t>
            </a:r>
            <a:endParaRPr b="0" i="0" sz="1050" u="none" cap="none" strike="noStrike">
              <a:solidFill>
                <a:schemeClr val="dk1"/>
              </a:solidFill>
              <a:latin typeface="Calibri"/>
              <a:ea typeface="Calibri"/>
              <a:cs typeface="Calibri"/>
              <a:sym typeface="Calibri"/>
            </a:endParaRPr>
          </a:p>
          <a:p>
            <a:pPr indent="0" lvl="0" marL="0" marR="0" rtl="0" algn="l">
              <a:lnSpc>
                <a:spcPct val="133000"/>
              </a:lnSpc>
              <a:spcBef>
                <a:spcPts val="95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The system awards points, badges, and certifications for completing challenges, mastering concepts, and demonstrating advanced competencies. Leaderboards (optional, privacy-respecting) provide social motivation, while personal progress dashboards help learners track their journey and identify knowledge gaps.</a:t>
            </a:r>
            <a:endParaRPr b="0" i="0" sz="1050" u="none" cap="none" strike="noStrike">
              <a:solidFill>
                <a:schemeClr val="dk1"/>
              </a:solidFill>
              <a:latin typeface="Calibri"/>
              <a:ea typeface="Calibri"/>
              <a:cs typeface="Calibri"/>
              <a:sym typeface="Calibri"/>
            </a:endParaRPr>
          </a:p>
        </p:txBody>
      </p:sp>
      <p:sp>
        <p:nvSpPr>
          <p:cNvPr id="185" name="Google Shape;185;p13"/>
          <p:cNvSpPr/>
          <p:nvPr/>
        </p:nvSpPr>
        <p:spPr>
          <a:xfrm>
            <a:off x="672883" y="7258762"/>
            <a:ext cx="1706639" cy="346904"/>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333F70"/>
              </a:buClr>
              <a:buSzPts val="2700"/>
              <a:buFont typeface="Unbounded"/>
              <a:buNone/>
            </a:pPr>
            <a:r>
              <a:rPr b="1" i="0" lang="en-US" sz="2700" u="none" cap="none" strike="noStrike">
                <a:solidFill>
                  <a:srgbClr val="333F70"/>
                </a:solidFill>
                <a:latin typeface="Unbounded"/>
                <a:ea typeface="Unbounded"/>
                <a:cs typeface="Unbounded"/>
                <a:sym typeface="Unbounded"/>
              </a:rPr>
              <a:t>75%</a:t>
            </a:r>
            <a:endParaRPr b="0" i="0" sz="2700" u="none" cap="none" strike="noStrike">
              <a:solidFill>
                <a:schemeClr val="dk1"/>
              </a:solidFill>
              <a:latin typeface="Calibri"/>
              <a:ea typeface="Calibri"/>
              <a:cs typeface="Calibri"/>
              <a:sym typeface="Calibri"/>
            </a:endParaRPr>
          </a:p>
        </p:txBody>
      </p:sp>
      <p:pic>
        <p:nvPicPr>
          <p:cNvPr descr="preencoded.png" id="186" name="Google Shape;186;p13"/>
          <p:cNvPicPr preferRelativeResize="0"/>
          <p:nvPr/>
        </p:nvPicPr>
        <p:blipFill rotWithShape="1">
          <a:blip r:embed="rId4">
            <a:alphaModFix/>
          </a:blip>
          <a:srcRect b="0" l="0" r="0" t="0"/>
          <a:stretch/>
        </p:blipFill>
        <p:spPr>
          <a:xfrm>
            <a:off x="485616" y="6391595"/>
            <a:ext cx="2081297" cy="2081299"/>
          </a:xfrm>
          <a:prstGeom prst="rect">
            <a:avLst/>
          </a:prstGeom>
          <a:noFill/>
          <a:ln>
            <a:noFill/>
          </a:ln>
        </p:spPr>
      </p:pic>
      <p:sp>
        <p:nvSpPr>
          <p:cNvPr id="187" name="Google Shape;187;p13"/>
          <p:cNvSpPr/>
          <p:nvPr/>
        </p:nvSpPr>
        <p:spPr>
          <a:xfrm>
            <a:off x="485616" y="8646253"/>
            <a:ext cx="2081297" cy="433491"/>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Engagement Increase</a:t>
            </a:r>
            <a:endParaRPr b="0" i="0" sz="1350" u="none" cap="none" strike="noStrike">
              <a:solidFill>
                <a:schemeClr val="dk1"/>
              </a:solidFill>
              <a:latin typeface="Calibri"/>
              <a:ea typeface="Calibri"/>
              <a:cs typeface="Calibri"/>
              <a:sym typeface="Calibri"/>
            </a:endParaRPr>
          </a:p>
        </p:txBody>
      </p:sp>
      <p:sp>
        <p:nvSpPr>
          <p:cNvPr id="188" name="Google Shape;188;p13"/>
          <p:cNvSpPr/>
          <p:nvPr/>
        </p:nvSpPr>
        <p:spPr>
          <a:xfrm>
            <a:off x="485616" y="9162947"/>
            <a:ext cx="2081297" cy="666114"/>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Studies show gamification can boost learner engagement significantly</a:t>
            </a:r>
            <a:endParaRPr b="0" i="0" sz="1050" u="none" cap="none" strike="noStrike">
              <a:solidFill>
                <a:schemeClr val="dk1"/>
              </a:solidFill>
              <a:latin typeface="Calibri"/>
              <a:ea typeface="Calibri"/>
              <a:cs typeface="Calibri"/>
              <a:sym typeface="Calibri"/>
            </a:endParaRPr>
          </a:p>
        </p:txBody>
      </p:sp>
      <p:sp>
        <p:nvSpPr>
          <p:cNvPr id="189" name="Google Shape;189;p13"/>
          <p:cNvSpPr/>
          <p:nvPr/>
        </p:nvSpPr>
        <p:spPr>
          <a:xfrm>
            <a:off x="2927601" y="7258762"/>
            <a:ext cx="1706639" cy="346904"/>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333F70"/>
              </a:buClr>
              <a:buSzPts val="2700"/>
              <a:buFont typeface="Unbounded"/>
              <a:buNone/>
            </a:pPr>
            <a:r>
              <a:rPr b="1" i="0" lang="en-US" sz="2700" u="none" cap="none" strike="noStrike">
                <a:solidFill>
                  <a:srgbClr val="333F70"/>
                </a:solidFill>
                <a:latin typeface="Unbounded"/>
                <a:ea typeface="Unbounded"/>
                <a:cs typeface="Unbounded"/>
                <a:sym typeface="Unbounded"/>
              </a:rPr>
              <a:t>60%</a:t>
            </a:r>
            <a:endParaRPr b="0" i="0" sz="2700" u="none" cap="none" strike="noStrike">
              <a:solidFill>
                <a:schemeClr val="dk1"/>
              </a:solidFill>
              <a:latin typeface="Calibri"/>
              <a:ea typeface="Calibri"/>
              <a:cs typeface="Calibri"/>
              <a:sym typeface="Calibri"/>
            </a:endParaRPr>
          </a:p>
        </p:txBody>
      </p:sp>
      <p:pic>
        <p:nvPicPr>
          <p:cNvPr descr="preencoded.png" id="190" name="Google Shape;190;p13"/>
          <p:cNvPicPr preferRelativeResize="0"/>
          <p:nvPr/>
        </p:nvPicPr>
        <p:blipFill rotWithShape="1">
          <a:blip r:embed="rId5">
            <a:alphaModFix/>
          </a:blip>
          <a:srcRect b="0" l="0" r="0" t="0"/>
          <a:stretch/>
        </p:blipFill>
        <p:spPr>
          <a:xfrm>
            <a:off x="2740334" y="6391595"/>
            <a:ext cx="2081297" cy="2081299"/>
          </a:xfrm>
          <a:prstGeom prst="rect">
            <a:avLst/>
          </a:prstGeom>
          <a:noFill/>
          <a:ln>
            <a:noFill/>
          </a:ln>
        </p:spPr>
      </p:pic>
      <p:sp>
        <p:nvSpPr>
          <p:cNvPr id="191" name="Google Shape;191;p13"/>
          <p:cNvSpPr/>
          <p:nvPr/>
        </p:nvSpPr>
        <p:spPr>
          <a:xfrm>
            <a:off x="2740334" y="8646253"/>
            <a:ext cx="2081297" cy="433491"/>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Retention Improvement</a:t>
            </a:r>
            <a:endParaRPr b="0" i="0" sz="1350" u="none" cap="none" strike="noStrike">
              <a:solidFill>
                <a:schemeClr val="dk1"/>
              </a:solidFill>
              <a:latin typeface="Calibri"/>
              <a:ea typeface="Calibri"/>
              <a:cs typeface="Calibri"/>
              <a:sym typeface="Calibri"/>
            </a:endParaRPr>
          </a:p>
        </p:txBody>
      </p:sp>
      <p:sp>
        <p:nvSpPr>
          <p:cNvPr id="192" name="Google Shape;192;p13"/>
          <p:cNvSpPr/>
          <p:nvPr/>
        </p:nvSpPr>
        <p:spPr>
          <a:xfrm>
            <a:off x="2740334" y="9162947"/>
            <a:ext cx="2081297" cy="888152"/>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Game elements improve information retention compared to traditional methods</a:t>
            </a:r>
            <a:endParaRPr b="0" i="0" sz="1050" u="none" cap="none" strike="noStrike">
              <a:solidFill>
                <a:schemeClr val="dk1"/>
              </a:solidFill>
              <a:latin typeface="Calibri"/>
              <a:ea typeface="Calibri"/>
              <a:cs typeface="Calibri"/>
              <a:sym typeface="Calibri"/>
            </a:endParaRPr>
          </a:p>
        </p:txBody>
      </p:sp>
      <p:sp>
        <p:nvSpPr>
          <p:cNvPr id="193" name="Google Shape;193;p13"/>
          <p:cNvSpPr/>
          <p:nvPr/>
        </p:nvSpPr>
        <p:spPr>
          <a:xfrm>
            <a:off x="5182320" y="7258762"/>
            <a:ext cx="1706639" cy="346904"/>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333F70"/>
              </a:buClr>
              <a:buSzPts val="2700"/>
              <a:buFont typeface="Unbounded"/>
              <a:buNone/>
            </a:pPr>
            <a:r>
              <a:rPr b="1" i="0" lang="en-US" sz="2700" u="none" cap="none" strike="noStrike">
                <a:solidFill>
                  <a:srgbClr val="333F70"/>
                </a:solidFill>
                <a:latin typeface="Unbounded"/>
                <a:ea typeface="Unbounded"/>
                <a:cs typeface="Unbounded"/>
                <a:sym typeface="Unbounded"/>
              </a:rPr>
              <a:t>50%</a:t>
            </a:r>
            <a:endParaRPr b="0" i="0" sz="2700" u="none" cap="none" strike="noStrike">
              <a:solidFill>
                <a:schemeClr val="dk1"/>
              </a:solidFill>
              <a:latin typeface="Calibri"/>
              <a:ea typeface="Calibri"/>
              <a:cs typeface="Calibri"/>
              <a:sym typeface="Calibri"/>
            </a:endParaRPr>
          </a:p>
        </p:txBody>
      </p:sp>
      <p:pic>
        <p:nvPicPr>
          <p:cNvPr descr="preencoded.png" id="194" name="Google Shape;194;p13"/>
          <p:cNvPicPr preferRelativeResize="0"/>
          <p:nvPr/>
        </p:nvPicPr>
        <p:blipFill rotWithShape="1">
          <a:blip r:embed="rId6">
            <a:alphaModFix/>
          </a:blip>
          <a:srcRect b="0" l="0" r="0" t="0"/>
          <a:stretch/>
        </p:blipFill>
        <p:spPr>
          <a:xfrm>
            <a:off x="4995052" y="6391595"/>
            <a:ext cx="2081297" cy="2081299"/>
          </a:xfrm>
          <a:prstGeom prst="rect">
            <a:avLst/>
          </a:prstGeom>
          <a:noFill/>
          <a:ln>
            <a:noFill/>
          </a:ln>
        </p:spPr>
      </p:pic>
      <p:sp>
        <p:nvSpPr>
          <p:cNvPr id="195" name="Google Shape;195;p13"/>
          <p:cNvSpPr/>
          <p:nvPr/>
        </p:nvSpPr>
        <p:spPr>
          <a:xfrm>
            <a:off x="4995052" y="8646253"/>
            <a:ext cx="2081359" cy="433491"/>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Completion Rate Gain</a:t>
            </a:r>
            <a:endParaRPr b="0" i="0" sz="1350" u="none" cap="none" strike="noStrike">
              <a:solidFill>
                <a:schemeClr val="dk1"/>
              </a:solidFill>
              <a:latin typeface="Calibri"/>
              <a:ea typeface="Calibri"/>
              <a:cs typeface="Calibri"/>
              <a:sym typeface="Calibri"/>
            </a:endParaRPr>
          </a:p>
        </p:txBody>
      </p:sp>
      <p:sp>
        <p:nvSpPr>
          <p:cNvPr id="196" name="Google Shape;196;p13"/>
          <p:cNvSpPr/>
          <p:nvPr/>
        </p:nvSpPr>
        <p:spPr>
          <a:xfrm>
            <a:off x="4995052" y="9162947"/>
            <a:ext cx="2081359" cy="444076"/>
          </a:xfrm>
          <a:prstGeom prst="rect">
            <a:avLst/>
          </a:prstGeom>
          <a:noFill/>
          <a:ln>
            <a:noFill/>
          </a:ln>
        </p:spPr>
        <p:txBody>
          <a:bodyPr anchorCtr="0" anchor="t" bIns="0" lIns="0" spcFirstLastPara="1" rIns="0" wrap="square" tIns="0">
            <a:noAutofit/>
          </a:bodyPr>
          <a:lstStyle/>
          <a:p>
            <a:pPr indent="0" lvl="0" marL="0" marR="0" rtl="0" algn="ctr">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Gamified courses demonstrate higher completion rates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4"/>
          <p:cNvSpPr/>
          <p:nvPr/>
        </p:nvSpPr>
        <p:spPr>
          <a:xfrm>
            <a:off x="485616" y="381551"/>
            <a:ext cx="6590795" cy="130084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2700"/>
              <a:buFont typeface="Unbounded"/>
              <a:buNone/>
            </a:pPr>
            <a:r>
              <a:rPr b="1" i="0" lang="en-US" sz="2700" u="none" cap="none" strike="noStrike">
                <a:solidFill>
                  <a:srgbClr val="333F70"/>
                </a:solidFill>
                <a:latin typeface="Unbounded"/>
                <a:ea typeface="Unbounded"/>
                <a:cs typeface="Unbounded"/>
                <a:sym typeface="Unbounded"/>
              </a:rPr>
              <a:t>Ensuring Accessibility, Inclusivity, and Learner Engagement</a:t>
            </a:r>
            <a:endParaRPr b="0" i="0" sz="2700" u="none" cap="none" strike="noStrike">
              <a:solidFill>
                <a:schemeClr val="dk1"/>
              </a:solidFill>
              <a:latin typeface="Calibri"/>
              <a:ea typeface="Calibri"/>
              <a:cs typeface="Calibri"/>
              <a:sym typeface="Calibri"/>
            </a:endParaRPr>
          </a:p>
        </p:txBody>
      </p:sp>
      <p:sp>
        <p:nvSpPr>
          <p:cNvPr id="203" name="Google Shape;203;p14"/>
          <p:cNvSpPr/>
          <p:nvPr/>
        </p:nvSpPr>
        <p:spPr>
          <a:xfrm>
            <a:off x="485616" y="1959880"/>
            <a:ext cx="6590795" cy="88815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Effective self-paced technical training must accommodate diverse learner needs, abilities, and preferences. This design document incorporates universal design for learning (UDL) principles and Web Content Accessibility Guidelines (WCAG) 2.1 Level AA standards to create an inclusive learning environment.</a:t>
            </a:r>
            <a:endParaRPr b="0" i="0" sz="1050" u="none" cap="none" strike="noStrike">
              <a:solidFill>
                <a:schemeClr val="dk1"/>
              </a:solidFill>
              <a:latin typeface="Calibri"/>
              <a:ea typeface="Calibri"/>
              <a:cs typeface="Calibri"/>
              <a:sym typeface="Calibri"/>
            </a:endParaRPr>
          </a:p>
        </p:txBody>
      </p:sp>
      <p:pic>
        <p:nvPicPr>
          <p:cNvPr descr="preencoded.png" id="204" name="Google Shape;204;p14"/>
          <p:cNvPicPr preferRelativeResize="0"/>
          <p:nvPr/>
        </p:nvPicPr>
        <p:blipFill rotWithShape="1">
          <a:blip r:embed="rId3">
            <a:alphaModFix/>
          </a:blip>
          <a:srcRect b="0" l="0" r="0" t="0"/>
          <a:stretch/>
        </p:blipFill>
        <p:spPr>
          <a:xfrm>
            <a:off x="485616" y="3004099"/>
            <a:ext cx="3226011" cy="2601932"/>
          </a:xfrm>
          <a:prstGeom prst="rect">
            <a:avLst/>
          </a:prstGeom>
          <a:noFill/>
          <a:ln>
            <a:noFill/>
          </a:ln>
        </p:spPr>
      </p:pic>
      <p:sp>
        <p:nvSpPr>
          <p:cNvPr id="205" name="Google Shape;205;p14"/>
          <p:cNvSpPr/>
          <p:nvPr/>
        </p:nvSpPr>
        <p:spPr>
          <a:xfrm>
            <a:off x="703099" y="3158565"/>
            <a:ext cx="2854061" cy="4334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Multiple Means of Representation</a:t>
            </a:r>
            <a:endParaRPr b="0" i="0" sz="1350" u="none" cap="none" strike="noStrike">
              <a:solidFill>
                <a:schemeClr val="dk1"/>
              </a:solidFill>
              <a:latin typeface="Calibri"/>
              <a:ea typeface="Calibri"/>
              <a:cs typeface="Calibri"/>
              <a:sym typeface="Calibri"/>
            </a:endParaRPr>
          </a:p>
        </p:txBody>
      </p:sp>
      <p:sp>
        <p:nvSpPr>
          <p:cNvPr id="206" name="Google Shape;206;p14"/>
          <p:cNvSpPr/>
          <p:nvPr/>
        </p:nvSpPr>
        <p:spPr>
          <a:xfrm>
            <a:off x="703099" y="3675259"/>
            <a:ext cx="2854061" cy="13322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Content is delivered through text, diagrams, video demonstrations with captions, and audio descriptions. Learners can adjust text size, contrast ratios, and access content in formats that match their preferences and needs.</a:t>
            </a:r>
            <a:endParaRPr b="0" i="0" sz="1050" u="none" cap="none" strike="noStrike">
              <a:solidFill>
                <a:schemeClr val="dk1"/>
              </a:solidFill>
              <a:latin typeface="Calibri"/>
              <a:ea typeface="Calibri"/>
              <a:cs typeface="Calibri"/>
              <a:sym typeface="Calibri"/>
            </a:endParaRPr>
          </a:p>
        </p:txBody>
      </p:sp>
      <p:pic>
        <p:nvPicPr>
          <p:cNvPr descr="preencoded.png" id="207" name="Google Shape;207;p14"/>
          <p:cNvPicPr preferRelativeResize="0"/>
          <p:nvPr/>
        </p:nvPicPr>
        <p:blipFill rotWithShape="1">
          <a:blip r:embed="rId3">
            <a:alphaModFix/>
          </a:blip>
          <a:srcRect b="0" l="0" r="0" t="0"/>
          <a:stretch/>
        </p:blipFill>
        <p:spPr>
          <a:xfrm>
            <a:off x="3850339" y="3004099"/>
            <a:ext cx="3226072" cy="2601932"/>
          </a:xfrm>
          <a:prstGeom prst="rect">
            <a:avLst/>
          </a:prstGeom>
          <a:noFill/>
          <a:ln>
            <a:noFill/>
          </a:ln>
        </p:spPr>
      </p:pic>
      <p:sp>
        <p:nvSpPr>
          <p:cNvPr id="208" name="Google Shape;208;p14"/>
          <p:cNvSpPr/>
          <p:nvPr/>
        </p:nvSpPr>
        <p:spPr>
          <a:xfrm>
            <a:off x="4067822" y="3158565"/>
            <a:ext cx="2854122" cy="4334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Interactive Elements and Navigation</a:t>
            </a:r>
            <a:endParaRPr b="0" i="0" sz="1350" u="none" cap="none" strike="noStrike">
              <a:solidFill>
                <a:schemeClr val="dk1"/>
              </a:solidFill>
              <a:latin typeface="Calibri"/>
              <a:ea typeface="Calibri"/>
              <a:cs typeface="Calibri"/>
              <a:sym typeface="Calibri"/>
            </a:endParaRPr>
          </a:p>
        </p:txBody>
      </p:sp>
      <p:sp>
        <p:nvSpPr>
          <p:cNvPr id="209" name="Google Shape;209;p14"/>
          <p:cNvSpPr/>
          <p:nvPr/>
        </p:nvSpPr>
        <p:spPr>
          <a:xfrm>
            <a:off x="4067822" y="3675259"/>
            <a:ext cx="2854122" cy="177630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All interactive components are keyboard-accessible and compatible with screen readers. Clear navigation structures, progress indicators, and skip-navigation options allow learners to move efficiently through content. Interactive simulations include alternative text-based completion paths.</a:t>
            </a:r>
            <a:endParaRPr b="0" i="0" sz="1050" u="none" cap="none" strike="noStrike">
              <a:solidFill>
                <a:schemeClr val="dk1"/>
              </a:solidFill>
              <a:latin typeface="Calibri"/>
              <a:ea typeface="Calibri"/>
              <a:cs typeface="Calibri"/>
              <a:sym typeface="Calibri"/>
            </a:endParaRPr>
          </a:p>
        </p:txBody>
      </p:sp>
      <p:pic>
        <p:nvPicPr>
          <p:cNvPr descr="preencoded.png" id="210" name="Google Shape;210;p14"/>
          <p:cNvPicPr preferRelativeResize="0"/>
          <p:nvPr/>
        </p:nvPicPr>
        <p:blipFill rotWithShape="1">
          <a:blip r:embed="rId4">
            <a:alphaModFix/>
          </a:blip>
          <a:srcRect b="0" l="0" r="0" t="0"/>
          <a:stretch/>
        </p:blipFill>
        <p:spPr>
          <a:xfrm>
            <a:off x="485616" y="5744743"/>
            <a:ext cx="3226011" cy="2379894"/>
          </a:xfrm>
          <a:prstGeom prst="rect">
            <a:avLst/>
          </a:prstGeom>
          <a:noFill/>
          <a:ln>
            <a:noFill/>
          </a:ln>
        </p:spPr>
      </p:pic>
      <p:sp>
        <p:nvSpPr>
          <p:cNvPr id="211" name="Google Shape;211;p14"/>
          <p:cNvSpPr/>
          <p:nvPr/>
        </p:nvSpPr>
        <p:spPr>
          <a:xfrm>
            <a:off x="703099" y="5899209"/>
            <a:ext cx="2854061" cy="4334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Flexible Pacing and Assessment</a:t>
            </a:r>
            <a:endParaRPr b="0" i="0" sz="1350" u="none" cap="none" strike="noStrike">
              <a:solidFill>
                <a:schemeClr val="dk1"/>
              </a:solidFill>
              <a:latin typeface="Calibri"/>
              <a:ea typeface="Calibri"/>
              <a:cs typeface="Calibri"/>
              <a:sym typeface="Calibri"/>
            </a:endParaRPr>
          </a:p>
        </p:txBody>
      </p:sp>
      <p:sp>
        <p:nvSpPr>
          <p:cNvPr id="212" name="Google Shape;212;p14"/>
          <p:cNvSpPr/>
          <p:nvPr/>
        </p:nvSpPr>
        <p:spPr>
          <a:xfrm>
            <a:off x="703099" y="6415903"/>
            <a:ext cx="2854061" cy="155426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Learners control their pace without time pressure, with the ability to save progress and return at convenient intervals. Multiple assessment formats—including scenario responses, knowledge checks, and practical simulations—accommodate different demonstration preferences.</a:t>
            </a:r>
            <a:endParaRPr b="0" i="0" sz="1050" u="none" cap="none" strike="noStrike">
              <a:solidFill>
                <a:schemeClr val="dk1"/>
              </a:solidFill>
              <a:latin typeface="Calibri"/>
              <a:ea typeface="Calibri"/>
              <a:cs typeface="Calibri"/>
              <a:sym typeface="Calibri"/>
            </a:endParaRPr>
          </a:p>
        </p:txBody>
      </p:sp>
      <p:pic>
        <p:nvPicPr>
          <p:cNvPr descr="preencoded.png" id="213" name="Google Shape;213;p14"/>
          <p:cNvPicPr preferRelativeResize="0"/>
          <p:nvPr/>
        </p:nvPicPr>
        <p:blipFill rotWithShape="1">
          <a:blip r:embed="rId4">
            <a:alphaModFix/>
          </a:blip>
          <a:srcRect b="0" l="0" r="0" t="0"/>
          <a:stretch/>
        </p:blipFill>
        <p:spPr>
          <a:xfrm>
            <a:off x="3850339" y="5744743"/>
            <a:ext cx="3226072" cy="2379894"/>
          </a:xfrm>
          <a:prstGeom prst="rect">
            <a:avLst/>
          </a:prstGeom>
          <a:noFill/>
          <a:ln>
            <a:noFill/>
          </a:ln>
        </p:spPr>
      </p:pic>
      <p:sp>
        <p:nvSpPr>
          <p:cNvPr id="214" name="Google Shape;214;p14"/>
          <p:cNvSpPr/>
          <p:nvPr/>
        </p:nvSpPr>
        <p:spPr>
          <a:xfrm>
            <a:off x="4067822" y="5899209"/>
            <a:ext cx="2854122" cy="4334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33F70"/>
              </a:buClr>
              <a:buSzPts val="1350"/>
              <a:buFont typeface="Unbounded"/>
              <a:buNone/>
            </a:pPr>
            <a:r>
              <a:rPr b="1" i="0" lang="en-US" sz="1350" u="none" cap="none" strike="noStrike">
                <a:solidFill>
                  <a:srgbClr val="333F70"/>
                </a:solidFill>
                <a:latin typeface="Unbounded"/>
                <a:ea typeface="Unbounded"/>
                <a:cs typeface="Unbounded"/>
                <a:sym typeface="Unbounded"/>
              </a:rPr>
              <a:t>Inclusive Language and Examples</a:t>
            </a:r>
            <a:endParaRPr b="0" i="0" sz="1350" u="none" cap="none" strike="noStrike">
              <a:solidFill>
                <a:schemeClr val="dk1"/>
              </a:solidFill>
              <a:latin typeface="Calibri"/>
              <a:ea typeface="Calibri"/>
              <a:cs typeface="Calibri"/>
              <a:sym typeface="Calibri"/>
            </a:endParaRPr>
          </a:p>
        </p:txBody>
      </p:sp>
      <p:sp>
        <p:nvSpPr>
          <p:cNvPr id="215" name="Google Shape;215;p14"/>
          <p:cNvSpPr/>
          <p:nvPr/>
        </p:nvSpPr>
        <p:spPr>
          <a:xfrm>
            <a:off x="4067822" y="6415903"/>
            <a:ext cx="2854122" cy="155426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Course content employs clear, jargon-free language with definitions for technical terms. Examples and scenarios feature diverse professionals in various roles, avoiding stereotypes and representing the broad spectrum of individuals working in data center operations.</a:t>
            </a:r>
            <a:endParaRPr b="0" i="0" sz="1050" u="none" cap="none" strike="noStrike">
              <a:solidFill>
                <a:schemeClr val="dk1"/>
              </a:solidFill>
              <a:latin typeface="Calibri"/>
              <a:ea typeface="Calibri"/>
              <a:cs typeface="Calibri"/>
              <a:sym typeface="Calibri"/>
            </a:endParaRPr>
          </a:p>
        </p:txBody>
      </p:sp>
      <p:sp>
        <p:nvSpPr>
          <p:cNvPr id="216" name="Google Shape;216;p14"/>
          <p:cNvSpPr/>
          <p:nvPr/>
        </p:nvSpPr>
        <p:spPr>
          <a:xfrm>
            <a:off x="485616" y="8315350"/>
            <a:ext cx="6590795" cy="15754"/>
          </a:xfrm>
          <a:prstGeom prst="roundRect">
            <a:avLst>
              <a:gd fmla="val 60001" name="adj"/>
            </a:avLst>
          </a:prstGeom>
          <a:solidFill>
            <a:srgbClr val="333F70">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4"/>
          <p:cNvSpPr/>
          <p:nvPr/>
        </p:nvSpPr>
        <p:spPr>
          <a:xfrm>
            <a:off x="485616" y="8521819"/>
            <a:ext cx="6590795" cy="6661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33F70"/>
              </a:buClr>
              <a:buSzPts val="1050"/>
              <a:buFont typeface="Open Sans"/>
              <a:buNone/>
            </a:pPr>
            <a:r>
              <a:rPr b="0" i="0" lang="en-US" sz="1050" u="none" cap="none" strike="noStrike">
                <a:solidFill>
                  <a:srgbClr val="333F70"/>
                </a:solidFill>
                <a:latin typeface="Open Sans"/>
                <a:ea typeface="Open Sans"/>
                <a:cs typeface="Open Sans"/>
                <a:sym typeface="Open Sans"/>
              </a:rPr>
              <a:t>By integrating scenario-based learning, gamified challenges, and comprehensive accessibility features, this instructional design creates an engaging, effective learning experience that prepares diverse adult learners for success in data center and IT operations roles.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