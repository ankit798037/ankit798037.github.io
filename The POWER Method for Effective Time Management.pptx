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MuseoModerno Medium"/>
      <p:regular r:id="rId20"/>
      <p:bold r:id="rId21"/>
      <p:italic r:id="rId22"/>
      <p:boldItalic r:id="rId23"/>
    </p:embeddedFont>
    <p:embeddedFont>
      <p:font typeface="Source Sans 3"/>
      <p:regular r:id="rId24"/>
      <p:bold r:id="rId25"/>
      <p:italic r:id="rId26"/>
      <p:boldItalic r:id="rId27"/>
    </p:embeddedFont>
    <p:embeddedFont>
      <p:font typeface="MuseoModern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seoModernoMedium-regular.fntdata"/><Relationship Id="rId22" Type="http://schemas.openxmlformats.org/officeDocument/2006/relationships/font" Target="fonts/MuseoModernoMedium-italic.fntdata"/><Relationship Id="rId21" Type="http://schemas.openxmlformats.org/officeDocument/2006/relationships/font" Target="fonts/MuseoModernoMedium-bold.fntdata"/><Relationship Id="rId24" Type="http://schemas.openxmlformats.org/officeDocument/2006/relationships/font" Target="fonts/SourceSans3-regular.fntdata"/><Relationship Id="rId23" Type="http://schemas.openxmlformats.org/officeDocument/2006/relationships/font" Target="fonts/MuseoModerno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Sans3-italic.fntdata"/><Relationship Id="rId25" Type="http://schemas.openxmlformats.org/officeDocument/2006/relationships/font" Target="fonts/SourceSans3-bold.fntdata"/><Relationship Id="rId28" Type="http://schemas.openxmlformats.org/officeDocument/2006/relationships/font" Target="fonts/MuseoModernoLight-regular.fntdata"/><Relationship Id="rId27" Type="http://schemas.openxmlformats.org/officeDocument/2006/relationships/font" Target="fonts/SourceSans3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useoModerno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useoModernoLight-boldItalic.fntdata"/><Relationship Id="rId30" Type="http://schemas.openxmlformats.org/officeDocument/2006/relationships/font" Target="fonts/MuseoModerno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/>
          <p:nvPr/>
        </p:nvSpPr>
        <p:spPr>
          <a:xfrm>
            <a:off x="3925119" y="688032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Master Your Minutes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3925119" y="1343620"/>
            <a:ext cx="4722763" cy="2445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850"/>
              <a:buFont typeface="MuseoModerno Medium"/>
              <a:buNone/>
            </a:pPr>
            <a:r>
              <a:rPr b="0" i="0" lang="en-US" sz="3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POWER Method for Effective Time Management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3925119" y="4001765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30-minute training session for working professionals seeking actionable time-management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96119" y="116398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Time Crisis Reality Check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496119" y="1961331"/>
            <a:ext cx="1905000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3650"/>
              <a:buFont typeface="MuseoModerno Medium"/>
              <a:buNone/>
            </a:pPr>
            <a:r>
              <a:rPr b="0" i="0" lang="en-US" sz="3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2.5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96119" y="2606278"/>
            <a:ext cx="190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Hours wasted daily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96119" y="2912790"/>
            <a:ext cx="1905000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knowledge worker loses this much productive time every single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2578298" y="1961331"/>
            <a:ext cx="1905074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3650"/>
              <a:buFont typeface="MuseoModerno Medium"/>
              <a:buNone/>
            </a:pPr>
            <a:r>
              <a:rPr b="0" i="0" lang="en-US" sz="3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67%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2578298" y="2606278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Feel overwhelmed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2578298" y="2912790"/>
            <a:ext cx="190507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Professionals struggling with workload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660553" y="1961331"/>
            <a:ext cx="1905074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3650"/>
              <a:buFont typeface="MuseoModerno Medium"/>
              <a:buNone/>
            </a:pPr>
            <a:r>
              <a:rPr b="0" i="0" lang="en-US" sz="3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56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660553" y="2606278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Daily interruptions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660553" y="2912790"/>
            <a:ext cx="190507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number of disruptions per workday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742807" y="1961331"/>
            <a:ext cx="1905074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3650"/>
              <a:buFont typeface="MuseoModerno Medium"/>
              <a:buNone/>
            </a:pPr>
            <a:r>
              <a:rPr b="0" i="0" lang="en-US" sz="3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$37B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742807" y="2606278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Lost productivity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742807" y="2912790"/>
            <a:ext cx="190507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Annual cost of poor time management nationwide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96119" y="3752701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million-dollar question: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What if you could reclaim just one hour of that lost time?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772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/>
          <p:nvPr/>
        </p:nvSpPr>
        <p:spPr>
          <a:xfrm>
            <a:off x="496119" y="250142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What You'll Master Today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496119" y="3157017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549287" y="318358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956816" y="3205683"/>
            <a:ext cx="21384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Identify your top 3 time-wasting behaviors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956816" y="3733651"/>
            <a:ext cx="213843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Using our proven self-assessment tool to pinpoint exactly where your minutes disappear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272433" y="3157017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3325602" y="318358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733130" y="3205683"/>
            <a:ext cx="21384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Apply the POWER method to daily tasks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733130" y="3733651"/>
            <a:ext cx="213843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Master the 5-step system that transforms chaos into organized productivity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048747" y="3157017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6101916" y="318358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509445" y="3205683"/>
            <a:ext cx="2138437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Create your personalized 15-minute planning routine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509445" y="3955107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 a morning ritual that sets you up for success every single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496119" y="421035"/>
            <a:ext cx="8151763" cy="1661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MuseoModerno Medium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Introducing the POWER Method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67519" y="2331393"/>
            <a:ext cx="8608963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Five simple steps that will revolutionize how you manage your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496119" y="2677492"/>
            <a:ext cx="2634183" cy="960165"/>
          </a:xfrm>
          <a:prstGeom prst="roundRect">
            <a:avLst>
              <a:gd fmla="val 2076" name="adj"/>
            </a:avLst>
          </a:prstGeom>
          <a:solidFill>
            <a:srgbClr val="F6F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629022" y="2810396"/>
            <a:ext cx="2368376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useoModerno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629022" y="3092797"/>
            <a:ext cx="2368376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Prioritize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what matters most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3254871" y="2677492"/>
            <a:ext cx="2634183" cy="960165"/>
          </a:xfrm>
          <a:prstGeom prst="roundRect">
            <a:avLst>
              <a:gd fmla="val 2076" name="adj"/>
            </a:avLst>
          </a:prstGeom>
          <a:solidFill>
            <a:srgbClr val="F6F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3387775" y="2810396"/>
            <a:ext cx="2368376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useoModerno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3387775" y="3092797"/>
            <a:ext cx="2368376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your ideal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013624" y="2677492"/>
            <a:ext cx="2634183" cy="960165"/>
          </a:xfrm>
          <a:prstGeom prst="roundRect">
            <a:avLst>
              <a:gd fmla="val 2076" name="adj"/>
            </a:avLst>
          </a:prstGeom>
          <a:solidFill>
            <a:srgbClr val="F6F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6146527" y="2810396"/>
            <a:ext cx="2368376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useoModerno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146527" y="3092797"/>
            <a:ext cx="2368376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Weed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Eliminate time drains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96119" y="3762226"/>
            <a:ext cx="4013522" cy="960165"/>
          </a:xfrm>
          <a:prstGeom prst="roundRect">
            <a:avLst>
              <a:gd fmla="val 2076" name="adj"/>
            </a:avLst>
          </a:prstGeom>
          <a:solidFill>
            <a:srgbClr val="F6F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629022" y="3895130"/>
            <a:ext cx="3747715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useoModerno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29022" y="4177531"/>
            <a:ext cx="3747715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Execute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Take focused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4634210" y="3762226"/>
            <a:ext cx="4013597" cy="960165"/>
          </a:xfrm>
          <a:prstGeom prst="roundRect">
            <a:avLst>
              <a:gd fmla="val 2076" name="adj"/>
            </a:avLst>
          </a:prstGeom>
          <a:solidFill>
            <a:srgbClr val="F6F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4767114" y="3895130"/>
            <a:ext cx="3747790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useoModerno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767114" y="4177531"/>
            <a:ext cx="3747790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 and improve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496119" y="52089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 - Prioritize: Focus on What Matters Most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496119" y="1318245"/>
            <a:ext cx="47526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Magic Question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96119" y="1699171"/>
            <a:ext cx="19050" cy="481905"/>
          </a:xfrm>
          <a:prstGeom prst="roundRect">
            <a:avLst>
              <a:gd fmla="val 60000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708720" y="1826716"/>
            <a:ext cx="499727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"If I could only do 3 things today, what would create the biggest impact?"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96119" y="2340546"/>
            <a:ext cx="520987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the Eisenhower Matrix to categorize every task: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96119" y="2694905"/>
            <a:ext cx="4752677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Quadrant 1: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Urgent + Important (Crisis mode)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Quadrant 2: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Important + Not Urgent (Prevention)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Quadrant 3: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Urgent + Not Important (Interruption)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Quadrant 4: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Not Urgent + Not Important (Time waste)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496119" y="3910310"/>
            <a:ext cx="4752677" cy="552748"/>
          </a:xfrm>
          <a:prstGeom prst="roundRect">
            <a:avLst>
              <a:gd fmla="val 384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115842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956816" y="4073277"/>
            <a:ext cx="460742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Start with Quadrant 2 - this is where success lives!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435" y="1335956"/>
            <a:ext cx="3053135" cy="2135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/>
          <p:nvPr/>
        </p:nvSpPr>
        <p:spPr>
          <a:xfrm>
            <a:off x="3925119" y="42207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 - Organize: Design Your Day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3925119" y="1364754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Master Time Blocking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3925119" y="1798811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Light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Light"/>
                <a:ea typeface="MuseoModerno Light"/>
                <a:cs typeface="MuseoModerno Light"/>
                <a:sym typeface="MuseoModerno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3925119" y="2020714"/>
            <a:ext cx="2290465" cy="19050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3925119" y="2129656"/>
            <a:ext cx="22904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Deep Work Blocks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3925119" y="2436168"/>
            <a:ext cx="229046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Schedule 2-3 hour chunks for your most important tasks when your energy peaks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6357342" y="1798811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Light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Light"/>
                <a:ea typeface="MuseoModerno Light"/>
                <a:cs typeface="MuseoModerno Light"/>
                <a:sym typeface="MuseoModerno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6357342" y="2020714"/>
            <a:ext cx="2290539" cy="19050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6357342" y="2129656"/>
            <a:ext cx="22905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Communication Windows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357342" y="2436168"/>
            <a:ext cx="229053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Batch process emails and calls into focused 30-45 minute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3925119" y="336463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Light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Light"/>
                <a:ea typeface="MuseoModerno Light"/>
                <a:cs typeface="MuseoModerno Light"/>
                <a:sym typeface="MuseoModerno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925119" y="3586535"/>
            <a:ext cx="4722763" cy="19050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3925119" y="3695477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Buffer 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925119" y="4001988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 in 15-30 minute cushions between activities for unexpected priorities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925119" y="4494535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Golden Rule: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Protect your prime time for your prime tasks - no exceptions!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496119" y="105586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 - Weed Out: Eliminate Time Drains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82366"/>
            <a:ext cx="4004965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733127" y="1943174"/>
            <a:ext cx="36071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Unnecessary Meetings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733127" y="2249686"/>
            <a:ext cx="36071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Ask yourself: "Can this be an email?" Before accepting any meeting invitation.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1782366"/>
            <a:ext cx="400503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/>
          <p:nvPr/>
        </p:nvSpPr>
        <p:spPr>
          <a:xfrm>
            <a:off x="4879851" y="1943174"/>
            <a:ext cx="3607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Social Media Rabbit Holes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4879851" y="2249686"/>
            <a:ext cx="36072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app timers and designated browsing windows. Your future self will thank you.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005882"/>
            <a:ext cx="4004965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733127" y="3166690"/>
            <a:ext cx="36071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Perfectionism Paralysis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33127" y="3473202"/>
            <a:ext cx="36071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Remember: Done is better than perfect. Progress beats perfection every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3005882"/>
            <a:ext cx="400503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4879851" y="3166690"/>
            <a:ext cx="3607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Saying Yes to Everything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879851" y="3473202"/>
            <a:ext cx="36072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Master the gracious no. Every yes to something unimportant is a no to something vital.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496119" y="62091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 - Execute: Take Action Now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496119" y="1418258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2-Minute Rule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496119" y="1781473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If a task takes less than 2 minutes, do it immediately. Don't add it to your to-do list - just do it!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96119" y="237686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Pomodoro Power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496119" y="2740075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Work in focused 25-minute sprints followed by 5-minute breaks. This keeps your brain fresh and productive.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96119" y="3335462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Beat Procrastination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496119" y="3698677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Start with the smallest possible step. Sometimes that means just opening the document or making one phone call.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9701" y="1435968"/>
            <a:ext cx="3902943" cy="292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/>
          <p:nvPr/>
        </p:nvSpPr>
        <p:spPr>
          <a:xfrm>
            <a:off x="496119" y="82860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 - Review: Learn and Improve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562475" y="1555105"/>
            <a:ext cx="19050" cy="2033290"/>
          </a:xfrm>
          <a:prstGeom prst="roundRect">
            <a:avLst>
              <a:gd fmla="val 111628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4006304" y="1705049"/>
            <a:ext cx="425276" cy="19050"/>
          </a:xfrm>
          <a:prstGeom prst="roundRect">
            <a:avLst>
              <a:gd fmla="val 111628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4412531" y="155510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4465700" y="1581671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496119" y="1603772"/>
            <a:ext cx="33670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Daily 5-Minute Reflection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96119" y="1910283"/>
            <a:ext cx="3367088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End each day by asking: What worked well? What would I do differently? What are tomorrow's top 3 priorities?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712419" y="2555602"/>
            <a:ext cx="425276" cy="19050"/>
          </a:xfrm>
          <a:prstGeom prst="roundRect">
            <a:avLst>
              <a:gd fmla="val 111628" name="adj"/>
            </a:avLst>
          </a:prstGeom>
          <a:solidFill>
            <a:srgbClr val="D9D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4412531" y="2405658"/>
            <a:ext cx="318939" cy="318939"/>
          </a:xfrm>
          <a:prstGeom prst="roundRect">
            <a:avLst>
              <a:gd fmla="val 6667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4465700" y="2432224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280794" y="2454325"/>
            <a:ext cx="33670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Weekly Power Hour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5280794" y="2760836"/>
            <a:ext cx="3367088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Dedicate one hour each week to bigger picture planning, reviewing your systems, and adjusting your approach.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96119" y="3747864"/>
            <a:ext cx="8151763" cy="566961"/>
          </a:xfrm>
          <a:prstGeom prst="roundRect">
            <a:avLst>
              <a:gd fmla="val 3751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948633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956816" y="3925044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reflection turns experience into expertise. Make it non-negotiable!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496119" y="429964"/>
            <a:ext cx="815176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Case Study: Sarah's Transformation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496119" y="855613"/>
            <a:ext cx="86089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Meet Sarah:</a:t>
            </a: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Marketing Manager and Working Parent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496119" y="1118964"/>
            <a:ext cx="395972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900"/>
              <a:buFont typeface="MuseoModerno Medium"/>
              <a:buNone/>
            </a:pPr>
            <a:r>
              <a:rPr b="0" i="0" lang="en-US" sz="9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BEFORE POWER (Chaos Mode)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39751"/>
            <a:ext cx="2999184" cy="248237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"/>
          <p:cNvSpPr/>
          <p:nvPr/>
        </p:nvSpPr>
        <p:spPr>
          <a:xfrm>
            <a:off x="496119" y="3894088"/>
            <a:ext cx="3959721" cy="576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6 AM: Rush to work, forgot lunch again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9 AM: Lost 3 hours in "urgent" emails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2 PM: Back-to-back meetings with no breaks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6 PM: Finally start important project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96119" y="4528468"/>
            <a:ext cx="4416921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Result:</a:t>
            </a: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10-hour days, constant stress, missing deadlines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692923" y="1118964"/>
            <a:ext cx="395972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900"/>
              <a:buFont typeface="MuseoModerno Medium"/>
              <a:buNone/>
            </a:pPr>
            <a:r>
              <a:rPr b="0" i="0" lang="en-US" sz="9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AFTER POWER (Organized Mode)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2923" y="1339751"/>
            <a:ext cx="3432944" cy="248237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/>
          <p:nvPr/>
        </p:nvSpPr>
        <p:spPr>
          <a:xfrm>
            <a:off x="4692923" y="3894088"/>
            <a:ext cx="3959721" cy="576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6 AM: 15-minute planning, prepared lunch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9 AM: 2 hours deep work on key project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11 AM: 30-minute email batch 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Char char="•"/>
            </a:pP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3 PM: Strategic meetings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692923" y="4528468"/>
            <a:ext cx="4416921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750"/>
              <a:buFont typeface="Source Sans 3"/>
              <a:buNone/>
            </a:pPr>
            <a:r>
              <a:rPr b="1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Result:</a:t>
            </a:r>
            <a:r>
              <a:rPr b="0" i="0" lang="en-US" sz="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8-hour focused days, promoted within 6 months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3925119" y="45429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Time Audit Challenge: Find Your Time Wasters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3925119" y="1396975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Your Mission (4 minutes total):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3925119" y="1909018"/>
            <a:ext cx="70842" cy="70842"/>
          </a:xfrm>
          <a:prstGeom prst="ellipse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4137720" y="1831032"/>
            <a:ext cx="45101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List yesterday's activities (2 minutes)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3925119" y="2419350"/>
            <a:ext cx="70842" cy="70842"/>
          </a:xfrm>
          <a:prstGeom prst="ellipse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4137720" y="2341364"/>
            <a:ext cx="45101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 each as High/Medium/Low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3925119" y="2929682"/>
            <a:ext cx="70842" cy="70842"/>
          </a:xfrm>
          <a:prstGeom prst="ellipse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4137720" y="2851696"/>
            <a:ext cx="45101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Identify your #1 time waster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3925119" y="3440013"/>
            <a:ext cx="70842" cy="70842"/>
          </a:xfrm>
          <a:prstGeom prst="ellipse">
            <a:avLst/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4137720" y="3362027"/>
            <a:ext cx="45101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Share findings with a partner (2 minutes)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3925119" y="3801442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Common Time Wasters Discovered: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3925119" y="4235500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Unscheduled interruptions (23%) • Excessive email checking (18%) • Unclear priorities (15%) • Multitasking (12%)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496119" y="72992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Your Daily POWER Planner Template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96119" y="1456432"/>
            <a:ext cx="2622724" cy="1407691"/>
          </a:xfrm>
          <a:prstGeom prst="roundRect">
            <a:avLst>
              <a:gd fmla="val 1511" name="adj"/>
            </a:avLst>
          </a:prstGeom>
          <a:solidFill>
            <a:srgbClr val="FFFCF5"/>
          </a:solidFill>
          <a:ln cap="flat" cmpd="sng" w="19050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56927" y="1617241"/>
            <a:ext cx="23011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 - PRIORITIES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656927" y="1923752"/>
            <a:ext cx="2301106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My top 3 priorities for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Most important task (MIT)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Impact rating (H/M/L)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3260601" y="1456432"/>
            <a:ext cx="2622724" cy="1407691"/>
          </a:xfrm>
          <a:prstGeom prst="roundRect">
            <a:avLst>
              <a:gd fmla="val 1511" name="adj"/>
            </a:avLst>
          </a:prstGeom>
          <a:solidFill>
            <a:srgbClr val="FFFCF5"/>
          </a:solidFill>
          <a:ln cap="flat" cmpd="sng" w="19050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3421410" y="1617241"/>
            <a:ext cx="23011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 - ORGANIZE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421410" y="1923752"/>
            <a:ext cx="2301106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 blocks scheduled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Deep work period protected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Communication windows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025083" y="1456432"/>
            <a:ext cx="2622724" cy="1407691"/>
          </a:xfrm>
          <a:prstGeom prst="roundRect">
            <a:avLst>
              <a:gd fmla="val 1511" name="adj"/>
            </a:avLst>
          </a:prstGeom>
          <a:solidFill>
            <a:srgbClr val="FFFCF5"/>
          </a:solidFill>
          <a:ln cap="flat" cmpd="sng" w="19050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6185892" y="1617241"/>
            <a:ext cx="23011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 - WEED 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6185892" y="1923752"/>
            <a:ext cx="2301106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I'll eliminate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I'll delegate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I'll say no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96119" y="3005882"/>
            <a:ext cx="4004965" cy="1407691"/>
          </a:xfrm>
          <a:prstGeom prst="roundRect">
            <a:avLst>
              <a:gd fmla="val 1511" name="adj"/>
            </a:avLst>
          </a:prstGeom>
          <a:solidFill>
            <a:srgbClr val="FFFCF5"/>
          </a:solidFill>
          <a:ln cap="flat" cmpd="sng" w="19050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656927" y="3166690"/>
            <a:ext cx="36833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 - EXECUTE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56927" y="3473202"/>
            <a:ext cx="3683347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2-minute tasks to do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Pomodoro sessions planned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Quick wins identified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4642842" y="3005882"/>
            <a:ext cx="4004965" cy="1407691"/>
          </a:xfrm>
          <a:prstGeom prst="roundRect">
            <a:avLst>
              <a:gd fmla="val 1511" name="adj"/>
            </a:avLst>
          </a:prstGeom>
          <a:solidFill>
            <a:srgbClr val="FFFCF5"/>
          </a:solidFill>
          <a:ln cap="flat" cmpd="sng" w="19050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803651" y="3166690"/>
            <a:ext cx="36833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 - REVIEW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4803651" y="3473202"/>
            <a:ext cx="3683347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Evening reflection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Tomorrow's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Weekly review scheduled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496119" y="40994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Your Resource Toolkit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496119" y="1207294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Templates &amp; Worksheets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96119" y="1570509"/>
            <a:ext cx="390294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Daily POWER Planner 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 audit worksheet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Quick reference 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30-day implementation 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496119" y="2768203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Recommended Apps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496119" y="3131418"/>
            <a:ext cx="390294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Todoist: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Task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RescueTime: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Time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Forest: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Focus and concentration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1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Toggl:</a:t>
            </a: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Time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9701" y="1225004"/>
            <a:ext cx="3902943" cy="188029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7"/>
          <p:cNvSpPr/>
          <p:nvPr/>
        </p:nvSpPr>
        <p:spPr>
          <a:xfrm>
            <a:off x="4749701" y="3264768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Essential Reading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4749701" y="3627983"/>
            <a:ext cx="390294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Getting Things Done by David Allen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Atomic Habits by James Clear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Deep Work by Cal Newport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Char char="•"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7 Habits by Stephen Covey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/>
          <p:nvPr/>
        </p:nvSpPr>
        <p:spPr>
          <a:xfrm>
            <a:off x="496119" y="430932"/>
            <a:ext cx="8151763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200"/>
              <a:buFont typeface="MuseoModerno Medium"/>
              <a:buNone/>
            </a:pPr>
            <a:r>
              <a:rPr b="0" i="0" lang="en-US" sz="22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Your 4-Week Implementation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09079" y="1133326"/>
            <a:ext cx="112961" cy="508248"/>
          </a:xfrm>
          <a:prstGeom prst="roundRect">
            <a:avLst>
              <a:gd fmla="val 15001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496119" y="1059135"/>
            <a:ext cx="338882" cy="338882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802" y="1143819"/>
            <a:ext cx="169441" cy="1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/>
          <p:nvPr/>
        </p:nvSpPr>
        <p:spPr>
          <a:xfrm>
            <a:off x="924967" y="1076846"/>
            <a:ext cx="7722915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Medium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Tomorrow: Start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924967" y="1307306"/>
            <a:ext cx="7722915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b="0" i="0" lang="en-US" sz="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Begin with 15-minute morning planning using your POWER template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78520" y="1901056"/>
            <a:ext cx="112961" cy="508248"/>
          </a:xfrm>
          <a:prstGeom prst="roundRect">
            <a:avLst>
              <a:gd fmla="val 15001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665559" y="1826865"/>
            <a:ext cx="338882" cy="338882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43" y="1911548"/>
            <a:ext cx="169441" cy="1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/>
          <p:nvPr/>
        </p:nvSpPr>
        <p:spPr>
          <a:xfrm>
            <a:off x="1094408" y="1844576"/>
            <a:ext cx="755347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Medium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Week 1: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094408" y="2075036"/>
            <a:ext cx="7553474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b="0" i="0" lang="en-US" sz="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Master prioritization (P) and organization (O) - build the habit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947961" y="2668786"/>
            <a:ext cx="112961" cy="508248"/>
          </a:xfrm>
          <a:prstGeom prst="roundRect">
            <a:avLst>
              <a:gd fmla="val 15001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835000" y="2594595"/>
            <a:ext cx="338882" cy="338882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683" y="2679278"/>
            <a:ext cx="169441" cy="1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8"/>
          <p:cNvSpPr/>
          <p:nvPr/>
        </p:nvSpPr>
        <p:spPr>
          <a:xfrm>
            <a:off x="1263848" y="2612306"/>
            <a:ext cx="7384033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Medium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Week 2: Refinement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1263848" y="2842766"/>
            <a:ext cx="7384033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b="0" i="0" lang="en-US" sz="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Add elimination strategies (W) and execution techniques (E)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1117402" y="3436516"/>
            <a:ext cx="112961" cy="508248"/>
          </a:xfrm>
          <a:prstGeom prst="roundRect">
            <a:avLst>
              <a:gd fmla="val 15001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1004441" y="3362325"/>
            <a:ext cx="338882" cy="338882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9124" y="3447008"/>
            <a:ext cx="169441" cy="1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/>
          <p:nvPr/>
        </p:nvSpPr>
        <p:spPr>
          <a:xfrm>
            <a:off x="1433289" y="3380036"/>
            <a:ext cx="7214592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Medium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Week 3: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1433289" y="3610496"/>
            <a:ext cx="7214592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b="0" i="0" lang="en-US" sz="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 daily review process (R) for continuous improvement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947961" y="4204246"/>
            <a:ext cx="112961" cy="508248"/>
          </a:xfrm>
          <a:prstGeom prst="roundRect">
            <a:avLst>
              <a:gd fmla="val 15001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835000" y="4130055"/>
            <a:ext cx="338882" cy="338882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9683" y="4214738"/>
            <a:ext cx="169441" cy="1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/>
          <p:nvPr/>
        </p:nvSpPr>
        <p:spPr>
          <a:xfrm>
            <a:off x="1263848" y="4147765"/>
            <a:ext cx="7384033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 Medium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Week 4: Mastery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263848" y="4378226"/>
            <a:ext cx="7384033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b="0" i="0" lang="en-US" sz="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POWER method integration - you're now a time management pro!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496119" y="392311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00"/>
              <a:buFont typeface="MuseoModerno Medium"/>
              <a:buNone/>
            </a:pPr>
            <a:r>
              <a:rPr b="0" i="0" lang="en-US" sz="2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Your Power Commitment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96119" y="1020961"/>
            <a:ext cx="8151763" cy="85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5400"/>
              <a:buFont typeface="MuseoModerno Medium"/>
              <a:buNone/>
            </a:pPr>
            <a:r>
              <a:rPr b="0" i="0" lang="en-US" sz="54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Take Action Now!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96119" y="2078831"/>
            <a:ext cx="8151763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15-Second Challenge - Share with the group: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96119" y="2492871"/>
            <a:ext cx="308967" cy="308967"/>
          </a:xfrm>
          <a:prstGeom prst="roundRect">
            <a:avLst>
              <a:gd fmla="val 6668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547613" y="2518618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00"/>
              <a:buFont typeface="MuseoModerno Medium"/>
              <a:buNone/>
            </a:pPr>
            <a:r>
              <a:rPr b="0" i="0" lang="en-US" sz="16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938064" y="2540050"/>
            <a:ext cx="3550816" cy="42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ONE thing you'll do differently tomorrow morning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938064" y="3048893"/>
            <a:ext cx="3550816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 specific - what time will you start your 15-minute planning session?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4655121" y="2492871"/>
            <a:ext cx="308967" cy="308967"/>
          </a:xfrm>
          <a:prstGeom prst="roundRect">
            <a:avLst>
              <a:gd fmla="val 6668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4706615" y="2518618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00"/>
              <a:buFont typeface="MuseoModerno Medium"/>
              <a:buNone/>
            </a:pPr>
            <a:r>
              <a:rPr b="0" i="0" lang="en-US" sz="160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097066" y="2540050"/>
            <a:ext cx="3550816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Find your accountability partner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5097066" y="2834357"/>
            <a:ext cx="3550816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Exchange contacts with someone in this room for mutual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496119" y="3631183"/>
            <a:ext cx="8151763" cy="753963"/>
          </a:xfrm>
          <a:prstGeom prst="roundRect">
            <a:avLst>
              <a:gd fmla="val 273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3" y="3825478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/>
          <p:nvPr/>
        </p:nvSpPr>
        <p:spPr>
          <a:xfrm>
            <a:off x="942305" y="3798466"/>
            <a:ext cx="7568282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ource Sans 3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Remember:</a:t>
            </a:r>
            <a:r>
              <a:rPr b="0" i="0" lang="en-US" sz="105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Small changes in planning lead to big results in productivity. You now have the POWER to master your minutes and transform your day!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267519" y="4534793"/>
            <a:ext cx="860896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b="1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Follow-up:</a:t>
            </a:r>
            <a:r>
              <a:rPr b="0" i="0" lang="en-US" sz="10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7-day check-in survey to track your progress and celebrate your wins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