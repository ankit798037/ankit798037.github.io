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embeddedFontLst>
    <p:embeddedFont>
      <p:font typeface="Cambria" panose="02040503050406030204" pitchFamily="18" charset="0"/>
      <p:regular r:id="rId14"/>
      <p:bold r:id="rId15"/>
      <p:italic r:id="rId16"/>
      <p:boldItalic r:id="rId17"/>
    </p:embeddedFont>
    <p:embeddedFont>
      <p:font typeface="Roboto Bold" panose="02000000000000000000" pitchFamily="2" charset="0"/>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1365" cy="6858000"/>
          </a:xfrm>
          <a:prstGeom prst="rect">
            <a:avLst/>
          </a:prstGeom>
          <a:noFill/>
          <a:ln w="9525">
            <a:noFill/>
          </a:ln>
        </p:spPr>
      </p:pic>
      <p:sp>
        <p:nvSpPr>
          <p:cNvPr id="2051" name="Rectangle 3"/>
          <p:cNvSpPr>
            <a:spLocks noGrp="1" noChangeArrowheads="1"/>
          </p:cNvSpPr>
          <p:nvPr>
            <p:ph type="ctrTitle"/>
          </p:nvPr>
        </p:nvSpPr>
        <p:spPr>
          <a:xfrm>
            <a:off x="2063643" y="1701800"/>
            <a:ext cx="9211254"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643" y="2927350"/>
            <a:ext cx="921760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568" y="6245225"/>
            <a:ext cx="2844652"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4165383" y="6245225"/>
            <a:ext cx="3860599"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8737145" y="6245225"/>
            <a:ext cx="2844652"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98182F0-CF90-4D8B-A51C-796537115A5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07" y="1709738"/>
            <a:ext cx="10515052"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07" y="4589463"/>
            <a:ext cx="10515052"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68" y="1174750"/>
            <a:ext cx="538452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277" y="1174750"/>
            <a:ext cx="538452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274" y="365125"/>
            <a:ext cx="10515052" cy="1325563"/>
          </a:xfrm>
        </p:spPr>
        <p:txBody>
          <a:bodyPr/>
          <a:lstStyle/>
          <a:p>
            <a:r>
              <a:rPr lang="en-US"/>
              <a:t>Click to edit Master title style</a:t>
            </a:r>
          </a:p>
        </p:txBody>
      </p:sp>
      <p:sp>
        <p:nvSpPr>
          <p:cNvPr id="3" name="Text Placeholder 2"/>
          <p:cNvSpPr>
            <a:spLocks noGrp="1"/>
          </p:cNvSpPr>
          <p:nvPr>
            <p:ph type="body" idx="1"/>
          </p:nvPr>
        </p:nvSpPr>
        <p:spPr>
          <a:xfrm>
            <a:off x="840274" y="1681163"/>
            <a:ext cx="515804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274" y="2505075"/>
            <a:ext cx="515804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1879" y="1681163"/>
            <a:ext cx="518344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1879" y="2505075"/>
            <a:ext cx="518344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274" y="457200"/>
            <a:ext cx="3932562" cy="1600200"/>
          </a:xfrm>
        </p:spPr>
        <p:txBody>
          <a:bodyPr anchor="b"/>
          <a:lstStyle>
            <a:lvl1pPr>
              <a:defRPr sz="1600">
                <a:latin typeface="+mn-lt"/>
                <a:cs typeface="+mn-lt"/>
              </a:defRPr>
            </a:lvl1pPr>
          </a:lstStyle>
          <a:p>
            <a:r>
              <a:rPr lang="en-US"/>
              <a:t>Click to edit Master title style</a:t>
            </a:r>
          </a:p>
        </p:txBody>
      </p:sp>
      <p:sp>
        <p:nvSpPr>
          <p:cNvPr id="3" name="Content Placeholder 2"/>
          <p:cNvSpPr>
            <a:spLocks noGrp="1"/>
          </p:cNvSpPr>
          <p:nvPr>
            <p:ph idx="1"/>
          </p:nvPr>
        </p:nvSpPr>
        <p:spPr>
          <a:xfrm>
            <a:off x="5183447" y="987425"/>
            <a:ext cx="6171879" cy="4873625"/>
          </a:xfrm>
        </p:spPr>
        <p:txBody>
          <a:bodyPr/>
          <a:lstStyle>
            <a:lvl1pPr>
              <a:defRPr sz="1600">
                <a:latin typeface="+mn-lt"/>
                <a:cs typeface="+mn-lt"/>
              </a:defRPr>
            </a:lvl1pPr>
            <a:lvl2pPr>
              <a:defRPr sz="1600">
                <a:latin typeface="+mn-lt"/>
                <a:cs typeface="+mn-lt"/>
              </a:defRPr>
            </a:lvl2pPr>
            <a:lvl3pPr>
              <a:defRPr sz="1600">
                <a:latin typeface="+mn-lt"/>
                <a:cs typeface="+mn-lt"/>
              </a:defRPr>
            </a:lvl3pPr>
            <a:lvl4pPr>
              <a:defRPr sz="1600">
                <a:latin typeface="+mn-lt"/>
                <a:cs typeface="+mn-lt"/>
              </a:defRPr>
            </a:lvl4pPr>
            <a:lvl5pPr>
              <a:defRPr sz="1600">
                <a:latin typeface="+mn-lt"/>
                <a:cs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274" y="2057400"/>
            <a:ext cx="3932562" cy="3811588"/>
          </a:xfrm>
        </p:spPr>
        <p:txBody>
          <a:bodyPr/>
          <a:lstStyle>
            <a:lvl1pPr marL="0" indent="0">
              <a:buNone/>
              <a:defRPr sz="1600">
                <a:latin typeface="+mn-lt"/>
                <a:cs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274" y="457200"/>
            <a:ext cx="3932562"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447" y="987425"/>
            <a:ext cx="6171879"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274" y="2057400"/>
            <a:ext cx="3932562"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740" y="190500"/>
            <a:ext cx="2743057"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68" y="190500"/>
            <a:ext cx="802598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4"/>
          <a:stretch>
            <a:fillRect/>
          </a:stretch>
        </p:blipFill>
        <p:spPr>
          <a:xfrm>
            <a:off x="-8466" y="0"/>
            <a:ext cx="12199831" cy="6858000"/>
          </a:xfrm>
          <a:prstGeom prst="rect">
            <a:avLst/>
          </a:prstGeom>
          <a:noFill/>
          <a:ln w="9525">
            <a:noFill/>
          </a:ln>
        </p:spPr>
      </p:pic>
      <p:sp>
        <p:nvSpPr>
          <p:cNvPr id="1027" name="Rectangle 3"/>
          <p:cNvSpPr>
            <a:spLocks noGrp="1"/>
          </p:cNvSpPr>
          <p:nvPr>
            <p:ph type="title"/>
          </p:nvPr>
        </p:nvSpPr>
        <p:spPr>
          <a:xfrm>
            <a:off x="609568" y="190500"/>
            <a:ext cx="10972229"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568" y="1174750"/>
            <a:ext cx="10972229"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568" y="6245225"/>
            <a:ext cx="284465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4165383" y="6245225"/>
            <a:ext cx="386059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8737145" y="6245225"/>
            <a:ext cx="284465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93831447-C893-4FB7-A405-85B25DF4EE90}"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fontAlgn="base">
        <a:lnSpc>
          <a:spcPct val="100000"/>
        </a:lnSpc>
        <a:spcBef>
          <a:spcPts val="0"/>
        </a:spcBef>
        <a:spcAft>
          <a:spcPts val="0"/>
        </a:spcAft>
        <a:defRPr sz="2800" b="0" i="0" u="none" kern="1200">
          <a:solidFill>
            <a:srgbClr val="000000"/>
          </a:solidFill>
          <a:latin typeface="Calibri" panose="020F0502020204030204" charset="0"/>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12.sv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619673"/>
            <a:ext cx="6296860" cy="516731"/>
          </a:xfrm>
          <a:prstGeom prst="rect">
            <a:avLst/>
          </a:prstGeom>
          <a:noFill/>
        </p:spPr>
        <p:txBody>
          <a:bodyPr wrap="none" lIns="0" tIns="0" rIns="0" bIns="0" rtlCol="0" anchor="t"/>
          <a:lstStyle/>
          <a:p>
            <a:pPr marL="0" indent="0" algn="l">
              <a:lnSpc>
                <a:spcPct val="104000"/>
              </a:lnSpc>
              <a:buNone/>
            </a:pPr>
            <a:r>
              <a:rPr lang="en-US" sz="3250" dirty="0">
                <a:solidFill>
                  <a:srgbClr val="1B1B27"/>
                </a:solidFill>
                <a:latin typeface="Calibri" panose="020F0502020204030204" pitchFamily="34" charset="0"/>
                <a:ea typeface="Calibri" panose="020F0502020204030204" pitchFamily="34" charset="0"/>
                <a:cs typeface="Calibri" panose="020F0502020204030204" pitchFamily="34" charset="0"/>
              </a:rPr>
              <a:t>What is Entrepreneurship?</a:t>
            </a:r>
            <a:endParaRPr lang="en-US" sz="3250" dirty="0"/>
          </a:p>
        </p:txBody>
      </p:sp>
      <p:sp>
        <p:nvSpPr>
          <p:cNvPr id="4" name="Text 1"/>
          <p:cNvSpPr/>
          <p:nvPr/>
        </p:nvSpPr>
        <p:spPr>
          <a:xfrm>
            <a:off x="661475" y="3202484"/>
            <a:ext cx="6296860" cy="258465"/>
          </a:xfrm>
          <a:prstGeom prst="rect">
            <a:avLst/>
          </a:prstGeom>
          <a:noFill/>
        </p:spPr>
        <p:txBody>
          <a:bodyPr wrap="none" lIns="0" tIns="0" rIns="0" bIns="0" rtlCol="0" anchor="t"/>
          <a:lstStyle/>
          <a:p>
            <a:pPr marL="0" indent="0" algn="l">
              <a:lnSpc>
                <a:spcPct val="104000"/>
              </a:lnSpc>
              <a:buNone/>
            </a:pPr>
            <a:r>
              <a:rPr lang="en-US" sz="1600" dirty="0">
                <a:solidFill>
                  <a:srgbClr val="1B1B27"/>
                </a:solidFill>
                <a:latin typeface="Calibri" panose="020F0502020204030204" pitchFamily="34" charset="0"/>
                <a:ea typeface="Calibri" panose="020F0502020204030204" pitchFamily="34" charset="0"/>
                <a:cs typeface="Calibri" panose="020F0502020204030204" pitchFamily="34" charset="0"/>
              </a:rPr>
              <a:t>Real Stories, Real Opportunities</a:t>
            </a:r>
            <a:endParaRPr lang="en-US" sz="1600" dirty="0"/>
          </a:p>
        </p:txBody>
      </p:sp>
      <p:sp>
        <p:nvSpPr>
          <p:cNvPr id="5" name="Text 2"/>
          <p:cNvSpPr/>
          <p:nvPr/>
        </p:nvSpPr>
        <p:spPr>
          <a:xfrm>
            <a:off x="661475" y="3708995"/>
            <a:ext cx="6296860" cy="253405"/>
          </a:xfrm>
          <a:prstGeom prst="rect">
            <a:avLst/>
          </a:prstGeom>
          <a:noFill/>
        </p:spPr>
        <p:txBody>
          <a:bodyPr wrap="square" lIns="0" tIns="0" rIns="0" bIns="0" rtlCol="0" anchor="t">
            <a:normAutofit/>
          </a:bodyPr>
          <a:lstStyle/>
          <a:p>
            <a:pPr marL="0" indent="0" algn="l">
              <a:lnSpc>
                <a:spcPct val="133000"/>
              </a:lnSpc>
              <a:buNone/>
            </a:pPr>
            <a:r>
              <a:rPr lang="en-US" sz="13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Video Storyboard for Grades 6–9</a:t>
            </a:r>
            <a:r>
              <a:rPr lang="en-US" sz="1300" dirty="0">
                <a:solidFill>
                  <a:srgbClr val="3C3939"/>
                </a:solidFill>
                <a:latin typeface="Cambria" panose="02040503050406030204" pitchFamily="18" charset="0"/>
                <a:ea typeface="Cambria" panose="02040503050406030204" pitchFamily="18" charset="0"/>
                <a:cs typeface="Roboto" panose="02000000000000000000" pitchFamily="34" charset="-12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030883"/>
            <a:ext cx="1281577" cy="188516"/>
          </a:xfrm>
          <a:prstGeom prst="roundRect">
            <a:avLst>
              <a:gd name="adj" fmla="val 22109"/>
            </a:avLst>
          </a:prstGeom>
          <a:solidFill>
            <a:srgbClr val="E1E1EA"/>
          </a:solidFill>
        </p:spPr>
      </p:sp>
      <p:sp>
        <p:nvSpPr>
          <p:cNvPr id="3" name="Text 1"/>
          <p:cNvSpPr/>
          <p:nvPr/>
        </p:nvSpPr>
        <p:spPr>
          <a:xfrm>
            <a:off x="735887" y="1068090"/>
            <a:ext cx="1742337" cy="114102"/>
          </a:xfrm>
          <a:prstGeom prst="rect">
            <a:avLst/>
          </a:prstGeom>
          <a:noFill/>
        </p:spPr>
        <p:txBody>
          <a:bodyPr wrap="none" lIns="0" tIns="0" rIns="0" bIns="0" rtlCol="0" anchor="t"/>
          <a:lstStyle/>
          <a:p>
            <a:pPr marL="0" indent="0" algn="l">
              <a:lnSpc>
                <a:spcPct val="96000"/>
              </a:lnSpc>
              <a:buNone/>
            </a:pPr>
            <a:r>
              <a:rPr lang="en-US" sz="750" dirty="0">
                <a:solidFill>
                  <a:srgbClr val="3C3939"/>
                </a:solidFill>
                <a:latin typeface="Cambria" panose="02040503050406030204" pitchFamily="18" charset="0"/>
                <a:ea typeface="Cambria" panose="02040503050406030204" pitchFamily="18" charset="0"/>
                <a:cs typeface="Roboto" panose="02000000000000000000" pitchFamily="34" charset="-120"/>
              </a:rPr>
              <a:t>SLIDE 1 · OPENING HOOK</a:t>
            </a:r>
            <a:endParaRPr lang="en-US" sz="750" dirty="0"/>
          </a:p>
        </p:txBody>
      </p:sp>
      <p:sp>
        <p:nvSpPr>
          <p:cNvPr id="6" name="Text 4"/>
          <p:cNvSpPr/>
          <p:nvPr/>
        </p:nvSpPr>
        <p:spPr>
          <a:xfrm>
            <a:off x="661475" y="1256605"/>
            <a:ext cx="10868745" cy="387648"/>
          </a:xfrm>
          <a:prstGeom prst="rect">
            <a:avLst/>
          </a:prstGeom>
          <a:noFill/>
        </p:spPr>
        <p:txBody>
          <a:bodyPr wrap="none" lIns="0" tIns="0" rIns="0" bIns="0" rtlCol="0" anchor="t"/>
          <a:lstStyle/>
          <a:p>
            <a:pPr marL="0" indent="0" algn="l">
              <a:lnSpc>
                <a:spcPct val="104000"/>
              </a:lnSpc>
              <a:buNone/>
            </a:pPr>
            <a:r>
              <a:rPr lang="en-US" sz="2400" dirty="0">
                <a:solidFill>
                  <a:srgbClr val="1B1B27"/>
                </a:solidFill>
                <a:latin typeface="Calibri" panose="020F0502020204030204" pitchFamily="34" charset="0"/>
                <a:ea typeface="Calibri" panose="020F0502020204030204" pitchFamily="34" charset="0"/>
                <a:cs typeface="Calibri" panose="020F0502020204030204" pitchFamily="34" charset="0"/>
              </a:rPr>
              <a:t>"The Problem Nobody Solved"</a:t>
            </a:r>
            <a:endParaRPr lang="en-US" sz="2400" dirty="0"/>
          </a:p>
        </p:txBody>
      </p:sp>
      <p:sp>
        <p:nvSpPr>
          <p:cNvPr id="7" name="Text 5"/>
          <p:cNvSpPr/>
          <p:nvPr/>
        </p:nvSpPr>
        <p:spPr>
          <a:xfrm>
            <a:off x="661475" y="1783755"/>
            <a:ext cx="11478330" cy="173633"/>
          </a:xfrm>
          <a:prstGeom prst="rect">
            <a:avLst/>
          </a:prstGeom>
          <a:noFill/>
        </p:spPr>
        <p:txBody>
          <a:bodyPr wrap="none" lIns="0" tIns="0" rIns="0" bIns="0" rtlCol="0" anchor="t"/>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Narrative Hook / Real-World Scenario</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 Estimated Duration: </a:t>
            </a: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30 seconds</a:t>
            </a:r>
            <a:endParaRPr lang="en-US" sz="950" dirty="0"/>
          </a:p>
        </p:txBody>
      </p:sp>
      <p:sp>
        <p:nvSpPr>
          <p:cNvPr id="8" name="Shape 6"/>
          <p:cNvSpPr/>
          <p:nvPr/>
        </p:nvSpPr>
        <p:spPr>
          <a:xfrm>
            <a:off x="572180" y="2124719"/>
            <a:ext cx="5461657" cy="1281871"/>
          </a:xfrm>
          <a:prstGeom prst="roundRect">
            <a:avLst>
              <a:gd name="adj" fmla="val 5934"/>
            </a:avLst>
          </a:prstGeom>
          <a:solidFill>
            <a:srgbClr val="1B1B27">
              <a:alpha val="95000"/>
            </a:srgbClr>
          </a:solidFill>
        </p:spPr>
      </p:sp>
      <p:sp>
        <p:nvSpPr>
          <p:cNvPr id="9" name="Text 7"/>
          <p:cNvSpPr/>
          <p:nvPr/>
        </p:nvSpPr>
        <p:spPr>
          <a:xfrm>
            <a:off x="696201" y="2217687"/>
            <a:ext cx="5213616" cy="193774"/>
          </a:xfrm>
          <a:prstGeom prst="rect">
            <a:avLst/>
          </a:prstGeom>
          <a:noFill/>
        </p:spPr>
        <p:txBody>
          <a:bodyPr wrap="none" lIns="0" tIns="0" rIns="0" bIns="0" rtlCol="0" anchor="t"/>
          <a:lstStyle/>
          <a:p>
            <a:pPr marL="0" indent="0" algn="l">
              <a:lnSpc>
                <a:spcPct val="104000"/>
              </a:lnSpc>
              <a:buNone/>
            </a:pPr>
            <a:r>
              <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rPr>
              <a:t>On-Screen Text</a:t>
            </a:r>
            <a:endParaRPr lang="en-US" sz="1200" b="1" dirty="0"/>
          </a:p>
        </p:txBody>
      </p:sp>
      <p:sp>
        <p:nvSpPr>
          <p:cNvPr id="10" name="Text 8"/>
          <p:cNvSpPr/>
          <p:nvPr/>
        </p:nvSpPr>
        <p:spPr>
          <a:xfrm>
            <a:off x="696201" y="2504429"/>
            <a:ext cx="5213616" cy="792163"/>
          </a:xfrm>
          <a:prstGeom prst="rect">
            <a:avLst/>
          </a:prstGeom>
          <a:noFill/>
        </p:spPr>
        <p:txBody>
          <a:bodyPr wrap="square" lIns="0" tIns="0" rIns="0" bIns="0" rtlCol="0" anchor="t">
            <a:normAutofit/>
          </a:bodyPr>
          <a:lstStyle/>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"Every day, students like you struggle to stay organized."</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"Jordan noticed this problem too."</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"But instead of just complaining… Jordan did something about it."</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Text overlay: </a:t>
            </a:r>
            <a:r>
              <a:rPr lang="en-US" sz="950" b="1" dirty="0">
                <a:solidFill>
                  <a:srgbClr val="FFC000"/>
                </a:solidFill>
                <a:latin typeface="Roboto Bold" panose="02000000000000000000" pitchFamily="34" charset="0"/>
                <a:ea typeface="Roboto Bold" panose="02000000000000000000" pitchFamily="34" charset="-122"/>
                <a:cs typeface="Roboto Bold" panose="02000000000000000000" pitchFamily="34" charset="-120"/>
              </a:rPr>
              <a:t>"Meet Jordan. Problem solver."</a:t>
            </a:r>
            <a:endParaRPr lang="en-US" sz="950" dirty="0">
              <a:solidFill>
                <a:srgbClr val="FFC000"/>
              </a:solidFill>
            </a:endParaRPr>
          </a:p>
        </p:txBody>
      </p:sp>
      <p:sp>
        <p:nvSpPr>
          <p:cNvPr id="11" name="Text 9"/>
          <p:cNvSpPr/>
          <p:nvPr/>
        </p:nvSpPr>
        <p:spPr>
          <a:xfrm>
            <a:off x="6253502" y="2154932"/>
            <a:ext cx="5283068" cy="193774"/>
          </a:xfrm>
          <a:prstGeom prst="rect">
            <a:avLst/>
          </a:prstGeom>
          <a:noFill/>
        </p:spPr>
        <p:txBody>
          <a:bodyPr wrap="none" lIns="0" tIns="0" rIns="0" bIns="0" rtlCol="0" anchor="t"/>
          <a:lstStyle/>
          <a:p>
            <a:pPr marL="0" indent="0" algn="l">
              <a:lnSpc>
                <a:spcPct val="104000"/>
              </a:lnSpc>
              <a:buNone/>
            </a:pPr>
            <a:r>
              <a:rPr lang="en-US" sz="1200" b="1" dirty="0">
                <a:solidFill>
                  <a:srgbClr val="1B1B27"/>
                </a:solidFill>
                <a:latin typeface="Calibri" panose="020F0502020204030204" pitchFamily="34" charset="0"/>
                <a:ea typeface="Calibri" panose="020F0502020204030204" pitchFamily="34" charset="0"/>
                <a:cs typeface="Calibri" panose="020F0502020204030204" pitchFamily="34" charset="0"/>
              </a:rPr>
              <a:t>Voice-Over Script</a:t>
            </a:r>
            <a:endParaRPr lang="en-US" sz="1200" b="1" dirty="0"/>
          </a:p>
        </p:txBody>
      </p:sp>
      <p:sp>
        <p:nvSpPr>
          <p:cNvPr id="12" name="Text 10"/>
          <p:cNvSpPr/>
          <p:nvPr/>
        </p:nvSpPr>
        <p:spPr>
          <a:xfrm>
            <a:off x="6253502" y="2441674"/>
            <a:ext cx="5283068" cy="1041797"/>
          </a:xfrm>
          <a:prstGeom prst="rect">
            <a:avLst/>
          </a:prstGeom>
          <a:noFill/>
        </p:spPr>
        <p:txBody>
          <a:bodyPr wrap="square" lIns="0" tIns="0" rIns="0" bIns="0" rtlCol="0" anchor="t">
            <a:normAutofit/>
          </a:bodyPr>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Imagine this: You're drowning in homework, projects, and deadlines. Your planner is a mess. Your backpack is chaos. You're not alone—millions of students face this exact problem every single day. But what if someone decided to solve it? What if that someone was a teenager just like you? That's exactly what happened when Jordan, a high school student, noticed her friends struggling to stay organized. Instead of accepting the problem, she decided to become an entrepreneur.</a:t>
            </a:r>
            <a:endParaRPr lang="en-US" sz="950" dirty="0"/>
          </a:p>
        </p:txBody>
      </p:sp>
      <p:sp>
        <p:nvSpPr>
          <p:cNvPr id="13" name="Shape 11"/>
          <p:cNvSpPr/>
          <p:nvPr/>
        </p:nvSpPr>
        <p:spPr>
          <a:xfrm>
            <a:off x="661475" y="3671689"/>
            <a:ext cx="5387840" cy="1031180"/>
          </a:xfrm>
          <a:prstGeom prst="roundRect">
            <a:avLst>
              <a:gd name="adj" fmla="val 5052"/>
            </a:avLst>
          </a:prstGeom>
          <a:solidFill>
            <a:srgbClr val="E1E1EA"/>
          </a:solidFill>
          <a:ln w="6350">
            <a:solidFill>
              <a:srgbClr val="C7C7D0"/>
            </a:solidFill>
            <a:prstDash val="solid"/>
          </a:ln>
        </p:spPr>
      </p:sp>
      <p:sp>
        <p:nvSpPr>
          <p:cNvPr id="14" name="Text 12"/>
          <p:cNvSpPr/>
          <p:nvPr/>
        </p:nvSpPr>
        <p:spPr>
          <a:xfrm>
            <a:off x="791845" y="3802063"/>
            <a:ext cx="5127100" cy="193774"/>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Visual Description</a:t>
            </a:r>
            <a:endParaRPr lang="en-US" sz="1200" b="1" dirty="0"/>
          </a:p>
        </p:txBody>
      </p:sp>
      <p:sp>
        <p:nvSpPr>
          <p:cNvPr id="15" name="Text 13"/>
          <p:cNvSpPr/>
          <p:nvPr/>
        </p:nvSpPr>
        <p:spPr>
          <a:xfrm>
            <a:off x="791845" y="4051598"/>
            <a:ext cx="5127100" cy="520898"/>
          </a:xfrm>
          <a:prstGeom prst="rect">
            <a:avLst/>
          </a:prstGeom>
          <a:noFill/>
        </p:spPr>
        <p:txBody>
          <a:bodyPr wrap="square" lIns="0" tIns="0" rIns="0" bIns="0" rtlCol="0" anchor="t">
            <a:normAutofit/>
          </a:bodyPr>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Split-screen: left side — student overwhelmed with scattered books and disorganized homework. Right side — same student calm, using a color-coded digital planner. Fade to Jordan at her laptop with a determined expression.</a:t>
            </a:r>
            <a:endParaRPr lang="en-US" sz="950" dirty="0"/>
          </a:p>
        </p:txBody>
      </p:sp>
      <p:sp>
        <p:nvSpPr>
          <p:cNvPr id="16" name="Shape 14"/>
          <p:cNvSpPr/>
          <p:nvPr/>
        </p:nvSpPr>
        <p:spPr>
          <a:xfrm>
            <a:off x="6142281" y="3671689"/>
            <a:ext cx="5387939" cy="1031180"/>
          </a:xfrm>
          <a:prstGeom prst="roundRect">
            <a:avLst>
              <a:gd name="adj" fmla="val 5052"/>
            </a:avLst>
          </a:prstGeom>
          <a:solidFill>
            <a:srgbClr val="E1E1EA"/>
          </a:solidFill>
          <a:ln w="6350">
            <a:solidFill>
              <a:srgbClr val="C7C7D0"/>
            </a:solidFill>
            <a:prstDash val="solid"/>
          </a:ln>
        </p:spPr>
      </p:sp>
      <p:sp>
        <p:nvSpPr>
          <p:cNvPr id="17" name="Text 15"/>
          <p:cNvSpPr/>
          <p:nvPr/>
        </p:nvSpPr>
        <p:spPr>
          <a:xfrm>
            <a:off x="6272651" y="3802063"/>
            <a:ext cx="5127199" cy="193774"/>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Visual Sync Notes</a:t>
            </a:r>
            <a:endParaRPr lang="en-US" sz="1200" b="1" dirty="0"/>
          </a:p>
        </p:txBody>
      </p:sp>
      <p:sp>
        <p:nvSpPr>
          <p:cNvPr id="18" name="Text 16"/>
          <p:cNvSpPr/>
          <p:nvPr/>
        </p:nvSpPr>
        <p:spPr>
          <a:xfrm>
            <a:off x="6272651" y="4051598"/>
            <a:ext cx="5127199" cy="347266"/>
          </a:xfrm>
          <a:prstGeom prst="rect">
            <a:avLst/>
          </a:prstGeom>
          <a:noFill/>
        </p:spPr>
        <p:txBody>
          <a:bodyPr wrap="square" lIns="0" tIns="0" rIns="0" bIns="0" rtlCol="0" anchor="t">
            <a:normAutofit/>
          </a:bodyPr>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Upbeat, modern background music (0–30 sec). Transition at 15 sec: split-screen wipe to single focus on Jordan. Pacing: slow and deliberate to build curiosity.</a:t>
            </a:r>
            <a:endParaRPr lang="en-US" sz="950" dirty="0"/>
          </a:p>
        </p:txBody>
      </p:sp>
      <p:sp>
        <p:nvSpPr>
          <p:cNvPr id="19" name="Shape 17"/>
          <p:cNvSpPr/>
          <p:nvPr/>
        </p:nvSpPr>
        <p:spPr>
          <a:xfrm>
            <a:off x="661475" y="4795838"/>
            <a:ext cx="5387840" cy="1031180"/>
          </a:xfrm>
          <a:prstGeom prst="roundRect">
            <a:avLst>
              <a:gd name="adj" fmla="val 5052"/>
            </a:avLst>
          </a:prstGeom>
          <a:solidFill>
            <a:srgbClr val="E1E1EA"/>
          </a:solidFill>
          <a:ln w="6350">
            <a:solidFill>
              <a:srgbClr val="C7C7D0"/>
            </a:solidFill>
            <a:prstDash val="solid"/>
          </a:ln>
        </p:spPr>
      </p:sp>
      <p:sp>
        <p:nvSpPr>
          <p:cNvPr id="20" name="Text 18"/>
          <p:cNvSpPr/>
          <p:nvPr/>
        </p:nvSpPr>
        <p:spPr>
          <a:xfrm>
            <a:off x="791845" y="4926211"/>
            <a:ext cx="5127100" cy="193774"/>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Animation Notes</a:t>
            </a:r>
            <a:endParaRPr lang="en-US" sz="1200" b="1" dirty="0"/>
          </a:p>
        </p:txBody>
      </p:sp>
      <p:sp>
        <p:nvSpPr>
          <p:cNvPr id="21" name="Text 19"/>
          <p:cNvSpPr/>
          <p:nvPr/>
        </p:nvSpPr>
        <p:spPr>
          <a:xfrm>
            <a:off x="791845" y="5175746"/>
            <a:ext cx="5127100" cy="347266"/>
          </a:xfrm>
          <a:prstGeom prst="rect">
            <a:avLst/>
          </a:prstGeom>
          <a:noFill/>
        </p:spPr>
        <p:txBody>
          <a:bodyPr wrap="square" lIns="0" tIns="0" rIns="0" bIns="0" rtlCol="0" anchor="t">
            <a:normAutofit/>
          </a:bodyPr>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Fade in split-screen (0–5 sec) · Slide transition between panels (10–15 sec) · Zoom in on Jordan's face (20–25 sec) · Text appears with subtle slide-in animation.</a:t>
            </a:r>
            <a:endParaRPr lang="en-US" sz="950" dirty="0"/>
          </a:p>
        </p:txBody>
      </p:sp>
      <p:sp>
        <p:nvSpPr>
          <p:cNvPr id="22" name="Shape 20"/>
          <p:cNvSpPr/>
          <p:nvPr/>
        </p:nvSpPr>
        <p:spPr>
          <a:xfrm>
            <a:off x="6142281" y="4795838"/>
            <a:ext cx="5387939" cy="1031180"/>
          </a:xfrm>
          <a:prstGeom prst="roundRect">
            <a:avLst>
              <a:gd name="adj" fmla="val 5052"/>
            </a:avLst>
          </a:prstGeom>
          <a:solidFill>
            <a:srgbClr val="E1E1EA"/>
          </a:solidFill>
          <a:ln w="6350">
            <a:solidFill>
              <a:srgbClr val="C7C7D0"/>
            </a:solidFill>
            <a:prstDash val="solid"/>
          </a:ln>
        </p:spPr>
      </p:sp>
      <p:sp>
        <p:nvSpPr>
          <p:cNvPr id="23" name="Text 21"/>
          <p:cNvSpPr/>
          <p:nvPr/>
        </p:nvSpPr>
        <p:spPr>
          <a:xfrm>
            <a:off x="6272651" y="4926211"/>
            <a:ext cx="5127199" cy="193774"/>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Developer Notes</a:t>
            </a:r>
            <a:endParaRPr lang="en-US" sz="1200" b="1" dirty="0"/>
          </a:p>
        </p:txBody>
      </p:sp>
      <p:sp>
        <p:nvSpPr>
          <p:cNvPr id="24" name="Text 22"/>
          <p:cNvSpPr/>
          <p:nvPr/>
        </p:nvSpPr>
        <p:spPr>
          <a:xfrm>
            <a:off x="6272651" y="5175746"/>
            <a:ext cx="5127199" cy="520898"/>
          </a:xfrm>
          <a:prstGeom prst="rect">
            <a:avLst/>
          </a:prstGeom>
          <a:noFill/>
        </p:spPr>
        <p:txBody>
          <a:bodyPr wrap="square" lIns="0" tIns="0" rIns="0" bIns="0" rtlCol="0" anchor="t">
            <a:normAutofit/>
          </a:bodyPr>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Use relatable imagery — real students preferred over stock photos. Color scheme: bright blues and greens for organization theme. Font: sans-serif, easy to read for middle school audience.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894060"/>
            <a:ext cx="1162120" cy="201116"/>
          </a:xfrm>
          <a:prstGeom prst="roundRect">
            <a:avLst>
              <a:gd name="adj" fmla="val 22105"/>
            </a:avLst>
          </a:prstGeom>
          <a:solidFill>
            <a:srgbClr val="E1E1EA"/>
          </a:solidFill>
        </p:spPr>
      </p:sp>
      <p:sp>
        <p:nvSpPr>
          <p:cNvPr id="3" name="Text 1"/>
          <p:cNvSpPr/>
          <p:nvPr/>
        </p:nvSpPr>
        <p:spPr>
          <a:xfrm>
            <a:off x="740848" y="933748"/>
            <a:ext cx="1612959" cy="121741"/>
          </a:xfrm>
          <a:prstGeom prst="rect">
            <a:avLst/>
          </a:prstGeom>
          <a:noFill/>
        </p:spPr>
        <p:txBody>
          <a:bodyPr wrap="none" lIns="0" tIns="0" rIns="0" bIns="0" rtlCol="0" anchor="t"/>
          <a:lstStyle/>
          <a:p>
            <a:pPr marL="0" indent="0" algn="l">
              <a:lnSpc>
                <a:spcPct val="96000"/>
              </a:lnSpc>
              <a:buNone/>
            </a:pP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SLIDE 2 · DEFINITION</a:t>
            </a:r>
            <a:endParaRPr lang="en-US" sz="800" dirty="0"/>
          </a:p>
        </p:txBody>
      </p:sp>
      <p:sp>
        <p:nvSpPr>
          <p:cNvPr id="6" name="Text 4"/>
          <p:cNvSpPr/>
          <p:nvPr/>
        </p:nvSpPr>
        <p:spPr>
          <a:xfrm>
            <a:off x="661475" y="1137444"/>
            <a:ext cx="10868745" cy="413445"/>
          </a:xfrm>
          <a:prstGeom prst="rect">
            <a:avLst/>
          </a:prstGeom>
          <a:noFill/>
        </p:spPr>
        <p:txBody>
          <a:bodyPr wrap="none" lIns="0" tIns="0" rIns="0" bIns="0" rtlCol="0" anchor="t"/>
          <a:lstStyle/>
          <a:p>
            <a:pPr marL="0" indent="0" algn="l">
              <a:lnSpc>
                <a:spcPct val="104000"/>
              </a:lnSpc>
              <a:buNone/>
            </a:pPr>
            <a:r>
              <a:rPr lang="en-US" sz="2600" dirty="0">
                <a:solidFill>
                  <a:srgbClr val="1B1B27"/>
                </a:solidFill>
                <a:latin typeface="Calibri" panose="020F0502020204030204" pitchFamily="34" charset="0"/>
                <a:ea typeface="Calibri" panose="020F0502020204030204" pitchFamily="34" charset="0"/>
                <a:cs typeface="Calibri" panose="020F0502020204030204" pitchFamily="34" charset="0"/>
              </a:rPr>
              <a:t>Defining Entrepreneurship</a:t>
            </a:r>
            <a:endParaRPr lang="en-US" sz="2600" dirty="0"/>
          </a:p>
        </p:txBody>
      </p:sp>
      <p:sp>
        <p:nvSpPr>
          <p:cNvPr id="7" name="Text 5"/>
          <p:cNvSpPr/>
          <p:nvPr/>
        </p:nvSpPr>
        <p:spPr>
          <a:xfrm>
            <a:off x="661475" y="1709638"/>
            <a:ext cx="11478330" cy="190500"/>
          </a:xfrm>
          <a:prstGeom prst="rect">
            <a:avLst/>
          </a:prstGeom>
          <a:noFill/>
        </p:spPr>
        <p:txBody>
          <a:bodyPr wrap="none" lIns="0" tIns="0" rIns="0" bIns="0" rtlCol="0" anchor="t"/>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Concept Explanation</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 Estimated Duration: </a:t>
            </a: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45 seconds</a:t>
            </a:r>
            <a:endParaRPr lang="en-US" sz="1000" dirty="0"/>
          </a:p>
        </p:txBody>
      </p:sp>
      <p:sp>
        <p:nvSpPr>
          <p:cNvPr id="8" name="Shape 6"/>
          <p:cNvSpPr/>
          <p:nvPr/>
        </p:nvSpPr>
        <p:spPr>
          <a:xfrm>
            <a:off x="661475" y="2019201"/>
            <a:ext cx="3552339" cy="1431032"/>
          </a:xfrm>
          <a:prstGeom prst="roundRect">
            <a:avLst>
              <a:gd name="adj" fmla="val 3883"/>
            </a:avLst>
          </a:prstGeom>
          <a:solidFill>
            <a:srgbClr val="E1E1EA"/>
          </a:solidFill>
          <a:ln w="6350">
            <a:solidFill>
              <a:srgbClr val="C7C7D0"/>
            </a:solidFill>
            <a:prstDash val="solid"/>
          </a:ln>
        </p:spPr>
      </p:sp>
      <p:sp>
        <p:nvSpPr>
          <p:cNvPr id="9" name="Shape 7"/>
          <p:cNvSpPr/>
          <p:nvPr/>
        </p:nvSpPr>
        <p:spPr>
          <a:xfrm>
            <a:off x="800080" y="2157809"/>
            <a:ext cx="396865" cy="396875"/>
          </a:xfrm>
          <a:prstGeom prst="ellipse">
            <a:avLst/>
          </a:prstGeom>
          <a:solidFill>
            <a:srgbClr val="1B1B27"/>
          </a:solidFill>
        </p:spPr>
      </p:sp>
      <p:pic>
        <p:nvPicPr>
          <p:cNvPr id="10"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9218" y="2266950"/>
            <a:ext cx="178589" cy="178594"/>
          </a:xfrm>
          <a:prstGeom prst="rect">
            <a:avLst/>
          </a:prstGeom>
        </p:spPr>
      </p:pic>
      <p:sp>
        <p:nvSpPr>
          <p:cNvPr id="11" name="Text 8"/>
          <p:cNvSpPr/>
          <p:nvPr/>
        </p:nvSpPr>
        <p:spPr>
          <a:xfrm>
            <a:off x="800080" y="2660452"/>
            <a:ext cx="3275129"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Problem Solver</a:t>
            </a:r>
            <a:endParaRPr lang="en-US" sz="1300" b="1" dirty="0"/>
          </a:p>
        </p:txBody>
      </p:sp>
      <p:sp>
        <p:nvSpPr>
          <p:cNvPr id="12" name="Text 9"/>
          <p:cNvSpPr/>
          <p:nvPr/>
        </p:nvSpPr>
        <p:spPr>
          <a:xfrm>
            <a:off x="800080" y="2930624"/>
            <a:ext cx="3275129" cy="381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Identifies a real problem that needs fixing — then creates a business solution to address it.</a:t>
            </a:r>
            <a:endParaRPr lang="en-US" sz="1000" dirty="0"/>
          </a:p>
        </p:txBody>
      </p:sp>
      <p:sp>
        <p:nvSpPr>
          <p:cNvPr id="13" name="Shape 10"/>
          <p:cNvSpPr/>
          <p:nvPr/>
        </p:nvSpPr>
        <p:spPr>
          <a:xfrm>
            <a:off x="4319579" y="2019201"/>
            <a:ext cx="3552438" cy="1431032"/>
          </a:xfrm>
          <a:prstGeom prst="roundRect">
            <a:avLst>
              <a:gd name="adj" fmla="val 3883"/>
            </a:avLst>
          </a:prstGeom>
          <a:solidFill>
            <a:srgbClr val="E1E1EA"/>
          </a:solidFill>
          <a:ln w="6350">
            <a:solidFill>
              <a:srgbClr val="C7C7D0"/>
            </a:solidFill>
            <a:prstDash val="solid"/>
          </a:ln>
        </p:spPr>
      </p:sp>
      <p:sp>
        <p:nvSpPr>
          <p:cNvPr id="14" name="Shape 11"/>
          <p:cNvSpPr/>
          <p:nvPr/>
        </p:nvSpPr>
        <p:spPr>
          <a:xfrm>
            <a:off x="4458184" y="2157809"/>
            <a:ext cx="396865" cy="396875"/>
          </a:xfrm>
          <a:prstGeom prst="ellipse">
            <a:avLst/>
          </a:prstGeom>
          <a:solidFill>
            <a:srgbClr val="1B1B27"/>
          </a:solidFill>
        </p:spPr>
      </p:sp>
      <p:pic>
        <p:nvPicPr>
          <p:cNvPr id="15"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67322" y="2266950"/>
            <a:ext cx="178589" cy="178594"/>
          </a:xfrm>
          <a:prstGeom prst="rect">
            <a:avLst/>
          </a:prstGeom>
        </p:spPr>
      </p:pic>
      <p:sp>
        <p:nvSpPr>
          <p:cNvPr id="16" name="Text 12"/>
          <p:cNvSpPr/>
          <p:nvPr/>
        </p:nvSpPr>
        <p:spPr>
          <a:xfrm>
            <a:off x="4458184" y="2660452"/>
            <a:ext cx="3275228"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Risk Taker</a:t>
            </a:r>
            <a:endParaRPr lang="en-US" sz="1300" b="1" dirty="0"/>
          </a:p>
        </p:txBody>
      </p:sp>
      <p:sp>
        <p:nvSpPr>
          <p:cNvPr id="17" name="Text 13"/>
          <p:cNvSpPr/>
          <p:nvPr/>
        </p:nvSpPr>
        <p:spPr>
          <a:xfrm>
            <a:off x="4458184" y="2930624"/>
            <a:ext cx="3275228" cy="381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Invests their own money, time, and energy — knowing the outcome isn't guaranteed.</a:t>
            </a:r>
            <a:endParaRPr lang="en-US" sz="1000" dirty="0"/>
          </a:p>
        </p:txBody>
      </p:sp>
      <p:sp>
        <p:nvSpPr>
          <p:cNvPr id="18" name="Shape 14"/>
          <p:cNvSpPr/>
          <p:nvPr/>
        </p:nvSpPr>
        <p:spPr>
          <a:xfrm>
            <a:off x="7977782" y="2019201"/>
            <a:ext cx="3552438" cy="1431032"/>
          </a:xfrm>
          <a:prstGeom prst="roundRect">
            <a:avLst>
              <a:gd name="adj" fmla="val 3883"/>
            </a:avLst>
          </a:prstGeom>
          <a:solidFill>
            <a:srgbClr val="E1E1EA"/>
          </a:solidFill>
          <a:ln w="6350">
            <a:solidFill>
              <a:srgbClr val="C7C7D0"/>
            </a:solidFill>
            <a:prstDash val="solid"/>
          </a:ln>
        </p:spPr>
      </p:sp>
      <p:sp>
        <p:nvSpPr>
          <p:cNvPr id="19" name="Shape 15"/>
          <p:cNvSpPr/>
          <p:nvPr/>
        </p:nvSpPr>
        <p:spPr>
          <a:xfrm>
            <a:off x="8116387" y="2157809"/>
            <a:ext cx="396865" cy="396875"/>
          </a:xfrm>
          <a:prstGeom prst="ellipse">
            <a:avLst/>
          </a:prstGeom>
          <a:solidFill>
            <a:srgbClr val="1B1B27"/>
          </a:solidFill>
        </p:spPr>
      </p:sp>
      <p:pic>
        <p:nvPicPr>
          <p:cNvPr id="2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225525" y="2266950"/>
            <a:ext cx="178589" cy="178594"/>
          </a:xfrm>
          <a:prstGeom prst="rect">
            <a:avLst/>
          </a:prstGeom>
        </p:spPr>
      </p:pic>
      <p:sp>
        <p:nvSpPr>
          <p:cNvPr id="21" name="Text 16"/>
          <p:cNvSpPr/>
          <p:nvPr/>
        </p:nvSpPr>
        <p:spPr>
          <a:xfrm>
            <a:off x="8116387" y="2660452"/>
            <a:ext cx="3275228"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Innovator</a:t>
            </a:r>
            <a:endParaRPr lang="en-US" sz="1300" b="1" dirty="0"/>
          </a:p>
        </p:txBody>
      </p:sp>
      <p:sp>
        <p:nvSpPr>
          <p:cNvPr id="22" name="Text 17"/>
          <p:cNvSpPr/>
          <p:nvPr/>
        </p:nvSpPr>
        <p:spPr>
          <a:xfrm>
            <a:off x="8116387" y="2930624"/>
            <a:ext cx="3275228" cy="381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Imagines solutions that didn't exist before and has the courage to make them happen.</a:t>
            </a:r>
            <a:endParaRPr lang="en-US" sz="1000" dirty="0"/>
          </a:p>
        </p:txBody>
      </p:sp>
      <p:sp>
        <p:nvSpPr>
          <p:cNvPr id="23" name="Text 18"/>
          <p:cNvSpPr/>
          <p:nvPr/>
        </p:nvSpPr>
        <p:spPr>
          <a:xfrm>
            <a:off x="859907" y="3688358"/>
            <a:ext cx="10670313" cy="381000"/>
          </a:xfrm>
          <a:prstGeom prst="rect">
            <a:avLst/>
          </a:prstGeom>
          <a:noFill/>
        </p:spPr>
        <p:txBody>
          <a:bodyPr wrap="square" lIns="0" tIns="0" rIns="0" bIns="0" rtlCol="0" anchor="t">
            <a:normAutofit/>
          </a:bodyPr>
          <a:lstStyle/>
          <a:p>
            <a:pPr marL="0" indent="0" algn="l">
              <a:lnSpc>
                <a:spcPct val="120000"/>
              </a:lnSpc>
              <a:buNone/>
            </a:pP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ENTREPRENEUR = Problem Solver + Risk Taker + Innovator</a:t>
            </a:r>
            <a:endParaRPr lang="en-US" sz="1000" dirty="0"/>
          </a:p>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"They don't work for someone else — they work for themselves, and they're responsible for every decision their business makes."</a:t>
            </a:r>
            <a:endParaRPr lang="en-US" sz="1000" dirty="0"/>
          </a:p>
        </p:txBody>
      </p:sp>
      <p:sp>
        <p:nvSpPr>
          <p:cNvPr id="24" name="Shape 19"/>
          <p:cNvSpPr/>
          <p:nvPr/>
        </p:nvSpPr>
        <p:spPr>
          <a:xfrm>
            <a:off x="661475" y="3569295"/>
            <a:ext cx="19050" cy="619125"/>
          </a:xfrm>
          <a:prstGeom prst="roundRect">
            <a:avLst>
              <a:gd name="adj" fmla="val 49999"/>
            </a:avLst>
          </a:prstGeom>
          <a:solidFill>
            <a:srgbClr val="1B1B27"/>
          </a:solidFill>
        </p:spPr>
      </p:sp>
      <p:sp>
        <p:nvSpPr>
          <p:cNvPr id="25" name="Shape 20"/>
          <p:cNvSpPr/>
          <p:nvPr/>
        </p:nvSpPr>
        <p:spPr>
          <a:xfrm>
            <a:off x="566227" y="4307483"/>
            <a:ext cx="5463542" cy="1656457"/>
          </a:xfrm>
          <a:prstGeom prst="roundRect">
            <a:avLst>
              <a:gd name="adj" fmla="val 5751"/>
            </a:avLst>
          </a:prstGeom>
          <a:solidFill>
            <a:srgbClr val="1B1B27">
              <a:alpha val="95000"/>
            </a:srgbClr>
          </a:solidFill>
        </p:spPr>
      </p:sp>
      <p:sp>
        <p:nvSpPr>
          <p:cNvPr id="26" name="Text 21"/>
          <p:cNvSpPr/>
          <p:nvPr/>
        </p:nvSpPr>
        <p:spPr>
          <a:xfrm>
            <a:off x="698483" y="4413250"/>
            <a:ext cx="5199032" cy="206673"/>
          </a:xfrm>
          <a:prstGeom prst="rect">
            <a:avLst/>
          </a:prstGeom>
          <a:noFill/>
        </p:spPr>
        <p:txBody>
          <a:bodyPr wrap="none" lIns="0" tIns="0" rIns="0" bIns="0" rtlCol="0" anchor="t"/>
          <a:lstStyle/>
          <a:p>
            <a:pPr marL="0" indent="0" algn="l">
              <a:lnSpc>
                <a:spcPct val="104000"/>
              </a:lnSpc>
              <a:buNone/>
            </a:pPr>
            <a:r>
              <a:rPr lang="en-US" sz="1300" b="1" dirty="0">
                <a:solidFill>
                  <a:srgbClr val="FFFFFF"/>
                </a:solidFill>
                <a:latin typeface="Calibri" panose="020F0502020204030204" pitchFamily="34" charset="0"/>
                <a:ea typeface="Calibri" panose="020F0502020204030204" pitchFamily="34" charset="0"/>
                <a:cs typeface="Calibri" panose="020F0502020204030204" pitchFamily="34" charset="0"/>
              </a:rPr>
              <a:t>Voice-Over Script</a:t>
            </a:r>
            <a:endParaRPr lang="en-US" sz="1300" b="1" dirty="0"/>
          </a:p>
        </p:txBody>
      </p:sp>
      <p:sp>
        <p:nvSpPr>
          <p:cNvPr id="27" name="Text 22"/>
          <p:cNvSpPr/>
          <p:nvPr/>
        </p:nvSpPr>
        <p:spPr>
          <a:xfrm>
            <a:off x="698483" y="4725690"/>
            <a:ext cx="5199032" cy="1143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FFC000"/>
                </a:solidFill>
                <a:latin typeface="Cambria" panose="02040503050406030204" pitchFamily="18" charset="0"/>
                <a:ea typeface="Cambria" panose="02040503050406030204" pitchFamily="18" charset="0"/>
                <a:cs typeface="Roboto" panose="02000000000000000000" pitchFamily="34" charset="-120"/>
              </a:rPr>
              <a:t>So, what exactly is an entrepreneur? An entrepreneur is someone who identifies a problem that needs solving and creates a business solution to fix it. But it's more than just having a good idea. Entrepreneurs are risk-takers. They invest their own money, time, and energy into their business, hoping to make a profit. They don't work for someone else — they work for themselves. Think of it this way: an entrepreneur sees a problem, imagines a solution, and then has the courage to make it happen.</a:t>
            </a:r>
            <a:endParaRPr lang="en-US" sz="1000" dirty="0">
              <a:solidFill>
                <a:srgbClr val="FFC000"/>
              </a:solidFill>
            </a:endParaRPr>
          </a:p>
        </p:txBody>
      </p:sp>
      <p:sp>
        <p:nvSpPr>
          <p:cNvPr id="28" name="Text 23"/>
          <p:cNvSpPr/>
          <p:nvPr/>
        </p:nvSpPr>
        <p:spPr>
          <a:xfrm>
            <a:off x="6263523" y="4413250"/>
            <a:ext cx="5273047" cy="206673"/>
          </a:xfrm>
          <a:prstGeom prst="rect">
            <a:avLst/>
          </a:prstGeom>
          <a:noFill/>
        </p:spPr>
        <p:txBody>
          <a:bodyPr wrap="none" lIns="0" tIns="0" rIns="0" bIns="0" rtlCol="0" anchor="t"/>
          <a:lstStyle/>
          <a:p>
            <a:pPr marL="0" indent="0" algn="l">
              <a:lnSpc>
                <a:spcPct val="104000"/>
              </a:lnSpc>
              <a:buNone/>
            </a:pPr>
            <a:r>
              <a:rPr lang="en-US" sz="1300" b="1" dirty="0">
                <a:solidFill>
                  <a:srgbClr val="1B1B27"/>
                </a:solidFill>
                <a:latin typeface="Calibri" panose="020F0502020204030204" pitchFamily="34" charset="0"/>
                <a:ea typeface="Calibri" panose="020F0502020204030204" pitchFamily="34" charset="0"/>
                <a:cs typeface="Calibri" panose="020F0502020204030204" pitchFamily="34" charset="0"/>
              </a:rPr>
              <a:t>Animation &amp; Developer Notes</a:t>
            </a:r>
            <a:endParaRPr lang="en-US" sz="1300" b="1" dirty="0"/>
          </a:p>
        </p:txBody>
      </p:sp>
      <p:sp>
        <p:nvSpPr>
          <p:cNvPr id="29" name="Text 24"/>
          <p:cNvSpPr/>
          <p:nvPr/>
        </p:nvSpPr>
        <p:spPr>
          <a:xfrm>
            <a:off x="6263523" y="4725690"/>
            <a:ext cx="5273047" cy="1100534"/>
          </a:xfrm>
          <a:prstGeom prst="rect">
            <a:avLst/>
          </a:prstGeom>
          <a:noFill/>
        </p:spPr>
        <p:txBody>
          <a:bodyPr wrap="square" lIns="0" tIns="0" rIns="0" bIns="0" rtlCol="0" anchor="t">
            <a:normAutofit/>
          </a:bodyPr>
          <a:lstStyle/>
          <a:p>
            <a:pPr marL="203200" indent="-203200" algn="l">
              <a:lnSpc>
                <a:spcPct val="120000"/>
              </a:lnSpc>
              <a:buSzPct val="100000"/>
              <a:buChar char="•"/>
            </a:pPr>
            <a:r>
              <a:rPr lang="en-US" sz="1000" dirty="0">
                <a:latin typeface="Cambria" panose="02040503050406030204" pitchFamily="18" charset="0"/>
                <a:ea typeface="Cambria" panose="02040503050406030204" pitchFamily="18" charset="0"/>
                <a:cs typeface="Roboto" panose="02000000000000000000" pitchFamily="34" charset="-120"/>
              </a:rPr>
              <a:t>Word "ENTREPRENEUR" animates with letter-by-letter reveal (0–5 sec)</a:t>
            </a:r>
            <a:endParaRPr lang="en-US" sz="1000" dirty="0"/>
          </a:p>
          <a:p>
            <a:pPr marL="203200" indent="-203200" algn="l">
              <a:lnSpc>
                <a:spcPct val="120000"/>
              </a:lnSpc>
              <a:buSzPct val="100000"/>
              <a:buChar char="•"/>
            </a:pPr>
            <a:r>
              <a:rPr lang="en-US" sz="1000" dirty="0">
                <a:latin typeface="Cambria" panose="02040503050406030204" pitchFamily="18" charset="0"/>
                <a:ea typeface="Cambria" panose="02040503050406030204" pitchFamily="18" charset="0"/>
                <a:cs typeface="Roboto" panose="02000000000000000000" pitchFamily="34" charset="-120"/>
              </a:rPr>
              <a:t>Icons appear in sequence with staggered timing (5–20 sec)</a:t>
            </a:r>
            <a:endParaRPr lang="en-US" sz="1000" dirty="0"/>
          </a:p>
          <a:p>
            <a:pPr marL="203200" indent="-203200" algn="l">
              <a:lnSpc>
                <a:spcPct val="120000"/>
              </a:lnSpc>
              <a:buSzPct val="100000"/>
              <a:buChar char="•"/>
            </a:pPr>
            <a:r>
              <a:rPr lang="en-US" sz="1000" dirty="0">
                <a:latin typeface="Cambria" panose="02040503050406030204" pitchFamily="18" charset="0"/>
                <a:ea typeface="Cambria" panose="02040503050406030204" pitchFamily="18" charset="0"/>
                <a:cs typeface="Roboto" panose="02000000000000000000" pitchFamily="34" charset="-120"/>
              </a:rPr>
              <a:t>Clips fade in/out with 1-second transitions (20–45 sec)</a:t>
            </a:r>
            <a:endParaRPr lang="en-US" sz="1000" dirty="0"/>
          </a:p>
          <a:p>
            <a:pPr marL="203200" indent="-203200" algn="l">
              <a:lnSpc>
                <a:spcPct val="120000"/>
              </a:lnSpc>
              <a:buSzPct val="100000"/>
              <a:buChar char="•"/>
            </a:pPr>
            <a:r>
              <a:rPr lang="en-US" sz="1000" dirty="0">
                <a:latin typeface="Cambria" panose="02040503050406030204" pitchFamily="18" charset="0"/>
                <a:ea typeface="Cambria" panose="02040503050406030204" pitchFamily="18" charset="0"/>
                <a:cs typeface="Roboto" panose="02000000000000000000" pitchFamily="34" charset="-120"/>
              </a:rPr>
              <a:t>Keep language accessible: define "risk" and "profit" simply</a:t>
            </a:r>
            <a:endParaRPr lang="en-US" sz="1000" dirty="0"/>
          </a:p>
          <a:p>
            <a:pPr marL="203200" indent="-203200" algn="l">
              <a:lnSpc>
                <a:spcPct val="120000"/>
              </a:lnSpc>
              <a:buSzPct val="100000"/>
              <a:buChar char="•"/>
            </a:pPr>
            <a:r>
              <a:rPr lang="en-US" sz="1000" dirty="0">
                <a:latin typeface="Cambria" panose="02040503050406030204" pitchFamily="18" charset="0"/>
                <a:ea typeface="Cambria" panose="02040503050406030204" pitchFamily="18" charset="0"/>
                <a:cs typeface="Roboto" panose="02000000000000000000" pitchFamily="34" charset="-120"/>
              </a:rPr>
              <a:t>Avoid jargon; use icons and animations to break up text-heavy content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93514"/>
            <a:ext cx="694018" cy="114697"/>
          </a:xfrm>
          <a:prstGeom prst="roundRect">
            <a:avLst>
              <a:gd name="adj" fmla="val 22143"/>
            </a:avLst>
          </a:prstGeom>
          <a:solidFill>
            <a:srgbClr val="E1E1EA"/>
          </a:solidFill>
        </p:spPr>
      </p:sp>
      <p:sp>
        <p:nvSpPr>
          <p:cNvPr id="3" name="Text 1"/>
          <p:cNvSpPr/>
          <p:nvPr/>
        </p:nvSpPr>
        <p:spPr>
          <a:xfrm>
            <a:off x="706817" y="516136"/>
            <a:ext cx="1212919" cy="69453"/>
          </a:xfrm>
          <a:prstGeom prst="rect">
            <a:avLst/>
          </a:prstGeom>
          <a:noFill/>
        </p:spPr>
        <p:txBody>
          <a:bodyPr wrap="none" lIns="0" tIns="0" rIns="0" bIns="0" rtlCol="0" anchor="t"/>
          <a:lstStyle/>
          <a:p>
            <a:pPr marL="0" indent="0" algn="l">
              <a:lnSpc>
                <a:spcPct val="96000"/>
              </a:lnSpc>
              <a:buNone/>
            </a:pPr>
            <a:r>
              <a:rPr lang="en-US" sz="700" dirty="0">
                <a:solidFill>
                  <a:srgbClr val="3C3939"/>
                </a:solidFill>
                <a:latin typeface="Cambria" panose="02040503050406030204" pitchFamily="18" charset="0"/>
                <a:ea typeface="Cambria" panose="02040503050406030204" pitchFamily="18" charset="0"/>
                <a:cs typeface="Roboto" panose="02000000000000000000" pitchFamily="34" charset="-120"/>
              </a:rPr>
              <a:t>SLIDE 3 · CASE STUDY</a:t>
            </a:r>
            <a:endParaRPr lang="en-US" sz="700" dirty="0"/>
          </a:p>
        </p:txBody>
      </p:sp>
      <p:sp>
        <p:nvSpPr>
          <p:cNvPr id="6" name="Text 4"/>
          <p:cNvSpPr/>
          <p:nvPr/>
        </p:nvSpPr>
        <p:spPr>
          <a:xfrm>
            <a:off x="661475" y="622002"/>
            <a:ext cx="10868745" cy="236240"/>
          </a:xfrm>
          <a:prstGeom prst="rect">
            <a:avLst/>
          </a:prstGeom>
          <a:noFill/>
        </p:spPr>
        <p:txBody>
          <a:bodyPr wrap="none" lIns="0" tIns="0" rIns="0" bIns="0" rtlCol="0" anchor="t"/>
          <a:lstStyle/>
          <a:p>
            <a:pPr marL="0" indent="0" algn="l">
              <a:lnSpc>
                <a:spcPct val="104000"/>
              </a:lnSpc>
              <a:buNone/>
            </a:pPr>
            <a:r>
              <a:rPr lang="en-US" dirty="0">
                <a:solidFill>
                  <a:srgbClr val="1B1B27"/>
                </a:solidFill>
                <a:latin typeface="Calibri" panose="020F0502020204030204" pitchFamily="34" charset="0"/>
                <a:ea typeface="Calibri" panose="020F0502020204030204" pitchFamily="34" charset="0"/>
                <a:cs typeface="Calibri" panose="020F0502020204030204" pitchFamily="34" charset="0"/>
              </a:rPr>
              <a:t>Real-World Scenario: Jordan's Journey</a:t>
            </a:r>
            <a:endParaRPr lang="en-US" dirty="0"/>
          </a:p>
        </p:txBody>
      </p:sp>
      <p:sp>
        <p:nvSpPr>
          <p:cNvPr id="7" name="Text 5"/>
          <p:cNvSpPr/>
          <p:nvPr/>
        </p:nvSpPr>
        <p:spPr>
          <a:xfrm>
            <a:off x="661475" y="910034"/>
            <a:ext cx="11478330" cy="88106"/>
          </a:xfrm>
          <a:prstGeom prst="rect">
            <a:avLst/>
          </a:prstGeom>
          <a:noFill/>
        </p:spPr>
        <p:txBody>
          <a:bodyPr wrap="none" lIns="0" tIns="0" rIns="0" bIns="0" rtlCol="0" anchor="t"/>
          <a:lstStyle/>
          <a:p>
            <a:pPr marL="0" indent="0" algn="l">
              <a:lnSpc>
                <a:spcPct val="97000"/>
              </a:lnSpc>
              <a:buNone/>
            </a:pP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8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Case Study / Real-World Application</a:t>
            </a: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 · Estimated Duration: </a:t>
            </a:r>
            <a:r>
              <a:rPr lang="en-US" sz="8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60 seconds</a:t>
            </a:r>
            <a:endParaRPr lang="en-US" sz="800" dirty="0"/>
          </a:p>
        </p:txBody>
      </p:sp>
      <p:pic>
        <p:nvPicPr>
          <p:cNvPr id="8" name="Image 0" descr="preencoded.png"/>
          <p:cNvPicPr>
            <a:picLocks noChangeAspect="1"/>
          </p:cNvPicPr>
          <p:nvPr/>
        </p:nvPicPr>
        <p:blipFill>
          <a:blip r:embed="rId3"/>
          <a:stretch>
            <a:fillRect/>
          </a:stretch>
        </p:blipFill>
        <p:spPr>
          <a:xfrm>
            <a:off x="2563550" y="1036935"/>
            <a:ext cx="7064595" cy="3179068"/>
          </a:xfrm>
          <a:prstGeom prst="rect">
            <a:avLst/>
          </a:prstGeom>
        </p:spPr>
      </p:pic>
      <p:sp>
        <p:nvSpPr>
          <p:cNvPr id="9" name="Text 6"/>
          <p:cNvSpPr/>
          <p:nvPr/>
        </p:nvSpPr>
        <p:spPr>
          <a:xfrm>
            <a:off x="3627759" y="1210472"/>
            <a:ext cx="1236273" cy="191050"/>
          </a:xfrm>
          <a:prstGeom prst="rect">
            <a:avLst/>
          </a:prstGeom>
          <a:noFill/>
        </p:spPr>
        <p:txBody>
          <a:bodyPr wrap="none" lIns="0" tIns="0" rIns="0" bIns="0" rtlCol="0" anchor="t"/>
          <a:lstStyle/>
          <a:p>
            <a:pPr marL="0" indent="0" algn="ctr">
              <a:lnSpc>
                <a:spcPct val="104000"/>
              </a:lnSpc>
              <a:buNone/>
            </a:pPr>
            <a:r>
              <a:rPr lang="en-US" sz="1200" dirty="0">
                <a:solidFill>
                  <a:srgbClr val="3C3939"/>
                </a:solidFill>
                <a:latin typeface="Calibri" panose="020F0502020204030204" pitchFamily="34" charset="0"/>
                <a:ea typeface="Calibri" panose="020F0502020204030204" pitchFamily="34" charset="0"/>
                <a:cs typeface="Calibri" panose="020F0502020204030204" pitchFamily="34" charset="0"/>
              </a:rPr>
              <a:t>Overwhelmed</a:t>
            </a:r>
            <a:endParaRPr lang="en-US" sz="1200" dirty="0"/>
          </a:p>
        </p:txBody>
      </p:sp>
      <p:sp>
        <p:nvSpPr>
          <p:cNvPr id="10" name="Text 7"/>
          <p:cNvSpPr/>
          <p:nvPr/>
        </p:nvSpPr>
        <p:spPr>
          <a:xfrm>
            <a:off x="3627759" y="1455865"/>
            <a:ext cx="1236273" cy="222679"/>
          </a:xfrm>
          <a:prstGeom prst="rect">
            <a:avLst/>
          </a:prstGeom>
          <a:noFill/>
        </p:spPr>
        <p:txBody>
          <a:bodyPr wrap="square" lIns="0" tIns="0" rIns="0" bIns="0" rtlCol="0" anchor="t">
            <a:normAutofit/>
          </a:bodyPr>
          <a:lstStyle/>
          <a:p>
            <a:pPr marL="0" indent="0" algn="ctr">
              <a:lnSpc>
                <a:spcPct val="76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Jordan buried in school papers</a:t>
            </a:r>
            <a:endParaRPr lang="en-US" sz="950" dirty="0"/>
          </a:p>
        </p:txBody>
      </p:sp>
      <p:sp>
        <p:nvSpPr>
          <p:cNvPr id="11" name="Text 8"/>
          <p:cNvSpPr/>
          <p:nvPr/>
        </p:nvSpPr>
        <p:spPr>
          <a:xfrm>
            <a:off x="4850447" y="3594773"/>
            <a:ext cx="1243066" cy="191050"/>
          </a:xfrm>
          <a:prstGeom prst="rect">
            <a:avLst/>
          </a:prstGeom>
          <a:noFill/>
        </p:spPr>
        <p:txBody>
          <a:bodyPr wrap="none" lIns="0" tIns="0" rIns="0" bIns="0" rtlCol="0" anchor="t"/>
          <a:lstStyle/>
          <a:p>
            <a:pPr marL="0" indent="0" algn="ctr">
              <a:lnSpc>
                <a:spcPct val="104000"/>
              </a:lnSpc>
              <a:buNone/>
            </a:pPr>
            <a:r>
              <a:rPr lang="en-US" sz="1200" dirty="0">
                <a:solidFill>
                  <a:srgbClr val="3C3939"/>
                </a:solidFill>
                <a:latin typeface="Calibri" panose="020F0502020204030204" pitchFamily="34" charset="0"/>
                <a:ea typeface="Calibri" panose="020F0502020204030204" pitchFamily="34" charset="0"/>
                <a:cs typeface="Calibri" panose="020F0502020204030204" pitchFamily="34" charset="0"/>
              </a:rPr>
              <a:t>Frustration</a:t>
            </a:r>
            <a:endParaRPr lang="en-US" sz="1200" dirty="0"/>
          </a:p>
        </p:txBody>
      </p:sp>
      <p:sp>
        <p:nvSpPr>
          <p:cNvPr id="12" name="Text 9"/>
          <p:cNvSpPr/>
          <p:nvPr/>
        </p:nvSpPr>
        <p:spPr>
          <a:xfrm>
            <a:off x="4850447" y="3840166"/>
            <a:ext cx="1243066" cy="222679"/>
          </a:xfrm>
          <a:prstGeom prst="rect">
            <a:avLst/>
          </a:prstGeom>
          <a:noFill/>
        </p:spPr>
        <p:txBody>
          <a:bodyPr wrap="square" lIns="0" tIns="0" rIns="0" bIns="0" rtlCol="0" anchor="t">
            <a:normAutofit/>
          </a:bodyPr>
          <a:lstStyle/>
          <a:p>
            <a:pPr marL="0" indent="0" algn="ctr">
              <a:lnSpc>
                <a:spcPct val="76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Talking with upset friends</a:t>
            </a:r>
            <a:endParaRPr lang="en-US" sz="950" dirty="0"/>
          </a:p>
        </p:txBody>
      </p:sp>
      <p:sp>
        <p:nvSpPr>
          <p:cNvPr id="13" name="Text 10"/>
          <p:cNvSpPr/>
          <p:nvPr/>
        </p:nvSpPr>
        <p:spPr>
          <a:xfrm>
            <a:off x="6059549" y="1186697"/>
            <a:ext cx="1236273" cy="191050"/>
          </a:xfrm>
          <a:prstGeom prst="rect">
            <a:avLst/>
          </a:prstGeom>
          <a:noFill/>
        </p:spPr>
        <p:txBody>
          <a:bodyPr wrap="none" lIns="0" tIns="0" rIns="0" bIns="0" rtlCol="0" anchor="t"/>
          <a:lstStyle/>
          <a:p>
            <a:pPr marL="0" indent="0" algn="ctr">
              <a:lnSpc>
                <a:spcPct val="104000"/>
              </a:lnSpc>
              <a:buNone/>
            </a:pPr>
            <a:r>
              <a:rPr lang="en-US" sz="1200" dirty="0">
                <a:solidFill>
                  <a:srgbClr val="3C3939"/>
                </a:solidFill>
                <a:latin typeface="Calibri" panose="020F0502020204030204" pitchFamily="34" charset="0"/>
                <a:ea typeface="Calibri" panose="020F0502020204030204" pitchFamily="34" charset="0"/>
                <a:cs typeface="Calibri" panose="020F0502020204030204" pitchFamily="34" charset="0"/>
              </a:rPr>
              <a:t>Creation</a:t>
            </a:r>
            <a:endParaRPr lang="en-US" sz="1200" dirty="0"/>
          </a:p>
        </p:txBody>
      </p:sp>
      <p:sp>
        <p:nvSpPr>
          <p:cNvPr id="14" name="Text 11"/>
          <p:cNvSpPr/>
          <p:nvPr/>
        </p:nvSpPr>
        <p:spPr>
          <a:xfrm>
            <a:off x="6059549" y="1432090"/>
            <a:ext cx="1236273" cy="222679"/>
          </a:xfrm>
          <a:prstGeom prst="rect">
            <a:avLst/>
          </a:prstGeom>
          <a:noFill/>
        </p:spPr>
        <p:txBody>
          <a:bodyPr wrap="square" lIns="0" tIns="0" rIns="0" bIns="0" rtlCol="0" anchor="t">
            <a:normAutofit/>
          </a:bodyPr>
          <a:lstStyle/>
          <a:p>
            <a:pPr marL="0" indent="0" algn="ctr">
              <a:lnSpc>
                <a:spcPct val="76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Coding and sketching wireframes</a:t>
            </a:r>
            <a:endParaRPr lang="en-US" sz="950" dirty="0"/>
          </a:p>
        </p:txBody>
      </p:sp>
      <p:sp>
        <p:nvSpPr>
          <p:cNvPr id="15" name="Text 12"/>
          <p:cNvSpPr/>
          <p:nvPr/>
        </p:nvSpPr>
        <p:spPr>
          <a:xfrm>
            <a:off x="7282237" y="3594773"/>
            <a:ext cx="1236273" cy="191050"/>
          </a:xfrm>
          <a:prstGeom prst="rect">
            <a:avLst/>
          </a:prstGeom>
          <a:noFill/>
        </p:spPr>
        <p:txBody>
          <a:bodyPr wrap="none" lIns="0" tIns="0" rIns="0" bIns="0" rtlCol="0" anchor="t"/>
          <a:lstStyle/>
          <a:p>
            <a:pPr marL="0" indent="0" algn="ctr">
              <a:lnSpc>
                <a:spcPct val="104000"/>
              </a:lnSpc>
              <a:buNone/>
            </a:pPr>
            <a:r>
              <a:rPr lang="en-US" sz="1200" dirty="0">
                <a:solidFill>
                  <a:srgbClr val="3C3939"/>
                </a:solidFill>
                <a:latin typeface="Calibri" panose="020F0502020204030204" pitchFamily="34" charset="0"/>
                <a:ea typeface="Calibri" panose="020F0502020204030204" pitchFamily="34" charset="0"/>
                <a:cs typeface="Calibri" panose="020F0502020204030204" pitchFamily="34" charset="0"/>
              </a:rPr>
              <a:t>Presentation</a:t>
            </a:r>
            <a:endParaRPr lang="en-US" sz="1200" dirty="0"/>
          </a:p>
        </p:txBody>
      </p:sp>
      <p:sp>
        <p:nvSpPr>
          <p:cNvPr id="16" name="Text 13"/>
          <p:cNvSpPr/>
          <p:nvPr/>
        </p:nvSpPr>
        <p:spPr>
          <a:xfrm>
            <a:off x="7282237" y="3840166"/>
            <a:ext cx="1236273" cy="222679"/>
          </a:xfrm>
          <a:prstGeom prst="rect">
            <a:avLst/>
          </a:prstGeom>
          <a:noFill/>
        </p:spPr>
        <p:txBody>
          <a:bodyPr wrap="square" lIns="0" tIns="0" rIns="0" bIns="0" rtlCol="0" anchor="t">
            <a:normAutofit/>
          </a:bodyPr>
          <a:lstStyle/>
          <a:p>
            <a:pPr marL="0" indent="0" algn="ctr">
              <a:lnSpc>
                <a:spcPct val="76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Showing StudySync prototype</a:t>
            </a:r>
            <a:endParaRPr lang="en-US" sz="950" dirty="0"/>
          </a:p>
        </p:txBody>
      </p:sp>
      <p:sp>
        <p:nvSpPr>
          <p:cNvPr id="17" name="Text 14"/>
          <p:cNvSpPr/>
          <p:nvPr/>
        </p:nvSpPr>
        <p:spPr>
          <a:xfrm>
            <a:off x="661475" y="4254798"/>
            <a:ext cx="11478330" cy="88106"/>
          </a:xfrm>
          <a:prstGeom prst="rect">
            <a:avLst/>
          </a:prstGeom>
          <a:noFill/>
        </p:spPr>
        <p:txBody>
          <a:bodyPr wrap="none" lIns="0" tIns="0" rIns="0" bIns="0" rtlCol="0" anchor="t"/>
          <a:lstStyle/>
          <a:p>
            <a:pPr marL="0" indent="0" algn="l">
              <a:lnSpc>
                <a:spcPct val="97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Jordan's story moves from gray, muted tones of stress and chaos to bright, energetic colors as her solution takes shape — a visual metaphor for the entrepreneurial transformation.</a:t>
            </a:r>
            <a:endParaRPr lang="en-US" sz="1000" dirty="0"/>
          </a:p>
        </p:txBody>
      </p:sp>
      <p:pic>
        <p:nvPicPr>
          <p:cNvPr id="1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4381698"/>
            <a:ext cx="5417109" cy="702072"/>
          </a:xfrm>
          <a:prstGeom prst="rect">
            <a:avLst/>
          </a:prstGeom>
        </p:spPr>
      </p:pic>
      <p:sp>
        <p:nvSpPr>
          <p:cNvPr id="19" name="Text 15"/>
          <p:cNvSpPr/>
          <p:nvPr/>
        </p:nvSpPr>
        <p:spPr>
          <a:xfrm>
            <a:off x="3324588" y="4438352"/>
            <a:ext cx="90684" cy="113308"/>
          </a:xfrm>
          <a:prstGeom prst="rect">
            <a:avLst/>
          </a:prstGeom>
          <a:noFill/>
        </p:spPr>
        <p:txBody>
          <a:bodyPr wrap="none" lIns="0" tIns="0" rIns="0" bIns="0" rtlCol="0" anchor="ctr"/>
          <a:lstStyle/>
          <a:p>
            <a:pPr marL="0" indent="0" algn="ctr">
              <a:lnSpc>
                <a:spcPct val="100000"/>
              </a:lnSpc>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1</a:t>
            </a:r>
            <a:endParaRPr lang="en-US" sz="900" dirty="0"/>
          </a:p>
        </p:txBody>
      </p:sp>
      <p:sp>
        <p:nvSpPr>
          <p:cNvPr id="20" name="Text 16"/>
          <p:cNvSpPr/>
          <p:nvPr/>
        </p:nvSpPr>
        <p:spPr>
          <a:xfrm>
            <a:off x="743328" y="4558409"/>
            <a:ext cx="5253402" cy="118070"/>
          </a:xfrm>
          <a:prstGeom prst="rect">
            <a:avLst/>
          </a:prstGeom>
          <a:noFill/>
        </p:spPr>
        <p:txBody>
          <a:bodyPr wrap="none" lIns="0" tIns="0" rIns="0" bIns="0" rtlCol="0" anchor="t"/>
          <a:lstStyle/>
          <a:p>
            <a:pPr marL="0" indent="0" algn="l">
              <a:lnSpc>
                <a:spcPct val="104000"/>
              </a:lnSpc>
              <a:buNone/>
            </a:pPr>
            <a:r>
              <a:rPr lang="en-US" sz="1100" b="1" dirty="0">
                <a:solidFill>
                  <a:schemeClr val="tx2"/>
                </a:solidFill>
                <a:latin typeface="Calibri" panose="020F0502020204030204" pitchFamily="34" charset="0"/>
                <a:ea typeface="Calibri" panose="020F0502020204030204" pitchFamily="34" charset="0"/>
                <a:cs typeface="Calibri" panose="020F0502020204030204" pitchFamily="34" charset="0"/>
              </a:rPr>
              <a:t>The Problem</a:t>
            </a:r>
            <a:endParaRPr lang="en-US" sz="1100" b="1" dirty="0">
              <a:solidFill>
                <a:schemeClr val="tx2"/>
              </a:solidFill>
            </a:endParaRPr>
          </a:p>
        </p:txBody>
      </p:sp>
      <p:sp>
        <p:nvSpPr>
          <p:cNvPr id="21" name="Text 17"/>
          <p:cNvSpPr/>
          <p:nvPr/>
        </p:nvSpPr>
        <p:spPr>
          <a:xfrm>
            <a:off x="743328" y="4724012"/>
            <a:ext cx="5253402" cy="88106"/>
          </a:xfrm>
          <a:prstGeom prst="rect">
            <a:avLst/>
          </a:prstGeom>
          <a:noFill/>
        </p:spPr>
        <p:txBody>
          <a:bodyPr wrap="none" lIns="0" tIns="0" rIns="0" bIns="0" rtlCol="0" anchor="t"/>
          <a:lstStyle/>
          <a:p>
            <a:pPr marL="0" indent="0" algn="l">
              <a:lnSpc>
                <a:spcPct val="97000"/>
              </a:lnSpc>
              <a:buNone/>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Students can't stay organized — Jordan herself was drowning in deadlines, assignments, and scattered</a:t>
            </a:r>
          </a:p>
          <a:p>
            <a:pPr marL="0" indent="0" algn="l">
              <a:lnSpc>
                <a:spcPct val="97000"/>
              </a:lnSpc>
              <a:buNone/>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 study schedules.</a:t>
            </a:r>
            <a:endParaRPr lang="en-US" sz="900" dirty="0"/>
          </a:p>
        </p:txBody>
      </p:sp>
      <p:pic>
        <p:nvPicPr>
          <p:cNvPr id="22"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13111" y="4381698"/>
            <a:ext cx="5594795" cy="702072"/>
          </a:xfrm>
          <a:prstGeom prst="rect">
            <a:avLst/>
          </a:prstGeom>
        </p:spPr>
      </p:pic>
      <p:sp>
        <p:nvSpPr>
          <p:cNvPr id="23" name="Text 18"/>
          <p:cNvSpPr/>
          <p:nvPr/>
        </p:nvSpPr>
        <p:spPr>
          <a:xfrm>
            <a:off x="8838980" y="4438352"/>
            <a:ext cx="90684" cy="113308"/>
          </a:xfrm>
          <a:prstGeom prst="rect">
            <a:avLst/>
          </a:prstGeom>
          <a:noFill/>
        </p:spPr>
        <p:txBody>
          <a:bodyPr wrap="none" lIns="0" tIns="0" rIns="0" bIns="0" rtlCol="0" anchor="ctr"/>
          <a:lstStyle/>
          <a:p>
            <a:pPr marL="0" indent="0" algn="ctr">
              <a:lnSpc>
                <a:spcPct val="100000"/>
              </a:lnSpc>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2</a:t>
            </a:r>
            <a:endParaRPr lang="en-US" sz="900" dirty="0"/>
          </a:p>
        </p:txBody>
      </p:sp>
      <p:sp>
        <p:nvSpPr>
          <p:cNvPr id="24" name="Text 19"/>
          <p:cNvSpPr/>
          <p:nvPr/>
        </p:nvSpPr>
        <p:spPr>
          <a:xfrm>
            <a:off x="6194965" y="4603234"/>
            <a:ext cx="5253402" cy="118070"/>
          </a:xfrm>
          <a:prstGeom prst="rect">
            <a:avLst/>
          </a:prstGeom>
          <a:noFill/>
        </p:spPr>
        <p:txBody>
          <a:bodyPr wrap="none" lIns="0" tIns="0" rIns="0" bIns="0" rtlCol="0" anchor="t"/>
          <a:lstStyle/>
          <a:p>
            <a:pPr marL="0" indent="0" algn="l">
              <a:lnSpc>
                <a:spcPct val="104000"/>
              </a:lnSpc>
              <a:buNone/>
            </a:pPr>
            <a:r>
              <a:rPr lang="en-US" sz="1100" b="1" dirty="0">
                <a:solidFill>
                  <a:schemeClr val="tx2"/>
                </a:solidFill>
                <a:latin typeface="Calibri" panose="020F0502020204030204" pitchFamily="34" charset="0"/>
                <a:ea typeface="Calibri" panose="020F0502020204030204" pitchFamily="34" charset="0"/>
                <a:cs typeface="Calibri" panose="020F0502020204030204" pitchFamily="34" charset="0"/>
              </a:rPr>
              <a:t>The Risk</a:t>
            </a:r>
            <a:endParaRPr lang="en-US" sz="1100" b="1" dirty="0">
              <a:solidFill>
                <a:schemeClr val="tx2"/>
              </a:solidFill>
            </a:endParaRPr>
          </a:p>
        </p:txBody>
      </p:sp>
      <p:sp>
        <p:nvSpPr>
          <p:cNvPr id="25" name="Text 20"/>
          <p:cNvSpPr/>
          <p:nvPr/>
        </p:nvSpPr>
        <p:spPr>
          <a:xfrm>
            <a:off x="6194965" y="4822627"/>
            <a:ext cx="5253402" cy="88106"/>
          </a:xfrm>
          <a:prstGeom prst="rect">
            <a:avLst/>
          </a:prstGeom>
          <a:noFill/>
        </p:spPr>
        <p:txBody>
          <a:bodyPr wrap="none" lIns="0" tIns="0" rIns="0" bIns="0" rtlCol="0" anchor="t"/>
          <a:lstStyle/>
          <a:p>
            <a:pPr marL="0" indent="0" algn="l">
              <a:lnSpc>
                <a:spcPct val="97000"/>
              </a:lnSpc>
              <a:buNone/>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Jordan invested</a:t>
            </a:r>
            <a:r>
              <a:rPr lang="en-US" sz="9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 of her own savings</a:t>
            </a: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 from part-time jobs — money she could lose entirely if the app didn't work.</a:t>
            </a:r>
            <a:endParaRPr lang="en-US" sz="900" dirty="0"/>
          </a:p>
        </p:txBody>
      </p:sp>
      <p:pic>
        <p:nvPicPr>
          <p:cNvPr id="26"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5027116"/>
            <a:ext cx="5417109" cy="610890"/>
          </a:xfrm>
          <a:prstGeom prst="rect">
            <a:avLst/>
          </a:prstGeom>
        </p:spPr>
      </p:pic>
      <p:sp>
        <p:nvSpPr>
          <p:cNvPr id="27" name="Text 21"/>
          <p:cNvSpPr/>
          <p:nvPr/>
        </p:nvSpPr>
        <p:spPr>
          <a:xfrm>
            <a:off x="3324588" y="5083770"/>
            <a:ext cx="90684" cy="113308"/>
          </a:xfrm>
          <a:prstGeom prst="rect">
            <a:avLst/>
          </a:prstGeom>
          <a:noFill/>
        </p:spPr>
        <p:txBody>
          <a:bodyPr wrap="none" lIns="0" tIns="0" rIns="0" bIns="0" rtlCol="0" anchor="ctr"/>
          <a:lstStyle/>
          <a:p>
            <a:pPr marL="0" indent="0" algn="ctr">
              <a:lnSpc>
                <a:spcPct val="100000"/>
              </a:lnSpc>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3</a:t>
            </a:r>
            <a:endParaRPr lang="en-US" sz="900" dirty="0"/>
          </a:p>
        </p:txBody>
      </p:sp>
      <p:sp>
        <p:nvSpPr>
          <p:cNvPr id="28" name="Text 22"/>
          <p:cNvSpPr/>
          <p:nvPr/>
        </p:nvSpPr>
        <p:spPr>
          <a:xfrm>
            <a:off x="743328" y="5203827"/>
            <a:ext cx="5253402" cy="118070"/>
          </a:xfrm>
          <a:prstGeom prst="rect">
            <a:avLst/>
          </a:prstGeom>
          <a:noFill/>
        </p:spPr>
        <p:txBody>
          <a:bodyPr wrap="none" lIns="0" tIns="0" rIns="0" bIns="0" rtlCol="0" anchor="t"/>
          <a:lstStyle/>
          <a:p>
            <a:pPr marL="0" indent="0" algn="l">
              <a:lnSpc>
                <a:spcPct val="104000"/>
              </a:lnSpc>
              <a:buNone/>
            </a:pPr>
            <a:r>
              <a:rPr lang="en-US" sz="1100" b="1" dirty="0">
                <a:solidFill>
                  <a:schemeClr val="tx2"/>
                </a:solidFill>
                <a:latin typeface="Calibri" panose="020F0502020204030204" pitchFamily="34" charset="0"/>
                <a:ea typeface="Calibri" panose="020F0502020204030204" pitchFamily="34" charset="0"/>
                <a:cs typeface="Calibri" panose="020F0502020204030204" pitchFamily="34" charset="0"/>
              </a:rPr>
              <a:t>The Solution</a:t>
            </a:r>
            <a:endParaRPr lang="en-US" sz="1100" b="1" dirty="0">
              <a:solidFill>
                <a:schemeClr val="tx2"/>
              </a:solidFill>
            </a:endParaRPr>
          </a:p>
        </p:txBody>
      </p:sp>
      <p:sp>
        <p:nvSpPr>
          <p:cNvPr id="29" name="Text 23"/>
          <p:cNvSpPr/>
          <p:nvPr/>
        </p:nvSpPr>
        <p:spPr>
          <a:xfrm>
            <a:off x="743328" y="5378395"/>
            <a:ext cx="5253402" cy="88106"/>
          </a:xfrm>
          <a:prstGeom prst="rect">
            <a:avLst/>
          </a:prstGeom>
          <a:noFill/>
        </p:spPr>
        <p:txBody>
          <a:bodyPr wrap="none" lIns="0" tIns="0" rIns="0" bIns="0" rtlCol="0" anchor="t"/>
          <a:lstStyle/>
          <a:p>
            <a:pPr marL="0" indent="0" algn="l">
              <a:lnSpc>
                <a:spcPct val="97000"/>
              </a:lnSpc>
              <a:buNone/>
            </a:pPr>
            <a:r>
              <a:rPr lang="en-US" sz="8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StudySync</a:t>
            </a: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 — a free student planner app she taught herself to code after three months of research </a:t>
            </a:r>
          </a:p>
          <a:p>
            <a:pPr marL="0" indent="0" algn="l">
              <a:lnSpc>
                <a:spcPct val="97000"/>
              </a:lnSpc>
              <a:buNone/>
            </a:pP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with classmates, teachers, and parents.</a:t>
            </a:r>
            <a:endParaRPr lang="en-US" sz="800" dirty="0"/>
          </a:p>
        </p:txBody>
      </p:sp>
      <p:pic>
        <p:nvPicPr>
          <p:cNvPr id="30"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13111" y="5027116"/>
            <a:ext cx="5417109" cy="610890"/>
          </a:xfrm>
          <a:prstGeom prst="rect">
            <a:avLst/>
          </a:prstGeom>
        </p:spPr>
      </p:pic>
      <p:sp>
        <p:nvSpPr>
          <p:cNvPr id="31" name="Text 24"/>
          <p:cNvSpPr/>
          <p:nvPr/>
        </p:nvSpPr>
        <p:spPr>
          <a:xfrm>
            <a:off x="8776225" y="5083770"/>
            <a:ext cx="90684" cy="113308"/>
          </a:xfrm>
          <a:prstGeom prst="rect">
            <a:avLst/>
          </a:prstGeom>
          <a:noFill/>
        </p:spPr>
        <p:txBody>
          <a:bodyPr wrap="none" lIns="0" tIns="0" rIns="0" bIns="0" rtlCol="0" anchor="ctr"/>
          <a:lstStyle/>
          <a:p>
            <a:pPr marL="0" indent="0" algn="ctr">
              <a:lnSpc>
                <a:spcPct val="100000"/>
              </a:lnSpc>
              <a:buNone/>
            </a:pPr>
            <a:r>
              <a:rPr lang="en-US" sz="900" dirty="0">
                <a:solidFill>
                  <a:srgbClr val="FFFFFF"/>
                </a:solidFill>
                <a:latin typeface="Calibri" panose="020F0502020204030204" pitchFamily="34" charset="0"/>
                <a:ea typeface="Calibri" panose="020F0502020204030204" pitchFamily="34" charset="0"/>
                <a:cs typeface="Calibri" panose="020F0502020204030204" pitchFamily="34" charset="0"/>
              </a:rPr>
              <a:t>4</a:t>
            </a:r>
            <a:endParaRPr lang="en-US" sz="900" dirty="0"/>
          </a:p>
        </p:txBody>
      </p:sp>
      <p:sp>
        <p:nvSpPr>
          <p:cNvPr id="32" name="Text 25"/>
          <p:cNvSpPr/>
          <p:nvPr/>
        </p:nvSpPr>
        <p:spPr>
          <a:xfrm>
            <a:off x="6194965" y="5150037"/>
            <a:ext cx="5253402" cy="118070"/>
          </a:xfrm>
          <a:prstGeom prst="rect">
            <a:avLst/>
          </a:prstGeom>
          <a:noFill/>
        </p:spPr>
        <p:txBody>
          <a:bodyPr wrap="none" lIns="0" tIns="0" rIns="0" bIns="0" rtlCol="0" anchor="t"/>
          <a:lstStyle/>
          <a:p>
            <a:pPr marL="0" indent="0" algn="l">
              <a:lnSpc>
                <a:spcPct val="104000"/>
              </a:lnSpc>
              <a:buNone/>
            </a:pPr>
            <a:r>
              <a:rPr lang="en-US" sz="1100" b="1" dirty="0">
                <a:solidFill>
                  <a:schemeClr val="tx2"/>
                </a:solidFill>
                <a:latin typeface="Calibri" panose="020F0502020204030204" pitchFamily="34" charset="0"/>
                <a:ea typeface="Calibri" panose="020F0502020204030204" pitchFamily="34" charset="0"/>
                <a:cs typeface="Calibri" panose="020F0502020204030204" pitchFamily="34" charset="0"/>
              </a:rPr>
              <a:t>The Reward</a:t>
            </a:r>
            <a:endParaRPr lang="en-US" sz="1100" b="1" dirty="0">
              <a:solidFill>
                <a:schemeClr val="tx2"/>
              </a:solidFill>
            </a:endParaRPr>
          </a:p>
        </p:txBody>
      </p:sp>
      <p:sp>
        <p:nvSpPr>
          <p:cNvPr id="33" name="Text 26"/>
          <p:cNvSpPr/>
          <p:nvPr/>
        </p:nvSpPr>
        <p:spPr>
          <a:xfrm>
            <a:off x="6194965" y="5369429"/>
            <a:ext cx="5808776" cy="186722"/>
          </a:xfrm>
          <a:prstGeom prst="rect">
            <a:avLst/>
          </a:prstGeom>
          <a:noFill/>
        </p:spPr>
        <p:txBody>
          <a:bodyPr wrap="none" lIns="0" tIns="0" rIns="0" bIns="0" rtlCol="0" anchor="t"/>
          <a:lstStyle/>
          <a:p>
            <a:pPr>
              <a:lnSpc>
                <a:spcPct val="97000"/>
              </a:lnSpc>
            </a:pPr>
            <a:r>
              <a:rPr lang="en-US" sz="900" dirty="0"/>
              <a:t>The app quickly gained popularity among students. </a:t>
            </a:r>
            <a:r>
              <a:rPr lang="en-US" sz="9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in 6 months.</a:t>
            </a: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 Today Jordan runs her own business, </a:t>
            </a:r>
          </a:p>
          <a:p>
            <a:pPr>
              <a:lnSpc>
                <a:spcPct val="97000"/>
              </a:lnSpc>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helping thousands  of students stay organized.  That's entrepreneurship in action.</a:t>
            </a:r>
            <a:endParaRPr lang="en-US" sz="900" dirty="0"/>
          </a:p>
        </p:txBody>
      </p:sp>
      <p:sp>
        <p:nvSpPr>
          <p:cNvPr id="34" name="Shape 27"/>
          <p:cNvSpPr/>
          <p:nvPr/>
        </p:nvSpPr>
        <p:spPr>
          <a:xfrm>
            <a:off x="607005" y="5676801"/>
            <a:ext cx="5451140" cy="840540"/>
          </a:xfrm>
          <a:prstGeom prst="roundRect">
            <a:avLst>
              <a:gd name="adj" fmla="val 7914"/>
            </a:avLst>
          </a:prstGeom>
          <a:solidFill>
            <a:srgbClr val="1B1B27">
              <a:alpha val="95000"/>
            </a:srgbClr>
          </a:solidFill>
        </p:spPr>
      </p:sp>
      <p:sp>
        <p:nvSpPr>
          <p:cNvPr id="35" name="Text 28"/>
          <p:cNvSpPr/>
          <p:nvPr/>
        </p:nvSpPr>
        <p:spPr>
          <a:xfrm>
            <a:off x="682509" y="5711329"/>
            <a:ext cx="5300133" cy="118070"/>
          </a:xfrm>
          <a:prstGeom prst="rect">
            <a:avLst/>
          </a:prstGeom>
          <a:noFill/>
        </p:spPr>
        <p:txBody>
          <a:bodyPr wrap="none" lIns="0" tIns="0" rIns="0" bIns="0" rtlCol="0" anchor="t"/>
          <a:lstStyle/>
          <a:p>
            <a:pPr marL="0" indent="0" algn="l">
              <a:lnSpc>
                <a:spcPct val="104000"/>
              </a:lnSpc>
              <a:buNone/>
            </a:pPr>
            <a:r>
              <a:rPr lang="en-US" sz="1050" b="1" dirty="0">
                <a:solidFill>
                  <a:srgbClr val="FFFFFF"/>
                </a:solidFill>
                <a:latin typeface="Calibri" panose="020F0502020204030204" pitchFamily="34" charset="0"/>
                <a:ea typeface="Calibri" panose="020F0502020204030204" pitchFamily="34" charset="0"/>
                <a:cs typeface="Calibri" panose="020F0502020204030204" pitchFamily="34" charset="0"/>
              </a:rPr>
              <a:t>Voice-Over Script </a:t>
            </a:r>
            <a:endParaRPr lang="en-US" sz="1050" b="1" dirty="0"/>
          </a:p>
        </p:txBody>
      </p:sp>
      <p:sp>
        <p:nvSpPr>
          <p:cNvPr id="36" name="Text 29"/>
          <p:cNvSpPr/>
          <p:nvPr/>
        </p:nvSpPr>
        <p:spPr>
          <a:xfrm>
            <a:off x="682509" y="5926682"/>
            <a:ext cx="5300133" cy="264319"/>
          </a:xfrm>
          <a:prstGeom prst="rect">
            <a:avLst/>
          </a:prstGeom>
          <a:noFill/>
        </p:spPr>
        <p:txBody>
          <a:bodyPr wrap="square" lIns="0" tIns="0" rIns="0" bIns="0" rtlCol="0" anchor="t">
            <a:noAutofit/>
          </a:bodyPr>
          <a:lstStyle/>
          <a:p>
            <a:pPr>
              <a:lnSpc>
                <a:spcPct val="97000"/>
              </a:lnSpc>
            </a:pPr>
            <a:r>
              <a:rPr lang="en-US" sz="900" dirty="0">
                <a:solidFill>
                  <a:srgbClr val="FFC000"/>
                </a:solidFill>
              </a:rPr>
              <a:t>Jordan spent time understanding what students really needed. She spoke with classmates, teachers, and parents before building </a:t>
            </a:r>
            <a:r>
              <a:rPr lang="en-US" sz="900" dirty="0" err="1">
                <a:solidFill>
                  <a:srgbClr val="FFC000"/>
                </a:solidFill>
              </a:rPr>
              <a:t>StudySync</a:t>
            </a:r>
            <a:r>
              <a:rPr lang="en-US" sz="900" dirty="0">
                <a:solidFill>
                  <a:srgbClr val="FFC000"/>
                </a:solidFill>
              </a:rPr>
              <a:t>. She invested her own savings and launched the app. As more students found it useful, the app gained popularity and helped learners stay organized.</a:t>
            </a:r>
          </a:p>
        </p:txBody>
      </p:sp>
      <p:sp>
        <p:nvSpPr>
          <p:cNvPr id="37" name="Text 30"/>
          <p:cNvSpPr/>
          <p:nvPr/>
        </p:nvSpPr>
        <p:spPr>
          <a:xfrm>
            <a:off x="6194369" y="5711329"/>
            <a:ext cx="5342201" cy="118070"/>
          </a:xfrm>
          <a:prstGeom prst="rect">
            <a:avLst/>
          </a:prstGeom>
          <a:noFill/>
        </p:spPr>
        <p:txBody>
          <a:bodyPr wrap="none" lIns="0" tIns="0" rIns="0" bIns="0" rtlCol="0" anchor="t"/>
          <a:lstStyle/>
          <a:p>
            <a:pPr marL="0" indent="0" algn="l">
              <a:lnSpc>
                <a:spcPct val="104000"/>
              </a:lnSpc>
              <a:buNone/>
            </a:pPr>
            <a:r>
              <a:rPr lang="en-US" sz="1050" b="1" dirty="0">
                <a:solidFill>
                  <a:srgbClr val="1B1B27"/>
                </a:solidFill>
                <a:latin typeface="Calibri" panose="020F0502020204030204" pitchFamily="34" charset="0"/>
                <a:ea typeface="Calibri" panose="020F0502020204030204" pitchFamily="34" charset="0"/>
                <a:cs typeface="Calibri" panose="020F0502020204030204" pitchFamily="34" charset="0"/>
              </a:rPr>
              <a:t>Animation &amp; Developer Notes</a:t>
            </a:r>
            <a:endParaRPr lang="en-US" sz="1050" b="1" dirty="0"/>
          </a:p>
        </p:txBody>
      </p:sp>
      <p:sp>
        <p:nvSpPr>
          <p:cNvPr id="38" name="Text 31"/>
          <p:cNvSpPr/>
          <p:nvPr/>
        </p:nvSpPr>
        <p:spPr>
          <a:xfrm>
            <a:off x="6194369" y="5881857"/>
            <a:ext cx="5342201" cy="488553"/>
          </a:xfrm>
          <a:prstGeom prst="rect">
            <a:avLst/>
          </a:prstGeom>
          <a:noFill/>
        </p:spPr>
        <p:txBody>
          <a:bodyPr wrap="square" lIns="0" tIns="0" rIns="0" bIns="0" rtlCol="0" anchor="t">
            <a:noAutofit/>
          </a:bodyPr>
          <a:lstStyle/>
          <a:p>
            <a:pPr marL="111760" indent="-111760" algn="l">
              <a:lnSpc>
                <a:spcPct val="97000"/>
              </a:lnSpc>
              <a:buSzPct val="100000"/>
              <a:buChar char="•"/>
            </a:pPr>
            <a:r>
              <a:rPr lang="en-US" sz="900" dirty="0">
                <a:solidFill>
                  <a:schemeClr val="tx2"/>
                </a:solidFill>
                <a:latin typeface="Cambria" panose="02040503050406030204" pitchFamily="18" charset="0"/>
                <a:ea typeface="Cambria" panose="02040503050406030204" pitchFamily="18" charset="0"/>
                <a:cs typeface="Roboto" panose="02000000000000000000" pitchFamily="34" charset="-120"/>
              </a:rPr>
              <a:t>Scene transitions: fade to black between scenes (3-second transitions)</a:t>
            </a:r>
            <a:endParaRPr lang="en-US" sz="900" dirty="0">
              <a:solidFill>
                <a:schemeClr val="tx2"/>
              </a:solidFill>
            </a:endParaRPr>
          </a:p>
          <a:p>
            <a:pPr marL="111760" indent="-111760" algn="l">
              <a:lnSpc>
                <a:spcPct val="97000"/>
              </a:lnSpc>
              <a:buSzPct val="100000"/>
              <a:buChar char="•"/>
            </a:pPr>
            <a:r>
              <a:rPr lang="en-US" sz="900" dirty="0">
                <a:solidFill>
                  <a:schemeClr val="tx2"/>
                </a:solidFill>
                <a:latin typeface="Cambria" panose="02040503050406030204" pitchFamily="18" charset="0"/>
                <a:ea typeface="Cambria" panose="02040503050406030204" pitchFamily="18" charset="0"/>
                <a:cs typeface="Roboto" panose="02000000000000000000" pitchFamily="34" charset="-120"/>
              </a:rPr>
              <a:t>Tone shift from minor key (problem) to major key (solution)</a:t>
            </a:r>
            <a:endParaRPr lang="en-US" sz="900" dirty="0">
              <a:solidFill>
                <a:schemeClr val="tx2"/>
              </a:solidFill>
            </a:endParaRPr>
          </a:p>
          <a:p>
            <a:pPr marL="111760" indent="-111760" algn="l">
              <a:lnSpc>
                <a:spcPct val="97000"/>
              </a:lnSpc>
              <a:buSzPct val="100000"/>
              <a:buChar char="•"/>
            </a:pPr>
            <a:r>
              <a:rPr lang="en-US" sz="900" dirty="0">
                <a:solidFill>
                  <a:schemeClr val="tx2"/>
                </a:solidFill>
                <a:latin typeface="Cambria" panose="02040503050406030204" pitchFamily="18" charset="0"/>
                <a:ea typeface="Cambria" panose="02040503050406030204" pitchFamily="18" charset="0"/>
                <a:cs typeface="Roboto" panose="02000000000000000000" pitchFamily="34" charset="-120"/>
              </a:rPr>
              <a:t>Zoom effect on app interface (30–45 sec)</a:t>
            </a:r>
            <a:endParaRPr lang="en-US" sz="900" dirty="0">
              <a:solidFill>
                <a:schemeClr val="tx2"/>
              </a:solidFill>
            </a:endParaRPr>
          </a:p>
          <a:p>
            <a:pPr marL="111760" indent="-111760" algn="l">
              <a:lnSpc>
                <a:spcPct val="97000"/>
              </a:lnSpc>
              <a:buSzPct val="100000"/>
              <a:buChar char="•"/>
            </a:pPr>
            <a:r>
              <a:rPr lang="en-US" sz="900" dirty="0">
                <a:solidFill>
                  <a:schemeClr val="tx2"/>
                </a:solidFill>
                <a:latin typeface="Cambria" panose="02040503050406030204" pitchFamily="18" charset="0"/>
                <a:ea typeface="Cambria" panose="02040503050406030204" pitchFamily="18" charset="0"/>
                <a:cs typeface="Roboto" panose="02000000000000000000" pitchFamily="34" charset="-120"/>
              </a:rPr>
              <a:t>Celebration animation when download number appears (45–50 sec)</a:t>
            </a:r>
            <a:endParaRPr lang="en-US" sz="900" dirty="0">
              <a:solidFill>
                <a:schemeClr val="tx2"/>
              </a:solidFill>
            </a:endParaRPr>
          </a:p>
          <a:p>
            <a:pPr marL="111760" indent="-111760" algn="l">
              <a:lnSpc>
                <a:spcPct val="97000"/>
              </a:lnSpc>
              <a:buSzPct val="100000"/>
              <a:buChar char="•"/>
            </a:pPr>
            <a:r>
              <a:rPr lang="en-US" sz="900" dirty="0">
                <a:solidFill>
                  <a:schemeClr val="tx2"/>
                </a:solidFill>
                <a:latin typeface="Cambria" panose="02040503050406030204" pitchFamily="18" charset="0"/>
                <a:ea typeface="Cambria" panose="02040503050406030204" pitchFamily="18" charset="0"/>
                <a:cs typeface="Roboto" panose="02000000000000000000" pitchFamily="34" charset="-120"/>
              </a:rPr>
              <a:t>Show actual app interface if possible; emphasize the risk-taking aspect</a:t>
            </a:r>
            <a:endParaRPr lang="en-US" sz="900" dirty="0">
              <a:solidFill>
                <a:schemeClr val="tx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32557"/>
            <a:ext cx="1712374" cy="226219"/>
          </a:xfrm>
          <a:prstGeom prst="roundRect">
            <a:avLst>
              <a:gd name="adj" fmla="val 22109"/>
            </a:avLst>
          </a:prstGeom>
          <a:solidFill>
            <a:srgbClr val="E1E1EA"/>
          </a:solidFill>
        </p:spPr>
      </p:sp>
      <p:sp>
        <p:nvSpPr>
          <p:cNvPr id="3" name="Text 1"/>
          <p:cNvSpPr/>
          <p:nvPr/>
        </p:nvSpPr>
        <p:spPr>
          <a:xfrm>
            <a:off x="750769" y="977205"/>
            <a:ext cx="2143369" cy="136922"/>
          </a:xfrm>
          <a:prstGeom prst="rect">
            <a:avLst/>
          </a:prstGeom>
          <a:noFill/>
        </p:spPr>
        <p:txBody>
          <a:bodyPr wrap="none" lIns="0" tIns="0" rIns="0" bIns="0" rtlCol="0" anchor="t"/>
          <a:lstStyle/>
          <a:p>
            <a:pPr marL="0" indent="0" algn="l">
              <a:lnSpc>
                <a:spcPct val="96000"/>
              </a:lnSpc>
              <a:buNone/>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SLIDE 4 · CHARACTERISTICS</a:t>
            </a:r>
            <a:endParaRPr lang="en-US" sz="900" dirty="0"/>
          </a:p>
        </p:txBody>
      </p:sp>
      <p:sp>
        <p:nvSpPr>
          <p:cNvPr id="6" name="Text 4"/>
          <p:cNvSpPr/>
          <p:nvPr/>
        </p:nvSpPr>
        <p:spPr>
          <a:xfrm>
            <a:off x="661475" y="1212354"/>
            <a:ext cx="10868745" cy="465138"/>
          </a:xfrm>
          <a:prstGeom prst="rect">
            <a:avLst/>
          </a:prstGeom>
          <a:noFill/>
        </p:spPr>
        <p:txBody>
          <a:bodyPr wrap="none" lIns="0" tIns="0" rIns="0" bIns="0" rtlCol="0" anchor="t"/>
          <a:lstStyle/>
          <a:p>
            <a:pPr marL="0" indent="0" algn="l">
              <a:lnSpc>
                <a:spcPct val="104000"/>
              </a:lnSpc>
              <a:buNone/>
            </a:pPr>
            <a:r>
              <a:rPr lang="en-US" sz="2900" dirty="0">
                <a:solidFill>
                  <a:srgbClr val="1B1B27"/>
                </a:solidFill>
                <a:latin typeface="Calibri" panose="020F0502020204030204" pitchFamily="34" charset="0"/>
                <a:ea typeface="Calibri" panose="020F0502020204030204" pitchFamily="34" charset="0"/>
                <a:cs typeface="Calibri" panose="020F0502020204030204" pitchFamily="34" charset="0"/>
              </a:rPr>
              <a:t>Characteristics of Entrepreneurs</a:t>
            </a:r>
            <a:endParaRPr lang="en-US" sz="2900" dirty="0"/>
          </a:p>
        </p:txBody>
      </p:sp>
      <p:sp>
        <p:nvSpPr>
          <p:cNvPr id="7" name="Text 5"/>
          <p:cNvSpPr/>
          <p:nvPr/>
        </p:nvSpPr>
        <p:spPr>
          <a:xfrm>
            <a:off x="661475" y="1878409"/>
            <a:ext cx="11478330" cy="226219"/>
          </a:xfrm>
          <a:prstGeom prst="rect">
            <a:avLst/>
          </a:prstGeom>
          <a:noFill/>
        </p:spPr>
        <p:txBody>
          <a:bodyPr wrap="none" lIns="0" tIns="0" rIns="0" bIns="0" rtlCol="0" anchor="t"/>
          <a:lstStyle/>
          <a:p>
            <a:pPr marL="0" indent="0" algn="l">
              <a:lnSpc>
                <a:spcPct val="127000"/>
              </a:lnSpc>
              <a:buNone/>
            </a:pP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1150" b="1" dirty="0">
                <a:solidFill>
                  <a:srgbClr val="3C3939"/>
                </a:solidFill>
                <a:ea typeface="Roboto Bold" panose="02000000000000000000" pitchFamily="34" charset="-122"/>
                <a:cs typeface="Roboto Bold" panose="02000000000000000000" pitchFamily="34" charset="-120"/>
              </a:rPr>
              <a:t>Informational / Characteristics List</a:t>
            </a:r>
            <a:r>
              <a:rPr lang="en-US" sz="1150" dirty="0">
                <a:solidFill>
                  <a:srgbClr val="3C3939"/>
                </a:solidFill>
                <a:ea typeface="Cambria" panose="02040503050406030204" pitchFamily="18" charset="0"/>
                <a:cs typeface="Roboto" panose="02000000000000000000" pitchFamily="34" charset="-120"/>
              </a:rPr>
              <a:t> </a:t>
            </a: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 Estimated Duration: </a:t>
            </a:r>
            <a:r>
              <a:rPr lang="en-US" sz="11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50 seconds</a:t>
            </a: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 · These aren't traits you're born with — they're </a:t>
            </a:r>
            <a:r>
              <a:rPr lang="en-US" sz="1150" b="1" dirty="0">
                <a:solidFill>
                  <a:srgbClr val="3C3939"/>
                </a:solidFill>
                <a:ea typeface="Roboto Bold" panose="02000000000000000000" pitchFamily="34" charset="-122"/>
                <a:cs typeface="Roboto Bold" panose="02000000000000000000" pitchFamily="34" charset="-120"/>
              </a:rPr>
              <a:t>skills anyone can develop.</a:t>
            </a:r>
            <a:endParaRPr lang="en-US" sz="1150" dirty="0"/>
          </a:p>
        </p:txBody>
      </p:sp>
      <p:pic>
        <p:nvPicPr>
          <p:cNvPr id="8" name="Image 0" descr="preencoded.png"/>
          <p:cNvPicPr>
            <a:picLocks noChangeAspect="1"/>
          </p:cNvPicPr>
          <p:nvPr/>
        </p:nvPicPr>
        <p:blipFill>
          <a:blip r:embed="rId3"/>
          <a:stretch>
            <a:fillRect/>
          </a:stretch>
        </p:blipFill>
        <p:spPr>
          <a:xfrm>
            <a:off x="661475" y="2255341"/>
            <a:ext cx="1352814" cy="1352848"/>
          </a:xfrm>
          <a:prstGeom prst="rect">
            <a:avLst/>
          </a:prstGeom>
        </p:spPr>
      </p:pic>
      <p:sp>
        <p:nvSpPr>
          <p:cNvPr id="9" name="Text 6"/>
          <p:cNvSpPr/>
          <p:nvPr/>
        </p:nvSpPr>
        <p:spPr>
          <a:xfrm>
            <a:off x="661475" y="3775571"/>
            <a:ext cx="2591628" cy="232470"/>
          </a:xfrm>
          <a:prstGeom prst="rect">
            <a:avLst/>
          </a:prstGeom>
          <a:noFill/>
        </p:spPr>
        <p:txBody>
          <a:bodyPr wrap="none" lIns="0" tIns="0" rIns="0" bIns="0" rtlCol="0" anchor="t"/>
          <a:lstStyle/>
          <a:p>
            <a:pPr marL="0" indent="0" algn="l">
              <a:lnSpc>
                <a:spcPct val="104000"/>
              </a:lnSpc>
              <a:buNone/>
            </a:pPr>
            <a:r>
              <a:rPr lang="en-US" sz="1450" b="1" dirty="0">
                <a:solidFill>
                  <a:srgbClr val="3C3939"/>
                </a:solidFill>
                <a:latin typeface="Calibri" panose="020F0502020204030204" pitchFamily="34" charset="0"/>
                <a:ea typeface="Calibri" panose="020F0502020204030204" pitchFamily="34" charset="0"/>
                <a:cs typeface="Calibri" panose="020F0502020204030204" pitchFamily="34" charset="0"/>
              </a:rPr>
              <a:t>Problem Solvers</a:t>
            </a:r>
            <a:endParaRPr lang="en-US" sz="1450" b="1" dirty="0"/>
          </a:p>
        </p:txBody>
      </p:sp>
      <p:sp>
        <p:nvSpPr>
          <p:cNvPr id="10" name="Text 7"/>
          <p:cNvSpPr/>
          <p:nvPr/>
        </p:nvSpPr>
        <p:spPr>
          <a:xfrm>
            <a:off x="661475" y="4088408"/>
            <a:ext cx="2591628" cy="904875"/>
          </a:xfrm>
          <a:prstGeom prst="rect">
            <a:avLst/>
          </a:prstGeom>
          <a:noFill/>
        </p:spPr>
        <p:txBody>
          <a:bodyPr wrap="square" lIns="0" tIns="0" rIns="0" bIns="0" rtlCol="0" anchor="t">
            <a:normAutofit/>
          </a:bodyPr>
          <a:lstStyle/>
          <a:p>
            <a:pPr marL="0" indent="0" algn="l">
              <a:lnSpc>
                <a:spcPct val="127000"/>
              </a:lnSpc>
              <a:buNone/>
            </a:pP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They see challenges as opportunities. When something goes wrong, entrepreneurs ask: </a:t>
            </a:r>
            <a:r>
              <a:rPr lang="en-US" sz="1150" i="1" dirty="0">
                <a:solidFill>
                  <a:srgbClr val="3C3939"/>
                </a:solidFill>
                <a:latin typeface="Cambria" panose="02040503050406030204" pitchFamily="18" charset="0"/>
                <a:ea typeface="Cambria" panose="02040503050406030204" pitchFamily="18" charset="0"/>
                <a:cs typeface="Roboto" panose="02000000000000000000" pitchFamily="34" charset="-120"/>
              </a:rPr>
              <a:t>"How can I fix this?"</a:t>
            </a: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 rather than accepting the status quo.</a:t>
            </a:r>
            <a:endParaRPr lang="en-US" sz="1150" dirty="0"/>
          </a:p>
        </p:txBody>
      </p:sp>
      <p:pic>
        <p:nvPicPr>
          <p:cNvPr id="11" name="Image 1" descr="preencoded.png"/>
          <p:cNvPicPr>
            <a:picLocks noChangeAspect="1"/>
          </p:cNvPicPr>
          <p:nvPr/>
        </p:nvPicPr>
        <p:blipFill>
          <a:blip r:embed="rId4"/>
          <a:stretch>
            <a:fillRect/>
          </a:stretch>
        </p:blipFill>
        <p:spPr>
          <a:xfrm>
            <a:off x="3420481" y="2255341"/>
            <a:ext cx="1352814" cy="1352848"/>
          </a:xfrm>
          <a:prstGeom prst="rect">
            <a:avLst/>
          </a:prstGeom>
        </p:spPr>
      </p:pic>
      <p:sp>
        <p:nvSpPr>
          <p:cNvPr id="12" name="Text 8"/>
          <p:cNvSpPr/>
          <p:nvPr/>
        </p:nvSpPr>
        <p:spPr>
          <a:xfrm>
            <a:off x="3420481" y="3775571"/>
            <a:ext cx="2591628" cy="232470"/>
          </a:xfrm>
          <a:prstGeom prst="rect">
            <a:avLst/>
          </a:prstGeom>
          <a:noFill/>
        </p:spPr>
        <p:txBody>
          <a:bodyPr wrap="none" lIns="0" tIns="0" rIns="0" bIns="0" rtlCol="0" anchor="t"/>
          <a:lstStyle/>
          <a:p>
            <a:pPr marL="0" indent="0" algn="l">
              <a:lnSpc>
                <a:spcPct val="104000"/>
              </a:lnSpc>
              <a:buNone/>
            </a:pPr>
            <a:r>
              <a:rPr lang="en-US" sz="1450" b="1" dirty="0">
                <a:solidFill>
                  <a:srgbClr val="3C3939"/>
                </a:solidFill>
                <a:latin typeface="Calibri" panose="020F0502020204030204" pitchFamily="34" charset="0"/>
                <a:ea typeface="Calibri" panose="020F0502020204030204" pitchFamily="34" charset="0"/>
                <a:cs typeface="Calibri" panose="020F0502020204030204" pitchFamily="34" charset="0"/>
              </a:rPr>
              <a:t>Risk Takers</a:t>
            </a:r>
            <a:endParaRPr lang="en-US" sz="1450" b="1" dirty="0"/>
          </a:p>
        </p:txBody>
      </p:sp>
      <p:sp>
        <p:nvSpPr>
          <p:cNvPr id="13" name="Text 9"/>
          <p:cNvSpPr/>
          <p:nvPr/>
        </p:nvSpPr>
        <p:spPr>
          <a:xfrm>
            <a:off x="3420481" y="4088408"/>
            <a:ext cx="2591628" cy="904875"/>
          </a:xfrm>
          <a:prstGeom prst="rect">
            <a:avLst/>
          </a:prstGeom>
          <a:noFill/>
        </p:spPr>
        <p:txBody>
          <a:bodyPr wrap="square" lIns="0" tIns="0" rIns="0" bIns="0" rtlCol="0" anchor="t">
            <a:normAutofit/>
          </a:bodyPr>
          <a:lstStyle/>
          <a:p>
            <a:pPr marL="0" indent="0" algn="l">
              <a:lnSpc>
                <a:spcPct val="127000"/>
              </a:lnSpc>
              <a:buNone/>
            </a:pP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They're willing to invest their own money and time, fully aware they might lose it. Risk is a feature, not a bug, of entrepreneurship.</a:t>
            </a:r>
            <a:endParaRPr lang="en-US" sz="1150" dirty="0"/>
          </a:p>
        </p:txBody>
      </p:sp>
      <p:pic>
        <p:nvPicPr>
          <p:cNvPr id="14" name="Image 2" descr="preencoded.png"/>
          <p:cNvPicPr>
            <a:picLocks noChangeAspect="1"/>
          </p:cNvPicPr>
          <p:nvPr/>
        </p:nvPicPr>
        <p:blipFill>
          <a:blip r:embed="rId5"/>
          <a:stretch>
            <a:fillRect/>
          </a:stretch>
        </p:blipFill>
        <p:spPr>
          <a:xfrm>
            <a:off x="6179487" y="2255341"/>
            <a:ext cx="1352814" cy="1352848"/>
          </a:xfrm>
          <a:prstGeom prst="rect">
            <a:avLst/>
          </a:prstGeom>
        </p:spPr>
      </p:pic>
      <p:sp>
        <p:nvSpPr>
          <p:cNvPr id="15" name="Text 10"/>
          <p:cNvSpPr/>
          <p:nvPr/>
        </p:nvSpPr>
        <p:spPr>
          <a:xfrm>
            <a:off x="6179487" y="3775571"/>
            <a:ext cx="2591628" cy="232470"/>
          </a:xfrm>
          <a:prstGeom prst="rect">
            <a:avLst/>
          </a:prstGeom>
          <a:noFill/>
        </p:spPr>
        <p:txBody>
          <a:bodyPr wrap="none" lIns="0" tIns="0" rIns="0" bIns="0" rtlCol="0" anchor="t"/>
          <a:lstStyle/>
          <a:p>
            <a:pPr marL="0" indent="0" algn="l">
              <a:lnSpc>
                <a:spcPct val="104000"/>
              </a:lnSpc>
              <a:buNone/>
            </a:pPr>
            <a:r>
              <a:rPr lang="en-US" sz="1450" b="1" dirty="0">
                <a:solidFill>
                  <a:srgbClr val="3C3939"/>
                </a:solidFill>
                <a:latin typeface="Calibri" panose="020F0502020204030204" pitchFamily="34" charset="0"/>
                <a:ea typeface="Calibri" panose="020F0502020204030204" pitchFamily="34" charset="0"/>
                <a:cs typeface="Calibri" panose="020F0502020204030204" pitchFamily="34" charset="0"/>
              </a:rPr>
              <a:t>Creative Thinkers</a:t>
            </a:r>
            <a:endParaRPr lang="en-US" sz="1450" b="1" dirty="0"/>
          </a:p>
        </p:txBody>
      </p:sp>
      <p:sp>
        <p:nvSpPr>
          <p:cNvPr id="16" name="Text 11"/>
          <p:cNvSpPr/>
          <p:nvPr/>
        </p:nvSpPr>
        <p:spPr>
          <a:xfrm>
            <a:off x="6179487" y="4088408"/>
            <a:ext cx="2591628" cy="904875"/>
          </a:xfrm>
          <a:prstGeom prst="rect">
            <a:avLst/>
          </a:prstGeom>
          <a:noFill/>
        </p:spPr>
        <p:txBody>
          <a:bodyPr wrap="square" lIns="0" tIns="0" rIns="0" bIns="0" rtlCol="0" anchor="t">
            <a:normAutofit/>
          </a:bodyPr>
          <a:lstStyle/>
          <a:p>
            <a:pPr marL="0" indent="0" algn="l">
              <a:lnSpc>
                <a:spcPct val="127000"/>
              </a:lnSpc>
              <a:buNone/>
            </a:pP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They imagine solutions that didn't exist before — combining ideas from different fields to build something entirely new.</a:t>
            </a:r>
            <a:endParaRPr lang="en-US" sz="1150" dirty="0"/>
          </a:p>
        </p:txBody>
      </p:sp>
      <p:pic>
        <p:nvPicPr>
          <p:cNvPr id="17" name="Image 3" descr="preencoded.png"/>
          <p:cNvPicPr>
            <a:picLocks noChangeAspect="1"/>
          </p:cNvPicPr>
          <p:nvPr/>
        </p:nvPicPr>
        <p:blipFill>
          <a:blip r:embed="rId6"/>
          <a:stretch>
            <a:fillRect/>
          </a:stretch>
        </p:blipFill>
        <p:spPr>
          <a:xfrm>
            <a:off x="8938493" y="2255341"/>
            <a:ext cx="1352814" cy="1352848"/>
          </a:xfrm>
          <a:prstGeom prst="rect">
            <a:avLst/>
          </a:prstGeom>
        </p:spPr>
      </p:pic>
      <p:sp>
        <p:nvSpPr>
          <p:cNvPr id="18" name="Text 12"/>
          <p:cNvSpPr/>
          <p:nvPr/>
        </p:nvSpPr>
        <p:spPr>
          <a:xfrm>
            <a:off x="8938493" y="3775571"/>
            <a:ext cx="2591727" cy="232470"/>
          </a:xfrm>
          <a:prstGeom prst="rect">
            <a:avLst/>
          </a:prstGeom>
          <a:noFill/>
        </p:spPr>
        <p:txBody>
          <a:bodyPr wrap="none" lIns="0" tIns="0" rIns="0" bIns="0" rtlCol="0" anchor="t"/>
          <a:lstStyle/>
          <a:p>
            <a:pPr marL="0" indent="0" algn="l">
              <a:lnSpc>
                <a:spcPct val="104000"/>
              </a:lnSpc>
              <a:buNone/>
            </a:pPr>
            <a:r>
              <a:rPr lang="en-US" sz="1450" b="1" dirty="0">
                <a:solidFill>
                  <a:srgbClr val="3C3939"/>
                </a:solidFill>
                <a:latin typeface="Calibri" panose="020F0502020204030204" pitchFamily="34" charset="0"/>
                <a:ea typeface="Calibri" panose="020F0502020204030204" pitchFamily="34" charset="0"/>
                <a:cs typeface="Calibri" panose="020F0502020204030204" pitchFamily="34" charset="0"/>
              </a:rPr>
              <a:t>Persistent</a:t>
            </a:r>
            <a:endParaRPr lang="en-US" sz="1450" b="1" dirty="0"/>
          </a:p>
        </p:txBody>
      </p:sp>
      <p:sp>
        <p:nvSpPr>
          <p:cNvPr id="19" name="Text 13"/>
          <p:cNvSpPr/>
          <p:nvPr/>
        </p:nvSpPr>
        <p:spPr>
          <a:xfrm>
            <a:off x="8938493" y="4088408"/>
            <a:ext cx="2591727" cy="904875"/>
          </a:xfrm>
          <a:prstGeom prst="rect">
            <a:avLst/>
          </a:prstGeom>
          <a:noFill/>
        </p:spPr>
        <p:txBody>
          <a:bodyPr wrap="square" lIns="0" tIns="0" rIns="0" bIns="0" rtlCol="0" anchor="t">
            <a:normAutofit/>
          </a:bodyPr>
          <a:lstStyle/>
          <a:p>
            <a:pPr marL="0" indent="0" algn="l">
              <a:lnSpc>
                <a:spcPct val="127000"/>
              </a:lnSpc>
              <a:buNone/>
            </a:pPr>
            <a:r>
              <a:rPr lang="en-US" sz="1150" dirty="0">
                <a:solidFill>
                  <a:srgbClr val="3C3939"/>
                </a:solidFill>
                <a:latin typeface="Cambria" panose="02040503050406030204" pitchFamily="18" charset="0"/>
                <a:ea typeface="Cambria" panose="02040503050406030204" pitchFamily="18" charset="0"/>
                <a:cs typeface="Roboto" panose="02000000000000000000" pitchFamily="34" charset="-120"/>
              </a:rPr>
              <a:t>Starting a business is hard. There will be failures and moments of doubt. But entrepreneurs keep going — they learn from mistakes and try again.</a:t>
            </a:r>
            <a:endParaRPr lang="en-US" sz="1150" dirty="0"/>
          </a:p>
        </p:txBody>
      </p:sp>
      <p:sp>
        <p:nvSpPr>
          <p:cNvPr id="20" name="Shape 14"/>
          <p:cNvSpPr/>
          <p:nvPr/>
        </p:nvSpPr>
        <p:spPr>
          <a:xfrm>
            <a:off x="661475" y="5143996"/>
            <a:ext cx="10868745" cy="781348"/>
          </a:xfrm>
          <a:prstGeom prst="roundRect">
            <a:avLst>
              <a:gd name="adj" fmla="val 8001"/>
            </a:avLst>
          </a:prstGeom>
          <a:solidFill>
            <a:srgbClr val="E1E1EA"/>
          </a:solidFill>
        </p:spPr>
      </p:sp>
      <p:pic>
        <p:nvPicPr>
          <p:cNvPr id="21" name="Image 4" descr="preencoded.png"/>
          <p:cNvPicPr>
            <a:picLocks noChangeAspect="1"/>
          </p:cNvPicPr>
          <p:nvPr/>
        </p:nvPicPr>
        <p:blipFill>
          <a:blip r:embed="rId7"/>
          <a:stretch>
            <a:fillRect/>
          </a:stretch>
        </p:blipFill>
        <p:spPr>
          <a:xfrm>
            <a:off x="810299" y="5352157"/>
            <a:ext cx="186031" cy="148828"/>
          </a:xfrm>
          <a:prstGeom prst="rect">
            <a:avLst/>
          </a:prstGeom>
        </p:spPr>
      </p:pic>
      <p:sp>
        <p:nvSpPr>
          <p:cNvPr id="22" name="Text 15"/>
          <p:cNvSpPr/>
          <p:nvPr/>
        </p:nvSpPr>
        <p:spPr>
          <a:xfrm>
            <a:off x="1145154" y="5315148"/>
            <a:ext cx="10236242" cy="452438"/>
          </a:xfrm>
          <a:prstGeom prst="rect">
            <a:avLst/>
          </a:prstGeom>
          <a:noFill/>
        </p:spPr>
        <p:txBody>
          <a:bodyPr wrap="square" lIns="0" tIns="0" rIns="0" bIns="0" rtlCol="0" anchor="t">
            <a:normAutofit/>
          </a:bodyPr>
          <a:lstStyle/>
          <a:p>
            <a:pPr marL="0" indent="0" algn="l">
              <a:lnSpc>
                <a:spcPct val="127000"/>
              </a:lnSpc>
              <a:buNone/>
            </a:pPr>
            <a:r>
              <a:rPr lang="en-US" sz="1150" dirty="0">
                <a:solidFill>
                  <a:srgbClr val="000000"/>
                </a:solidFill>
                <a:latin typeface="Cambria" panose="02040503050406030204" pitchFamily="18" charset="0"/>
                <a:ea typeface="Cambria" panose="02040503050406030204" pitchFamily="18" charset="0"/>
                <a:cs typeface="Roboto" panose="02000000000000000000" pitchFamily="34" charset="-120"/>
              </a:rPr>
              <a:t>Profile cards appear one at a time (0–12 sec, 12–24 sec, 24–36 sec, 36–48 sec). Icons animate with subtle bounce effect. Show diverse entrepreneurs — different ages, genders, and ethnicities — to reflect real-world diversity. Keep language positive, empowering, and stereotype-free.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01626"/>
            <a:ext cx="1209049" cy="201116"/>
          </a:xfrm>
          <a:prstGeom prst="roundRect">
            <a:avLst>
              <a:gd name="adj" fmla="val 22105"/>
            </a:avLst>
          </a:prstGeom>
          <a:solidFill>
            <a:srgbClr val="E1E1EA"/>
          </a:solidFill>
        </p:spPr>
      </p:sp>
      <p:sp>
        <p:nvSpPr>
          <p:cNvPr id="3" name="Text 1"/>
          <p:cNvSpPr/>
          <p:nvPr/>
        </p:nvSpPr>
        <p:spPr>
          <a:xfrm>
            <a:off x="740848" y="1141313"/>
            <a:ext cx="1659888" cy="121741"/>
          </a:xfrm>
          <a:prstGeom prst="rect">
            <a:avLst/>
          </a:prstGeom>
          <a:noFill/>
        </p:spPr>
        <p:txBody>
          <a:bodyPr wrap="none" lIns="0" tIns="0" rIns="0" bIns="0" rtlCol="0" anchor="t"/>
          <a:lstStyle/>
          <a:p>
            <a:pPr marL="0" indent="0" algn="l">
              <a:lnSpc>
                <a:spcPct val="96000"/>
              </a:lnSpc>
              <a:buNone/>
            </a:pP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SLIDE 5 · TRADE-OFFS</a:t>
            </a:r>
            <a:endParaRPr lang="en-US" sz="800" dirty="0"/>
          </a:p>
        </p:txBody>
      </p:sp>
      <p:sp>
        <p:nvSpPr>
          <p:cNvPr id="6" name="Text 4"/>
          <p:cNvSpPr/>
          <p:nvPr/>
        </p:nvSpPr>
        <p:spPr>
          <a:xfrm>
            <a:off x="661475" y="1345009"/>
            <a:ext cx="10868745" cy="413445"/>
          </a:xfrm>
          <a:prstGeom prst="rect">
            <a:avLst/>
          </a:prstGeom>
          <a:noFill/>
        </p:spPr>
        <p:txBody>
          <a:bodyPr wrap="none" lIns="0" tIns="0" rIns="0" bIns="0" rtlCol="0" anchor="t"/>
          <a:lstStyle/>
          <a:p>
            <a:pPr marL="0" indent="0" algn="l">
              <a:lnSpc>
                <a:spcPct val="104000"/>
              </a:lnSpc>
              <a:buNone/>
            </a:pPr>
            <a:r>
              <a:rPr lang="en-US" sz="2600" dirty="0">
                <a:solidFill>
                  <a:srgbClr val="1B1B27"/>
                </a:solidFill>
                <a:latin typeface="Calibri" panose="020F0502020204030204" pitchFamily="34" charset="0"/>
                <a:ea typeface="Calibri" panose="020F0502020204030204" pitchFamily="34" charset="0"/>
                <a:cs typeface="Calibri" panose="020F0502020204030204" pitchFamily="34" charset="0"/>
              </a:rPr>
              <a:t>Risks vs. Rewards</a:t>
            </a:r>
            <a:endParaRPr lang="en-US" sz="2600" dirty="0"/>
          </a:p>
        </p:txBody>
      </p:sp>
      <p:sp>
        <p:nvSpPr>
          <p:cNvPr id="7" name="Text 5"/>
          <p:cNvSpPr/>
          <p:nvPr/>
        </p:nvSpPr>
        <p:spPr>
          <a:xfrm>
            <a:off x="661475" y="1917204"/>
            <a:ext cx="11478330" cy="190500"/>
          </a:xfrm>
          <a:prstGeom prst="rect">
            <a:avLst/>
          </a:prstGeom>
          <a:noFill/>
        </p:spPr>
        <p:txBody>
          <a:bodyPr wrap="none" lIns="0" tIns="0" rIns="0" bIns="0" rtlCol="0" anchor="t"/>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1000" b="1" dirty="0">
                <a:solidFill>
                  <a:srgbClr val="3C3939"/>
                </a:solidFill>
                <a:ea typeface="Roboto Bold" panose="02000000000000000000" pitchFamily="34" charset="-122"/>
                <a:cs typeface="Roboto Bold" panose="02000000000000000000" pitchFamily="34" charset="-120"/>
              </a:rPr>
              <a:t>Comparison / Decision-Making</a:t>
            </a:r>
            <a:r>
              <a:rPr lang="en-US" sz="1000" dirty="0">
                <a:solidFill>
                  <a:srgbClr val="3C3939"/>
                </a:solidFill>
                <a:ea typeface="Cambria" panose="02040503050406030204" pitchFamily="18" charset="0"/>
                <a:cs typeface="Roboto" panose="02000000000000000000" pitchFamily="34" charset="-120"/>
              </a:rPr>
              <a:t> </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Estimated Duration: </a:t>
            </a: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55 seconds</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 The key question every entrepreneur asks: </a:t>
            </a:r>
            <a:r>
              <a:rPr lang="en-US" sz="1000" i="1" dirty="0">
                <a:solidFill>
                  <a:srgbClr val="3C3939"/>
                </a:solidFill>
                <a:latin typeface="Cambria" panose="02040503050406030204" pitchFamily="18" charset="0"/>
                <a:ea typeface="Cambria" panose="02040503050406030204" pitchFamily="18" charset="0"/>
                <a:cs typeface="Roboto" panose="02000000000000000000" pitchFamily="34" charset="-120"/>
              </a:rPr>
              <a:t>Are the potential rewards worth the risks I'm taking?</a:t>
            </a:r>
            <a:endParaRPr lang="en-US" sz="1000" dirty="0"/>
          </a:p>
        </p:txBody>
      </p:sp>
      <p:sp>
        <p:nvSpPr>
          <p:cNvPr id="8" name="Text 6"/>
          <p:cNvSpPr/>
          <p:nvPr/>
        </p:nvSpPr>
        <p:spPr>
          <a:xfrm>
            <a:off x="661475" y="2332534"/>
            <a:ext cx="5273047" cy="206673"/>
          </a:xfrm>
          <a:prstGeom prst="rect">
            <a:avLst/>
          </a:prstGeom>
          <a:noFill/>
        </p:spPr>
        <p:txBody>
          <a:bodyPr wrap="none" lIns="0" tIns="0" rIns="0" bIns="0" rtlCol="0" anchor="t"/>
          <a:lstStyle/>
          <a:p>
            <a:pPr marL="0" indent="0" algn="l">
              <a:lnSpc>
                <a:spcPct val="104000"/>
              </a:lnSpc>
              <a:buNone/>
            </a:pPr>
            <a:r>
              <a:rPr lang="en-US" sz="1600" b="1"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600" b="1" dirty="0">
                <a:solidFill>
                  <a:srgbClr val="1B1B27"/>
                </a:solidFill>
                <a:latin typeface="Calibri" panose="020F0502020204030204" pitchFamily="34" charset="0"/>
                <a:ea typeface="Calibri" panose="020F0502020204030204" pitchFamily="34" charset="0"/>
                <a:cs typeface="Calibri" panose="020F0502020204030204" pitchFamily="34" charset="0"/>
              </a:rPr>
              <a:t> RISKS</a:t>
            </a:r>
            <a:endParaRPr lang="en-US" sz="1600" b="1" dirty="0"/>
          </a:p>
        </p:txBody>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658269"/>
            <a:ext cx="2583592" cy="1186557"/>
          </a:xfrm>
          <a:prstGeom prst="rect">
            <a:avLst/>
          </a:prstGeom>
        </p:spPr>
      </p:pic>
      <p:sp>
        <p:nvSpPr>
          <p:cNvPr id="10" name="Text 7"/>
          <p:cNvSpPr/>
          <p:nvPr/>
        </p:nvSpPr>
        <p:spPr>
          <a:xfrm>
            <a:off x="888978" y="2809577"/>
            <a:ext cx="2204784"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Financial Loss</a:t>
            </a:r>
            <a:endParaRPr lang="en-US" sz="1300" b="1" dirty="0"/>
          </a:p>
        </p:txBody>
      </p:sp>
      <p:sp>
        <p:nvSpPr>
          <p:cNvPr id="11" name="Text 8"/>
          <p:cNvSpPr/>
          <p:nvPr/>
        </p:nvSpPr>
        <p:spPr>
          <a:xfrm>
            <a:off x="888978" y="3122017"/>
            <a:ext cx="2204784" cy="5715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You might lose the money you invest. There is no guaranteed salary or safety net.</a:t>
            </a:r>
            <a:endParaRPr lang="en-US" sz="1000" dirty="0"/>
          </a:p>
        </p:txBody>
      </p:sp>
      <p:pic>
        <p:nvPicPr>
          <p:cNvPr id="12"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0831" y="2658269"/>
            <a:ext cx="2583691" cy="1186557"/>
          </a:xfrm>
          <a:prstGeom prst="rect">
            <a:avLst/>
          </a:prstGeom>
        </p:spPr>
      </p:pic>
      <p:sp>
        <p:nvSpPr>
          <p:cNvPr id="13" name="Text 9"/>
          <p:cNvSpPr/>
          <p:nvPr/>
        </p:nvSpPr>
        <p:spPr>
          <a:xfrm>
            <a:off x="3578334" y="2809577"/>
            <a:ext cx="2204883"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Long Hours</a:t>
            </a:r>
            <a:endParaRPr lang="en-US" sz="1300" b="1" dirty="0"/>
          </a:p>
        </p:txBody>
      </p:sp>
      <p:sp>
        <p:nvSpPr>
          <p:cNvPr id="14" name="Text 10"/>
          <p:cNvSpPr/>
          <p:nvPr/>
        </p:nvSpPr>
        <p:spPr>
          <a:xfrm>
            <a:off x="3578334" y="3077192"/>
            <a:ext cx="2204883" cy="571500"/>
          </a:xfrm>
          <a:prstGeom prst="rect">
            <a:avLst/>
          </a:prstGeom>
          <a:noFill/>
        </p:spPr>
        <p:txBody>
          <a:bodyPr wrap="square" lIns="0" tIns="0" rIns="0" bIns="0" rtlCol="0" anchor="t">
            <a:noAutofit/>
          </a:bodyPr>
          <a:lstStyle/>
          <a:p>
            <a:pPr>
              <a:lnSpc>
                <a:spcPct val="120000"/>
              </a:lnSpc>
            </a:pPr>
            <a:r>
              <a:rPr lang="en-US" sz="1000" dirty="0"/>
              <a:t>Entrepreneurs often spend long hours developing and improving their ideas, especially during the early stages of building a business.</a:t>
            </a:r>
          </a:p>
        </p:txBody>
      </p:sp>
      <p:pic>
        <p:nvPicPr>
          <p:cNvPr id="15"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950593"/>
            <a:ext cx="2583592" cy="1186557"/>
          </a:xfrm>
          <a:prstGeom prst="rect">
            <a:avLst/>
          </a:prstGeom>
        </p:spPr>
      </p:pic>
      <p:sp>
        <p:nvSpPr>
          <p:cNvPr id="16" name="Text 11"/>
          <p:cNvSpPr/>
          <p:nvPr/>
        </p:nvSpPr>
        <p:spPr>
          <a:xfrm>
            <a:off x="888978" y="4101902"/>
            <a:ext cx="2204784"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Uncertain Income</a:t>
            </a:r>
            <a:endParaRPr lang="en-US" sz="1300" b="1" dirty="0"/>
          </a:p>
        </p:txBody>
      </p:sp>
      <p:sp>
        <p:nvSpPr>
          <p:cNvPr id="17" name="Text 12"/>
          <p:cNvSpPr/>
          <p:nvPr/>
        </p:nvSpPr>
        <p:spPr>
          <a:xfrm>
            <a:off x="888978" y="4414341"/>
            <a:ext cx="2204784" cy="5715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Unlike a regular job, revenue is unpredictable. Some months are great; others are tough.</a:t>
            </a:r>
            <a:endParaRPr lang="en-US" sz="1000" dirty="0"/>
          </a:p>
        </p:txBody>
      </p:sp>
      <p:pic>
        <p:nvPicPr>
          <p:cNvPr id="18"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50831" y="3950593"/>
            <a:ext cx="2583691" cy="1186557"/>
          </a:xfrm>
          <a:prstGeom prst="rect">
            <a:avLst/>
          </a:prstGeom>
        </p:spPr>
      </p:pic>
      <p:sp>
        <p:nvSpPr>
          <p:cNvPr id="19" name="Text 13"/>
          <p:cNvSpPr/>
          <p:nvPr/>
        </p:nvSpPr>
        <p:spPr>
          <a:xfrm>
            <a:off x="3578334" y="4101902"/>
            <a:ext cx="2204883" cy="206673"/>
          </a:xfrm>
          <a:prstGeom prst="rect">
            <a:avLst/>
          </a:prstGeom>
          <a:noFill/>
        </p:spPr>
        <p:txBody>
          <a:bodyPr wrap="none" lIns="0" tIns="0" rIns="0" bIns="0" rtlCol="0" anchor="t"/>
          <a:lstStyle/>
          <a:p>
            <a:pPr marL="0" indent="0" algn="l">
              <a:lnSpc>
                <a:spcPct val="104000"/>
              </a:lnSpc>
              <a:buNone/>
            </a:pPr>
            <a:r>
              <a:rPr lang="en-US" sz="1300" b="1" dirty="0">
                <a:solidFill>
                  <a:srgbClr val="3C3939"/>
                </a:solidFill>
                <a:latin typeface="Calibri" panose="020F0502020204030204" pitchFamily="34" charset="0"/>
                <a:ea typeface="Calibri" panose="020F0502020204030204" pitchFamily="34" charset="0"/>
                <a:cs typeface="Calibri" panose="020F0502020204030204" pitchFamily="34" charset="0"/>
              </a:rPr>
              <a:t>Stress &amp; Pressure</a:t>
            </a:r>
            <a:endParaRPr lang="en-US" sz="1300" b="1" dirty="0"/>
          </a:p>
        </p:txBody>
      </p:sp>
      <p:sp>
        <p:nvSpPr>
          <p:cNvPr id="20" name="Text 14"/>
          <p:cNvSpPr/>
          <p:nvPr/>
        </p:nvSpPr>
        <p:spPr>
          <a:xfrm>
            <a:off x="3578334" y="4414341"/>
            <a:ext cx="2204883" cy="5715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Every decision falls on you. The weight of responsibility is real and ongoing.</a:t>
            </a:r>
            <a:endParaRPr lang="en-US" sz="1000" dirty="0"/>
          </a:p>
        </p:txBody>
      </p:sp>
      <p:sp>
        <p:nvSpPr>
          <p:cNvPr id="21" name="Shape 15"/>
          <p:cNvSpPr/>
          <p:nvPr/>
        </p:nvSpPr>
        <p:spPr>
          <a:xfrm>
            <a:off x="6168275" y="2655752"/>
            <a:ext cx="5463542" cy="2452810"/>
          </a:xfrm>
          <a:prstGeom prst="roundRect">
            <a:avLst>
              <a:gd name="adj" fmla="val 3145"/>
            </a:avLst>
          </a:prstGeom>
          <a:solidFill>
            <a:srgbClr val="1B1B27">
              <a:alpha val="95000"/>
            </a:srgbClr>
          </a:solidFill>
        </p:spPr>
      </p:sp>
      <p:sp>
        <p:nvSpPr>
          <p:cNvPr id="22" name="Text 16"/>
          <p:cNvSpPr/>
          <p:nvPr/>
        </p:nvSpPr>
        <p:spPr>
          <a:xfrm>
            <a:off x="6300531" y="2761520"/>
            <a:ext cx="5199032" cy="206673"/>
          </a:xfrm>
          <a:prstGeom prst="rect">
            <a:avLst/>
          </a:prstGeom>
          <a:noFill/>
        </p:spPr>
        <p:txBody>
          <a:bodyPr wrap="none" lIns="0" tIns="0" rIns="0" bIns="0" rtlCol="0" anchor="t"/>
          <a:lstStyle/>
          <a:p>
            <a:pPr marL="0" indent="0" algn="l">
              <a:lnSpc>
                <a:spcPct val="104000"/>
              </a:lnSpc>
              <a:buNone/>
            </a:pPr>
            <a:r>
              <a:rPr lang="en-US" sz="130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300" dirty="0">
                <a:solidFill>
                  <a:srgbClr val="FFFFFF"/>
                </a:solidFill>
                <a:latin typeface="Calibri" panose="020F0502020204030204" pitchFamily="34" charset="0"/>
                <a:ea typeface="Calibri" panose="020F0502020204030204" pitchFamily="34" charset="0"/>
                <a:cs typeface="Calibri" panose="020F0502020204030204" pitchFamily="34" charset="0"/>
              </a:rPr>
              <a:t> REWARDS</a:t>
            </a:r>
            <a:endParaRPr lang="en-US" sz="1300" dirty="0"/>
          </a:p>
        </p:txBody>
      </p:sp>
      <p:pic>
        <p:nvPicPr>
          <p:cNvPr id="23"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1481" y="3068205"/>
            <a:ext cx="2552438" cy="731540"/>
          </a:xfrm>
          <a:prstGeom prst="rect">
            <a:avLst/>
          </a:prstGeom>
        </p:spPr>
      </p:pic>
      <p:sp>
        <p:nvSpPr>
          <p:cNvPr id="24" name="Text 17"/>
          <p:cNvSpPr/>
          <p:nvPr/>
        </p:nvSpPr>
        <p:spPr>
          <a:xfrm>
            <a:off x="6470885" y="3087255"/>
            <a:ext cx="2363034" cy="206673"/>
          </a:xfrm>
          <a:prstGeom prst="rect">
            <a:avLst/>
          </a:prstGeom>
          <a:noFill/>
        </p:spPr>
        <p:txBody>
          <a:bodyPr wrap="none" lIns="0" tIns="0" rIns="0" bIns="0" rtlCol="0" anchor="t"/>
          <a:lstStyle/>
          <a:p>
            <a:pPr marL="0" indent="0" algn="l">
              <a:lnSpc>
                <a:spcPct val="104000"/>
              </a:lnSpc>
              <a:buNone/>
            </a:pPr>
            <a:r>
              <a:rPr lang="en-US" sz="1300" dirty="0">
                <a:solidFill>
                  <a:srgbClr val="FFFFFF"/>
                </a:solidFill>
                <a:latin typeface="Calibri" panose="020F0502020204030204" pitchFamily="34" charset="0"/>
                <a:ea typeface="Calibri" panose="020F0502020204030204" pitchFamily="34" charset="0"/>
                <a:cs typeface="Calibri" panose="020F0502020204030204" pitchFamily="34" charset="0"/>
              </a:rPr>
              <a:t>Full Control</a:t>
            </a:r>
            <a:endParaRPr lang="en-US" sz="1300" dirty="0"/>
          </a:p>
        </p:txBody>
      </p:sp>
      <p:sp>
        <p:nvSpPr>
          <p:cNvPr id="25" name="Text 18"/>
          <p:cNvSpPr/>
          <p:nvPr/>
        </p:nvSpPr>
        <p:spPr>
          <a:xfrm>
            <a:off x="6470885" y="3399695"/>
            <a:ext cx="2363034" cy="381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FFC000"/>
                </a:solidFill>
                <a:latin typeface="Cambria" panose="02040503050406030204" pitchFamily="18" charset="0"/>
                <a:ea typeface="Cambria" panose="02040503050406030204" pitchFamily="18" charset="0"/>
                <a:cs typeface="Roboto" panose="02000000000000000000" pitchFamily="34" charset="-120"/>
              </a:rPr>
              <a:t>You make the decisions. You set the direction. No one tells you what to build.</a:t>
            </a:r>
            <a:endParaRPr lang="en-US" sz="1000" dirty="0">
              <a:solidFill>
                <a:srgbClr val="FFC000"/>
              </a:solidFill>
            </a:endParaRPr>
          </a:p>
        </p:txBody>
      </p:sp>
      <p:pic>
        <p:nvPicPr>
          <p:cNvPr id="26" name="Image 5"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47125" y="3068205"/>
            <a:ext cx="2552438" cy="731540"/>
          </a:xfrm>
          <a:prstGeom prst="rect">
            <a:avLst/>
          </a:prstGeom>
        </p:spPr>
      </p:pic>
      <p:sp>
        <p:nvSpPr>
          <p:cNvPr id="27" name="Text 19"/>
          <p:cNvSpPr/>
          <p:nvPr/>
        </p:nvSpPr>
        <p:spPr>
          <a:xfrm>
            <a:off x="9136528" y="3087255"/>
            <a:ext cx="2363034" cy="206673"/>
          </a:xfrm>
          <a:prstGeom prst="rect">
            <a:avLst/>
          </a:prstGeom>
          <a:noFill/>
        </p:spPr>
        <p:txBody>
          <a:bodyPr wrap="none" lIns="0" tIns="0" rIns="0" bIns="0" rtlCol="0" anchor="t"/>
          <a:lstStyle/>
          <a:p>
            <a:pPr marL="0" indent="0" algn="l">
              <a:lnSpc>
                <a:spcPct val="104000"/>
              </a:lnSpc>
              <a:buNone/>
            </a:pPr>
            <a:r>
              <a:rPr lang="en-US" sz="1300" dirty="0">
                <a:solidFill>
                  <a:srgbClr val="FFFFFF"/>
                </a:solidFill>
                <a:latin typeface="Calibri" panose="020F0502020204030204" pitchFamily="34" charset="0"/>
                <a:ea typeface="Calibri" panose="020F0502020204030204" pitchFamily="34" charset="0"/>
                <a:cs typeface="Calibri" panose="020F0502020204030204" pitchFamily="34" charset="0"/>
              </a:rPr>
              <a:t>Unlimited Earning Potential</a:t>
            </a:r>
            <a:endParaRPr lang="en-US" sz="1300" dirty="0"/>
          </a:p>
        </p:txBody>
      </p:sp>
      <p:sp>
        <p:nvSpPr>
          <p:cNvPr id="28" name="Text 20"/>
          <p:cNvSpPr/>
          <p:nvPr/>
        </p:nvSpPr>
        <p:spPr>
          <a:xfrm>
            <a:off x="9136528" y="3399695"/>
            <a:ext cx="2363034" cy="3810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FFC000"/>
                </a:solidFill>
                <a:latin typeface="Cambria" panose="02040503050406030204" pitchFamily="18" charset="0"/>
                <a:ea typeface="Cambria" panose="02040503050406030204" pitchFamily="18" charset="0"/>
                <a:cs typeface="Roboto" panose="02000000000000000000" pitchFamily="34" charset="-120"/>
              </a:rPr>
              <a:t>You keep the profits. Your income is tied directly to your effort and results.</a:t>
            </a:r>
            <a:endParaRPr lang="en-US" sz="1000" dirty="0">
              <a:solidFill>
                <a:srgbClr val="FFC000"/>
              </a:solidFill>
            </a:endParaRPr>
          </a:p>
        </p:txBody>
      </p:sp>
      <p:pic>
        <p:nvPicPr>
          <p:cNvPr id="29" name="Image 6"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1481" y="3973278"/>
            <a:ext cx="2552438" cy="922040"/>
          </a:xfrm>
          <a:prstGeom prst="rect">
            <a:avLst/>
          </a:prstGeom>
        </p:spPr>
      </p:pic>
      <p:sp>
        <p:nvSpPr>
          <p:cNvPr id="30" name="Text 21"/>
          <p:cNvSpPr/>
          <p:nvPr/>
        </p:nvSpPr>
        <p:spPr>
          <a:xfrm>
            <a:off x="6470885" y="3992328"/>
            <a:ext cx="2363034" cy="206673"/>
          </a:xfrm>
          <a:prstGeom prst="rect">
            <a:avLst/>
          </a:prstGeom>
          <a:noFill/>
        </p:spPr>
        <p:txBody>
          <a:bodyPr wrap="none" lIns="0" tIns="0" rIns="0" bIns="0" rtlCol="0" anchor="t"/>
          <a:lstStyle/>
          <a:p>
            <a:pPr marL="0" indent="0" algn="l">
              <a:lnSpc>
                <a:spcPct val="104000"/>
              </a:lnSpc>
              <a:buNone/>
            </a:pPr>
            <a:r>
              <a:rPr lang="en-US" sz="1300" dirty="0">
                <a:solidFill>
                  <a:srgbClr val="FFFFFF"/>
                </a:solidFill>
                <a:latin typeface="Calibri" panose="020F0502020204030204" pitchFamily="34" charset="0"/>
                <a:ea typeface="Calibri" panose="020F0502020204030204" pitchFamily="34" charset="0"/>
                <a:cs typeface="Calibri" panose="020F0502020204030204" pitchFamily="34" charset="0"/>
              </a:rPr>
              <a:t>Personal Satisfaction</a:t>
            </a:r>
            <a:endParaRPr lang="en-US" sz="1300" dirty="0"/>
          </a:p>
        </p:txBody>
      </p:sp>
      <p:sp>
        <p:nvSpPr>
          <p:cNvPr id="31" name="Text 22"/>
          <p:cNvSpPr/>
          <p:nvPr/>
        </p:nvSpPr>
        <p:spPr>
          <a:xfrm>
            <a:off x="6470885" y="4304768"/>
            <a:ext cx="2363034" cy="5715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FFC000"/>
                </a:solidFill>
                <a:latin typeface="Cambria" panose="02040503050406030204" pitchFamily="18" charset="0"/>
                <a:ea typeface="Cambria" panose="02040503050406030204" pitchFamily="18" charset="0"/>
                <a:cs typeface="Roboto" panose="02000000000000000000" pitchFamily="34" charset="-120"/>
              </a:rPr>
              <a:t>There is a unique pride in building something from nothing — seeing your idea become real.</a:t>
            </a:r>
            <a:endParaRPr lang="en-US" sz="1000" dirty="0">
              <a:solidFill>
                <a:srgbClr val="FFC000"/>
              </a:solidFill>
            </a:endParaRPr>
          </a:p>
        </p:txBody>
      </p:sp>
      <p:pic>
        <p:nvPicPr>
          <p:cNvPr id="32" name="Image 7"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947125" y="3973278"/>
            <a:ext cx="2552438" cy="922040"/>
          </a:xfrm>
          <a:prstGeom prst="rect">
            <a:avLst/>
          </a:prstGeom>
        </p:spPr>
      </p:pic>
      <p:sp>
        <p:nvSpPr>
          <p:cNvPr id="33" name="Text 23"/>
          <p:cNvSpPr/>
          <p:nvPr/>
        </p:nvSpPr>
        <p:spPr>
          <a:xfrm>
            <a:off x="9136528" y="3992328"/>
            <a:ext cx="2363034" cy="206673"/>
          </a:xfrm>
          <a:prstGeom prst="rect">
            <a:avLst/>
          </a:prstGeom>
          <a:noFill/>
        </p:spPr>
        <p:txBody>
          <a:bodyPr wrap="none" lIns="0" tIns="0" rIns="0" bIns="0" rtlCol="0" anchor="t"/>
          <a:lstStyle/>
          <a:p>
            <a:pPr marL="0" indent="0" algn="l">
              <a:lnSpc>
                <a:spcPct val="104000"/>
              </a:lnSpc>
              <a:buNone/>
            </a:pPr>
            <a:r>
              <a:rPr lang="en-US" sz="1300" dirty="0">
                <a:solidFill>
                  <a:srgbClr val="FFFFFF"/>
                </a:solidFill>
                <a:latin typeface="Calibri" panose="020F0502020204030204" pitchFamily="34" charset="0"/>
                <a:ea typeface="Calibri" panose="020F0502020204030204" pitchFamily="34" charset="0"/>
                <a:cs typeface="Calibri" panose="020F0502020204030204" pitchFamily="34" charset="0"/>
              </a:rPr>
              <a:t>Real Impact</a:t>
            </a:r>
            <a:endParaRPr lang="en-US" sz="1300" dirty="0"/>
          </a:p>
        </p:txBody>
      </p:sp>
      <p:sp>
        <p:nvSpPr>
          <p:cNvPr id="34" name="Text 24"/>
          <p:cNvSpPr/>
          <p:nvPr/>
        </p:nvSpPr>
        <p:spPr>
          <a:xfrm>
            <a:off x="9136528" y="4304768"/>
            <a:ext cx="2363034" cy="571500"/>
          </a:xfrm>
          <a:prstGeom prst="rect">
            <a:avLst/>
          </a:prstGeom>
          <a:noFill/>
        </p:spPr>
        <p:txBody>
          <a:bodyPr wrap="square" lIns="0" tIns="0" rIns="0" bIns="0" rtlCol="0" anchor="t">
            <a:normAutofit/>
          </a:bodyPr>
          <a:lstStyle/>
          <a:p>
            <a:pPr marL="0" indent="0" algn="l">
              <a:lnSpc>
                <a:spcPct val="120000"/>
              </a:lnSpc>
              <a:buNone/>
            </a:pPr>
            <a:r>
              <a:rPr lang="en-US" sz="1000" dirty="0">
                <a:solidFill>
                  <a:srgbClr val="FFC000"/>
                </a:solidFill>
                <a:latin typeface="Cambria" panose="02040503050406030204" pitchFamily="18" charset="0"/>
                <a:ea typeface="Cambria" panose="02040503050406030204" pitchFamily="18" charset="0"/>
                <a:cs typeface="Roboto" panose="02000000000000000000" pitchFamily="34" charset="-120"/>
              </a:rPr>
              <a:t>Your solution can help real people. Jordan's app helped 50,000 students. That's impact.</a:t>
            </a:r>
            <a:endParaRPr lang="en-US" sz="1000" dirty="0">
              <a:solidFill>
                <a:srgbClr val="FFC000"/>
              </a:solidFill>
            </a:endParaRPr>
          </a:p>
        </p:txBody>
      </p:sp>
      <p:sp>
        <p:nvSpPr>
          <p:cNvPr id="35" name="Text 25"/>
          <p:cNvSpPr/>
          <p:nvPr/>
        </p:nvSpPr>
        <p:spPr>
          <a:xfrm>
            <a:off x="661475" y="5375275"/>
            <a:ext cx="10868745" cy="381000"/>
          </a:xfrm>
          <a:prstGeom prst="rect">
            <a:avLst/>
          </a:prstGeom>
          <a:noFill/>
        </p:spPr>
        <p:txBody>
          <a:bodyPr wrap="square" lIns="0" tIns="0" rIns="0" bIns="0" rtlCol="0" anchor="t">
            <a:normAutofit/>
          </a:bodyPr>
          <a:lstStyle/>
          <a:p>
            <a:pPr marL="0" indent="0" algn="l">
              <a:lnSpc>
                <a:spcPct val="120000"/>
              </a:lnSpc>
              <a:buNone/>
            </a:pP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Voice-Over Note:</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"For Jordan, the answer was yes. For many entrepreneurs, it is. But it's not the right choice for everyone, and that's okay." Tone should be honest and realistic — avoid making entrepreneurship seem either too easy or too difficult. Use visual scales balancing risk and reward (0–10 sec).</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851495"/>
            <a:ext cx="965573" cy="188516"/>
          </a:xfrm>
          <a:prstGeom prst="roundRect">
            <a:avLst>
              <a:gd name="adj" fmla="val 22109"/>
            </a:avLst>
          </a:prstGeom>
          <a:solidFill>
            <a:srgbClr val="E1E1EA"/>
          </a:solidFill>
        </p:spPr>
      </p:sp>
      <p:sp>
        <p:nvSpPr>
          <p:cNvPr id="3" name="Text 1"/>
          <p:cNvSpPr/>
          <p:nvPr/>
        </p:nvSpPr>
        <p:spPr>
          <a:xfrm>
            <a:off x="735887" y="888702"/>
            <a:ext cx="1426333" cy="114102"/>
          </a:xfrm>
          <a:prstGeom prst="rect">
            <a:avLst/>
          </a:prstGeom>
          <a:noFill/>
        </p:spPr>
        <p:txBody>
          <a:bodyPr wrap="none" lIns="0" tIns="0" rIns="0" bIns="0" rtlCol="0" anchor="t"/>
          <a:lstStyle/>
          <a:p>
            <a:pPr marL="0" indent="0" algn="l">
              <a:lnSpc>
                <a:spcPct val="96000"/>
              </a:lnSpc>
              <a:buNone/>
            </a:pPr>
            <a:r>
              <a:rPr lang="en-US" sz="750" dirty="0">
                <a:solidFill>
                  <a:srgbClr val="3C3939"/>
                </a:solidFill>
                <a:latin typeface="Cambria" panose="02040503050406030204" pitchFamily="18" charset="0"/>
                <a:ea typeface="Cambria" panose="02040503050406030204" pitchFamily="18" charset="0"/>
                <a:cs typeface="Roboto" panose="02000000000000000000" pitchFamily="34" charset="-120"/>
              </a:rPr>
              <a:t>SLIDE 6 · HISTORY</a:t>
            </a:r>
            <a:endParaRPr lang="en-US" sz="750" dirty="0"/>
          </a:p>
        </p:txBody>
      </p:sp>
      <p:sp>
        <p:nvSpPr>
          <p:cNvPr id="6" name="Text 4"/>
          <p:cNvSpPr/>
          <p:nvPr/>
        </p:nvSpPr>
        <p:spPr>
          <a:xfrm>
            <a:off x="661475" y="1077218"/>
            <a:ext cx="10868745" cy="387648"/>
          </a:xfrm>
          <a:prstGeom prst="rect">
            <a:avLst/>
          </a:prstGeom>
          <a:noFill/>
        </p:spPr>
        <p:txBody>
          <a:bodyPr wrap="none" lIns="0" tIns="0" rIns="0" bIns="0" rtlCol="0" anchor="t"/>
          <a:lstStyle/>
          <a:p>
            <a:pPr marL="0" indent="0" algn="l">
              <a:lnSpc>
                <a:spcPct val="104000"/>
              </a:lnSpc>
              <a:buNone/>
            </a:pPr>
            <a:r>
              <a:rPr lang="en-US" sz="2400" dirty="0">
                <a:solidFill>
                  <a:srgbClr val="1B1B27"/>
                </a:solidFill>
                <a:latin typeface="Calibri" panose="020F0502020204030204" pitchFamily="34" charset="0"/>
                <a:ea typeface="Calibri" panose="020F0502020204030204" pitchFamily="34" charset="0"/>
                <a:cs typeface="Calibri" panose="020F0502020204030204" pitchFamily="34" charset="0"/>
              </a:rPr>
              <a:t>Entrepreneurship Through the Years</a:t>
            </a:r>
            <a:endParaRPr lang="en-US" sz="2400" dirty="0"/>
          </a:p>
        </p:txBody>
      </p:sp>
      <p:sp>
        <p:nvSpPr>
          <p:cNvPr id="7" name="Text 5"/>
          <p:cNvSpPr/>
          <p:nvPr/>
        </p:nvSpPr>
        <p:spPr>
          <a:xfrm>
            <a:off x="661475" y="1604367"/>
            <a:ext cx="11478330" cy="173633"/>
          </a:xfrm>
          <a:prstGeom prst="rect">
            <a:avLst/>
          </a:prstGeom>
          <a:noFill/>
        </p:spPr>
        <p:txBody>
          <a:bodyPr wrap="none" lIns="0" tIns="0" rIns="0" bIns="0" rtlCol="0" anchor="t"/>
          <a:lstStyle/>
          <a:p>
            <a:pPr marL="0" indent="0" algn="l">
              <a:lnSpc>
                <a:spcPct val="117000"/>
              </a:lnSpc>
              <a:buNone/>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950" b="1" dirty="0">
                <a:solidFill>
                  <a:srgbClr val="3C3939"/>
                </a:solidFill>
                <a:ea typeface="Roboto Bold" panose="02000000000000000000" pitchFamily="34" charset="-122"/>
                <a:cs typeface="Roboto Bold" panose="02000000000000000000" pitchFamily="34" charset="-120"/>
              </a:rPr>
              <a:t>Historical Context / Timeline</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 Estimated Duration: </a:t>
            </a: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50 seconds</a:t>
            </a:r>
            <a:endParaRPr lang="en-US" sz="950" dirty="0"/>
          </a:p>
        </p:txBody>
      </p:sp>
      <p:sp>
        <p:nvSpPr>
          <p:cNvPr id="8" name="Shape 6"/>
          <p:cNvSpPr/>
          <p:nvPr/>
        </p:nvSpPr>
        <p:spPr>
          <a:xfrm>
            <a:off x="6089498" y="1882577"/>
            <a:ext cx="12700" cy="2327473"/>
          </a:xfrm>
          <a:prstGeom prst="roundRect">
            <a:avLst>
              <a:gd name="adj" fmla="val 49999"/>
            </a:avLst>
          </a:prstGeom>
          <a:solidFill>
            <a:srgbClr val="C7C7D0"/>
          </a:solidFill>
        </p:spPr>
      </p:sp>
      <p:sp>
        <p:nvSpPr>
          <p:cNvPr id="9" name="Shape 7"/>
          <p:cNvSpPr/>
          <p:nvPr/>
        </p:nvSpPr>
        <p:spPr>
          <a:xfrm>
            <a:off x="5596938" y="2015728"/>
            <a:ext cx="372061" cy="12700"/>
          </a:xfrm>
          <a:prstGeom prst="roundRect">
            <a:avLst>
              <a:gd name="adj" fmla="val 49999"/>
            </a:avLst>
          </a:prstGeom>
          <a:solidFill>
            <a:srgbClr val="C7C7D0"/>
          </a:solidFill>
        </p:spPr>
      </p:sp>
      <p:sp>
        <p:nvSpPr>
          <p:cNvPr id="10" name="Shape 8"/>
          <p:cNvSpPr/>
          <p:nvPr/>
        </p:nvSpPr>
        <p:spPr>
          <a:xfrm>
            <a:off x="5956300" y="1882577"/>
            <a:ext cx="279095" cy="279102"/>
          </a:xfrm>
          <a:prstGeom prst="roundRect">
            <a:avLst>
              <a:gd name="adj" fmla="val 18667"/>
            </a:avLst>
          </a:prstGeom>
          <a:solidFill>
            <a:srgbClr val="E1E1EA"/>
          </a:solidFill>
          <a:ln w="6350">
            <a:solidFill>
              <a:srgbClr val="C7C7D0"/>
            </a:solidFill>
            <a:prstDash val="solid"/>
          </a:ln>
        </p:spPr>
      </p:sp>
      <p:sp>
        <p:nvSpPr>
          <p:cNvPr id="11" name="Text 9"/>
          <p:cNvSpPr/>
          <p:nvPr/>
        </p:nvSpPr>
        <p:spPr>
          <a:xfrm>
            <a:off x="6002783" y="1905794"/>
            <a:ext cx="186031" cy="232569"/>
          </a:xfrm>
          <a:prstGeom prst="rect">
            <a:avLst/>
          </a:prstGeom>
          <a:noFill/>
        </p:spPr>
        <p:txBody>
          <a:bodyPr wrap="none" lIns="0" tIns="0" rIns="0" bIns="0" rtlCol="0" anchor="ctr"/>
          <a:lstStyle/>
          <a:p>
            <a:pPr marL="0" indent="0" algn="ctr">
              <a:lnSpc>
                <a:spcPct val="100000"/>
              </a:lnSpc>
              <a:buNone/>
            </a:pPr>
            <a:r>
              <a:rPr lang="en-US" sz="1450" dirty="0">
                <a:solidFill>
                  <a:srgbClr val="3C3939"/>
                </a:solidFill>
                <a:latin typeface="Calibri" panose="020F0502020204030204" pitchFamily="34" charset="0"/>
                <a:ea typeface="Calibri" panose="020F0502020204030204" pitchFamily="34" charset="0"/>
                <a:cs typeface="Calibri" panose="020F0502020204030204" pitchFamily="34" charset="0"/>
              </a:rPr>
              <a:t>1</a:t>
            </a:r>
            <a:endParaRPr lang="en-US" sz="1450" dirty="0"/>
          </a:p>
        </p:txBody>
      </p:sp>
      <p:sp>
        <p:nvSpPr>
          <p:cNvPr id="12" name="Text 10"/>
          <p:cNvSpPr/>
          <p:nvPr/>
        </p:nvSpPr>
        <p:spPr>
          <a:xfrm>
            <a:off x="661475" y="1925141"/>
            <a:ext cx="4814172" cy="193774"/>
          </a:xfrm>
          <a:prstGeom prst="rect">
            <a:avLst/>
          </a:prstGeom>
          <a:noFill/>
        </p:spPr>
        <p:txBody>
          <a:bodyPr wrap="none" lIns="0" tIns="0" rIns="0" bIns="0" rtlCol="0" anchor="t"/>
          <a:lstStyle/>
          <a:p>
            <a:pPr marL="0" indent="0" algn="r">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Past</a:t>
            </a:r>
            <a:endParaRPr lang="en-US" sz="1200" b="1" dirty="0"/>
          </a:p>
        </p:txBody>
      </p:sp>
      <p:sp>
        <p:nvSpPr>
          <p:cNvPr id="13" name="Text 11"/>
          <p:cNvSpPr/>
          <p:nvPr/>
        </p:nvSpPr>
        <p:spPr>
          <a:xfrm>
            <a:off x="661475" y="2174677"/>
            <a:ext cx="4814172" cy="520898"/>
          </a:xfrm>
          <a:prstGeom prst="rect">
            <a:avLst/>
          </a:prstGeom>
          <a:noFill/>
        </p:spPr>
        <p:txBody>
          <a:bodyPr wrap="square" lIns="0" tIns="0" rIns="0" bIns="0" rtlCol="0" anchor="t">
            <a:normAutofit/>
          </a:bodyPr>
          <a:lstStyle/>
          <a:p>
            <a:pPr marL="0" indent="0" algn="r">
              <a:lnSpc>
                <a:spcPct val="117000"/>
              </a:lnSpc>
              <a:buNone/>
            </a:pP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Local Businesses.</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Entrepreneurs needed physical locations and significant startup capital. Restaurants, shops, and service companies were the norm. Success required deep community roots.</a:t>
            </a:r>
            <a:endParaRPr lang="en-US" sz="950" dirty="0"/>
          </a:p>
        </p:txBody>
      </p:sp>
      <p:sp>
        <p:nvSpPr>
          <p:cNvPr id="14" name="Shape 12"/>
          <p:cNvSpPr/>
          <p:nvPr/>
        </p:nvSpPr>
        <p:spPr>
          <a:xfrm>
            <a:off x="6222695" y="2697857"/>
            <a:ext cx="372061" cy="12700"/>
          </a:xfrm>
          <a:prstGeom prst="roundRect">
            <a:avLst>
              <a:gd name="adj" fmla="val 49999"/>
            </a:avLst>
          </a:prstGeom>
          <a:solidFill>
            <a:srgbClr val="C7C7D0"/>
          </a:solidFill>
        </p:spPr>
      </p:sp>
      <p:sp>
        <p:nvSpPr>
          <p:cNvPr id="15" name="Shape 13"/>
          <p:cNvSpPr/>
          <p:nvPr/>
        </p:nvSpPr>
        <p:spPr>
          <a:xfrm>
            <a:off x="5956300" y="2564705"/>
            <a:ext cx="279095" cy="279102"/>
          </a:xfrm>
          <a:prstGeom prst="roundRect">
            <a:avLst>
              <a:gd name="adj" fmla="val 18667"/>
            </a:avLst>
          </a:prstGeom>
          <a:solidFill>
            <a:srgbClr val="E1E1EA"/>
          </a:solidFill>
          <a:ln w="6350">
            <a:solidFill>
              <a:srgbClr val="C7C7D0"/>
            </a:solidFill>
            <a:prstDash val="solid"/>
          </a:ln>
        </p:spPr>
      </p:sp>
      <p:sp>
        <p:nvSpPr>
          <p:cNvPr id="16" name="Text 14"/>
          <p:cNvSpPr/>
          <p:nvPr/>
        </p:nvSpPr>
        <p:spPr>
          <a:xfrm>
            <a:off x="6002783" y="2587923"/>
            <a:ext cx="186031" cy="232569"/>
          </a:xfrm>
          <a:prstGeom prst="rect">
            <a:avLst/>
          </a:prstGeom>
          <a:noFill/>
        </p:spPr>
        <p:txBody>
          <a:bodyPr wrap="none" lIns="0" tIns="0" rIns="0" bIns="0" rtlCol="0" anchor="ctr"/>
          <a:lstStyle/>
          <a:p>
            <a:pPr marL="0" indent="0" algn="ctr">
              <a:lnSpc>
                <a:spcPct val="100000"/>
              </a:lnSpc>
              <a:buNone/>
            </a:pPr>
            <a:r>
              <a:rPr lang="en-US" sz="1450" dirty="0">
                <a:solidFill>
                  <a:srgbClr val="3C3939"/>
                </a:solidFill>
                <a:latin typeface="Calibri" panose="020F0502020204030204" pitchFamily="34" charset="0"/>
                <a:ea typeface="Calibri" panose="020F0502020204030204" pitchFamily="34" charset="0"/>
                <a:cs typeface="Calibri" panose="020F0502020204030204" pitchFamily="34" charset="0"/>
              </a:rPr>
              <a:t>2</a:t>
            </a:r>
            <a:endParaRPr lang="en-US" sz="1450" dirty="0"/>
          </a:p>
        </p:txBody>
      </p:sp>
      <p:sp>
        <p:nvSpPr>
          <p:cNvPr id="17" name="Text 15"/>
          <p:cNvSpPr/>
          <p:nvPr/>
        </p:nvSpPr>
        <p:spPr>
          <a:xfrm>
            <a:off x="6716048" y="2607270"/>
            <a:ext cx="4814172" cy="193774"/>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Present</a:t>
            </a:r>
            <a:endParaRPr lang="en-US" sz="1200" b="1" dirty="0"/>
          </a:p>
        </p:txBody>
      </p:sp>
      <p:sp>
        <p:nvSpPr>
          <p:cNvPr id="18" name="Text 16"/>
          <p:cNvSpPr/>
          <p:nvPr/>
        </p:nvSpPr>
        <p:spPr>
          <a:xfrm>
            <a:off x="6716048" y="2856805"/>
            <a:ext cx="4814172" cy="520898"/>
          </a:xfrm>
          <a:prstGeom prst="rect">
            <a:avLst/>
          </a:prstGeom>
          <a:noFill/>
        </p:spPr>
        <p:txBody>
          <a:bodyPr wrap="square" lIns="0" tIns="0" rIns="0" bIns="0" rtlCol="0" anchor="t">
            <a:normAutofit/>
          </a:bodyPr>
          <a:lstStyle/>
          <a:p>
            <a:pPr>
              <a:lnSpc>
                <a:spcPct val="117000"/>
              </a:lnSpc>
            </a:pP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Digital Revolution.</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A teenager with a laptop can start a global business from their bedroom. </a:t>
            </a:r>
            <a:r>
              <a:rPr lang="en-US" sz="1000" dirty="0"/>
              <a:t>Many successful businesses began as small ideas before growing into global companies</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E-commerce and social media changed everything.</a:t>
            </a:r>
            <a:endParaRPr lang="en-US" sz="950" dirty="0"/>
          </a:p>
        </p:txBody>
      </p:sp>
      <p:sp>
        <p:nvSpPr>
          <p:cNvPr id="19" name="Shape 17"/>
          <p:cNvSpPr/>
          <p:nvPr/>
        </p:nvSpPr>
        <p:spPr>
          <a:xfrm>
            <a:off x="5596938" y="3308251"/>
            <a:ext cx="372061" cy="12700"/>
          </a:xfrm>
          <a:prstGeom prst="roundRect">
            <a:avLst>
              <a:gd name="adj" fmla="val 49999"/>
            </a:avLst>
          </a:prstGeom>
          <a:solidFill>
            <a:srgbClr val="C7C7D0"/>
          </a:solidFill>
        </p:spPr>
      </p:sp>
      <p:sp>
        <p:nvSpPr>
          <p:cNvPr id="20" name="Shape 18"/>
          <p:cNvSpPr/>
          <p:nvPr/>
        </p:nvSpPr>
        <p:spPr>
          <a:xfrm>
            <a:off x="5956300" y="3175099"/>
            <a:ext cx="279095" cy="279102"/>
          </a:xfrm>
          <a:prstGeom prst="roundRect">
            <a:avLst>
              <a:gd name="adj" fmla="val 18667"/>
            </a:avLst>
          </a:prstGeom>
          <a:solidFill>
            <a:srgbClr val="E1E1EA"/>
          </a:solidFill>
          <a:ln w="6350">
            <a:solidFill>
              <a:srgbClr val="C7C7D0"/>
            </a:solidFill>
            <a:prstDash val="solid"/>
          </a:ln>
        </p:spPr>
      </p:sp>
      <p:sp>
        <p:nvSpPr>
          <p:cNvPr id="21" name="Text 19"/>
          <p:cNvSpPr/>
          <p:nvPr/>
        </p:nvSpPr>
        <p:spPr>
          <a:xfrm>
            <a:off x="6002783" y="3198316"/>
            <a:ext cx="186031" cy="232569"/>
          </a:xfrm>
          <a:prstGeom prst="rect">
            <a:avLst/>
          </a:prstGeom>
          <a:noFill/>
        </p:spPr>
        <p:txBody>
          <a:bodyPr wrap="none" lIns="0" tIns="0" rIns="0" bIns="0" rtlCol="0" anchor="ctr"/>
          <a:lstStyle/>
          <a:p>
            <a:pPr marL="0" indent="0" algn="ctr">
              <a:lnSpc>
                <a:spcPct val="100000"/>
              </a:lnSpc>
              <a:buNone/>
            </a:pPr>
            <a:r>
              <a:rPr lang="en-US" sz="1450" dirty="0">
                <a:solidFill>
                  <a:srgbClr val="3C3939"/>
                </a:solidFill>
                <a:latin typeface="Calibri" panose="020F0502020204030204" pitchFamily="34" charset="0"/>
                <a:ea typeface="Calibri" panose="020F0502020204030204" pitchFamily="34" charset="0"/>
                <a:cs typeface="Calibri" panose="020F0502020204030204" pitchFamily="34" charset="0"/>
              </a:rPr>
              <a:t>3</a:t>
            </a:r>
            <a:endParaRPr lang="en-US" sz="1450" dirty="0"/>
          </a:p>
        </p:txBody>
      </p:sp>
      <p:sp>
        <p:nvSpPr>
          <p:cNvPr id="22" name="Text 20"/>
          <p:cNvSpPr/>
          <p:nvPr/>
        </p:nvSpPr>
        <p:spPr>
          <a:xfrm>
            <a:off x="661475" y="3217664"/>
            <a:ext cx="4814172" cy="193774"/>
          </a:xfrm>
          <a:prstGeom prst="rect">
            <a:avLst/>
          </a:prstGeom>
          <a:noFill/>
        </p:spPr>
        <p:txBody>
          <a:bodyPr wrap="none" lIns="0" tIns="0" rIns="0" bIns="0" rtlCol="0" anchor="t"/>
          <a:lstStyle/>
          <a:p>
            <a:pPr marL="0" indent="0" algn="r">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Future</a:t>
            </a:r>
            <a:endParaRPr lang="en-US" sz="1200" b="1" dirty="0"/>
          </a:p>
        </p:txBody>
      </p:sp>
      <p:sp>
        <p:nvSpPr>
          <p:cNvPr id="23" name="Text 21"/>
          <p:cNvSpPr/>
          <p:nvPr/>
        </p:nvSpPr>
        <p:spPr>
          <a:xfrm>
            <a:off x="661475" y="3467199"/>
            <a:ext cx="4814172" cy="520898"/>
          </a:xfrm>
          <a:prstGeom prst="rect">
            <a:avLst/>
          </a:prstGeom>
          <a:noFill/>
        </p:spPr>
        <p:txBody>
          <a:bodyPr wrap="square" lIns="0" tIns="0" rIns="0" bIns="0" rtlCol="0" anchor="t">
            <a:normAutofit/>
          </a:bodyPr>
          <a:lstStyle/>
          <a:p>
            <a:pPr marL="0" indent="0" algn="r">
              <a:lnSpc>
                <a:spcPct val="117000"/>
              </a:lnSpc>
              <a:buNone/>
            </a:pP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The Future.</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Entrepreneurs are tackling climate change, building AI-powered tools, and creating businesses that prioritize social good alongside profit. The opportunities are endless.</a:t>
            </a:r>
            <a:endParaRPr lang="en-US" sz="950" dirty="0"/>
          </a:p>
        </p:txBody>
      </p:sp>
      <p:sp>
        <p:nvSpPr>
          <p:cNvPr id="24" name="Text 22"/>
          <p:cNvSpPr/>
          <p:nvPr/>
        </p:nvSpPr>
        <p:spPr>
          <a:xfrm>
            <a:off x="847505" y="4419203"/>
            <a:ext cx="11292300" cy="173633"/>
          </a:xfrm>
          <a:prstGeom prst="rect">
            <a:avLst/>
          </a:prstGeom>
          <a:noFill/>
        </p:spPr>
        <p:txBody>
          <a:bodyPr wrap="none" lIns="0" tIns="0" rIns="0" bIns="0" rtlCol="0" anchor="t"/>
          <a:lstStyle/>
          <a:p>
            <a:pPr marL="0" indent="0" algn="l">
              <a:lnSpc>
                <a:spcPct val="117000"/>
              </a:lnSpc>
              <a:buNone/>
            </a:pPr>
            <a:r>
              <a:rPr lang="en-US" sz="1000" b="1" dirty="0">
                <a:solidFill>
                  <a:srgbClr val="3C3939"/>
                </a:solidFill>
                <a:latin typeface="Cambria" panose="02040503050406030204" pitchFamily="18" charset="0"/>
                <a:ea typeface="Cambria" panose="02040503050406030204" pitchFamily="18" charset="0"/>
                <a:cs typeface="Roboto" panose="02000000000000000000" pitchFamily="34" charset="-120"/>
              </a:rPr>
              <a:t>"The internet has democratized entrepreneurship. You don't need a huge investment. You don't need a physical store. You just need an idea, determination, and the willingness to learn."</a:t>
            </a:r>
            <a:endParaRPr lang="en-US" sz="1000" b="1" dirty="0"/>
          </a:p>
        </p:txBody>
      </p:sp>
      <p:sp>
        <p:nvSpPr>
          <p:cNvPr id="25" name="Shape 23"/>
          <p:cNvSpPr/>
          <p:nvPr/>
        </p:nvSpPr>
        <p:spPr>
          <a:xfrm>
            <a:off x="661475" y="4314627"/>
            <a:ext cx="12700" cy="382786"/>
          </a:xfrm>
          <a:prstGeom prst="roundRect">
            <a:avLst>
              <a:gd name="adj" fmla="val 49999"/>
            </a:avLst>
          </a:prstGeom>
          <a:solidFill>
            <a:srgbClr val="1B1B27"/>
          </a:solidFill>
        </p:spPr>
      </p:sp>
      <p:sp>
        <p:nvSpPr>
          <p:cNvPr id="26" name="Shape 24"/>
          <p:cNvSpPr/>
          <p:nvPr/>
        </p:nvSpPr>
        <p:spPr>
          <a:xfrm>
            <a:off x="572180" y="4801989"/>
            <a:ext cx="5461657" cy="1204416"/>
          </a:xfrm>
          <a:prstGeom prst="roundRect">
            <a:avLst>
              <a:gd name="adj" fmla="val 7415"/>
            </a:avLst>
          </a:prstGeom>
          <a:solidFill>
            <a:srgbClr val="1B1B27">
              <a:alpha val="95000"/>
            </a:srgbClr>
          </a:solidFill>
        </p:spPr>
      </p:sp>
      <p:sp>
        <p:nvSpPr>
          <p:cNvPr id="27" name="Text 25"/>
          <p:cNvSpPr/>
          <p:nvPr/>
        </p:nvSpPr>
        <p:spPr>
          <a:xfrm>
            <a:off x="696201" y="4894957"/>
            <a:ext cx="5213616" cy="193774"/>
          </a:xfrm>
          <a:prstGeom prst="rect">
            <a:avLst/>
          </a:prstGeom>
          <a:noFill/>
        </p:spPr>
        <p:txBody>
          <a:bodyPr wrap="none" lIns="0" tIns="0" rIns="0" bIns="0" rtlCol="0" anchor="t"/>
          <a:lstStyle/>
          <a:p>
            <a:pPr marL="0" indent="0" algn="l">
              <a:lnSpc>
                <a:spcPct val="104000"/>
              </a:lnSpc>
              <a:buNone/>
            </a:pPr>
            <a:r>
              <a:rPr lang="en-US" sz="1200" b="1" dirty="0">
                <a:solidFill>
                  <a:srgbClr val="FFFFFF"/>
                </a:solidFill>
                <a:latin typeface="Calibri" panose="020F0502020204030204" pitchFamily="34" charset="0"/>
                <a:ea typeface="Calibri" panose="020F0502020204030204" pitchFamily="34" charset="0"/>
                <a:cs typeface="Calibri" panose="020F0502020204030204" pitchFamily="34" charset="0"/>
              </a:rPr>
              <a:t>What Changed?</a:t>
            </a:r>
            <a:endParaRPr lang="en-US" sz="1200" b="1" dirty="0"/>
          </a:p>
        </p:txBody>
      </p:sp>
      <p:sp>
        <p:nvSpPr>
          <p:cNvPr id="28" name="Text 26"/>
          <p:cNvSpPr/>
          <p:nvPr/>
        </p:nvSpPr>
        <p:spPr>
          <a:xfrm>
            <a:off x="696201" y="5181699"/>
            <a:ext cx="5213616" cy="792163"/>
          </a:xfrm>
          <a:prstGeom prst="rect">
            <a:avLst/>
          </a:prstGeom>
          <a:noFill/>
        </p:spPr>
        <p:txBody>
          <a:bodyPr wrap="square" lIns="0" tIns="0" rIns="0" bIns="0" rtlCol="0" anchor="t">
            <a:normAutofit/>
          </a:bodyPr>
          <a:lstStyle/>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Barriers to entry have never been lower.</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Global reach is accessible from day one.</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AI, sustainability, and social impact are the new frontiers.</a:t>
            </a:r>
            <a:endParaRPr lang="en-US" sz="950" dirty="0">
              <a:solidFill>
                <a:srgbClr val="FFC000"/>
              </a:solidFill>
            </a:endParaRPr>
          </a:p>
          <a:p>
            <a:pPr marL="193040" indent="-193040" algn="l">
              <a:lnSpc>
                <a:spcPct val="117000"/>
              </a:lnSpc>
              <a:buSzPct val="100000"/>
              <a:buChar char="•"/>
            </a:pPr>
            <a:r>
              <a:rPr lang="en-US" sz="950" dirty="0">
                <a:solidFill>
                  <a:srgbClr val="FFC000"/>
                </a:solidFill>
                <a:latin typeface="Cambria" panose="02040503050406030204" pitchFamily="18" charset="0"/>
                <a:ea typeface="Cambria" panose="02040503050406030204" pitchFamily="18" charset="0"/>
                <a:cs typeface="Roboto" panose="02000000000000000000" pitchFamily="34" charset="-120"/>
              </a:rPr>
              <a:t>Students today can launch businesses that previous generations couldn't imagine.</a:t>
            </a:r>
            <a:endParaRPr lang="en-US" sz="950" dirty="0">
              <a:solidFill>
                <a:srgbClr val="FFC000"/>
              </a:solidFill>
            </a:endParaRPr>
          </a:p>
        </p:txBody>
      </p:sp>
      <p:sp>
        <p:nvSpPr>
          <p:cNvPr id="29" name="Text 27"/>
          <p:cNvSpPr/>
          <p:nvPr/>
        </p:nvSpPr>
        <p:spPr>
          <a:xfrm>
            <a:off x="6253502" y="4894957"/>
            <a:ext cx="5283068" cy="193774"/>
          </a:xfrm>
          <a:prstGeom prst="rect">
            <a:avLst/>
          </a:prstGeom>
          <a:noFill/>
        </p:spPr>
        <p:txBody>
          <a:bodyPr wrap="none" lIns="0" tIns="0" rIns="0" bIns="0" rtlCol="0" anchor="t"/>
          <a:lstStyle/>
          <a:p>
            <a:pPr marL="0" indent="0" algn="l">
              <a:lnSpc>
                <a:spcPct val="104000"/>
              </a:lnSpc>
              <a:buNone/>
            </a:pPr>
            <a:r>
              <a:rPr lang="en-US" sz="1200" b="1" dirty="0">
                <a:solidFill>
                  <a:srgbClr val="1B1B27"/>
                </a:solidFill>
                <a:latin typeface="Calibri" panose="020F0502020204030204" pitchFamily="34" charset="0"/>
                <a:ea typeface="Calibri" panose="020F0502020204030204" pitchFamily="34" charset="0"/>
                <a:cs typeface="Calibri" panose="020F0502020204030204" pitchFamily="34" charset="0"/>
              </a:rPr>
              <a:t>Animation &amp; Developer Notes</a:t>
            </a:r>
            <a:endParaRPr lang="en-US" sz="1200" b="1" dirty="0"/>
          </a:p>
        </p:txBody>
      </p:sp>
      <p:sp>
        <p:nvSpPr>
          <p:cNvPr id="30" name="Text 28"/>
          <p:cNvSpPr/>
          <p:nvPr/>
        </p:nvSpPr>
        <p:spPr>
          <a:xfrm>
            <a:off x="6253502" y="5181699"/>
            <a:ext cx="5283068" cy="792163"/>
          </a:xfrm>
          <a:prstGeom prst="rect">
            <a:avLst/>
          </a:prstGeom>
          <a:noFill/>
        </p:spPr>
        <p:txBody>
          <a:bodyPr wrap="square" lIns="0" tIns="0" rIns="0" bIns="0" rtlCol="0" anchor="t">
            <a:normAutofit/>
          </a:bodyPr>
          <a:lstStyle/>
          <a:p>
            <a:pPr marL="171450" indent="-171450" algn="l">
              <a:lnSpc>
                <a:spcPct val="117000"/>
              </a:lnSpc>
              <a:buSzPct val="100000"/>
              <a:buFont typeface="Arial" panose="020B0604020202020204" pitchFamily="34" charset="0"/>
              <a:buChar char="•"/>
            </a:pPr>
            <a:r>
              <a:rPr lang="en-US" sz="950" dirty="0">
                <a:solidFill>
                  <a:schemeClr val="tx2"/>
                </a:solidFill>
                <a:latin typeface="Cambria" panose="02040503050406030204" pitchFamily="18" charset="0"/>
                <a:ea typeface="Cambria" panose="02040503050406030204" pitchFamily="18" charset="0"/>
                <a:cs typeface="Roboto" panose="02000000000000000000" pitchFamily="34" charset="-120"/>
              </a:rPr>
              <a:t>Timeline appears left to right (0–15 sec)</a:t>
            </a:r>
            <a:endParaRPr lang="en-US" sz="950" dirty="0">
              <a:solidFill>
                <a:schemeClr val="tx2"/>
              </a:solidFill>
            </a:endParaRPr>
          </a:p>
          <a:p>
            <a:pPr marL="171450" indent="-171450" algn="l">
              <a:lnSpc>
                <a:spcPct val="117000"/>
              </a:lnSpc>
              <a:buSzPct val="100000"/>
              <a:buFont typeface="Arial" panose="020B0604020202020204" pitchFamily="34" charset="0"/>
              <a:buChar char="•"/>
            </a:pPr>
            <a:r>
              <a:rPr lang="en-US" sz="950" dirty="0">
                <a:solidFill>
                  <a:schemeClr val="tx2"/>
                </a:solidFill>
                <a:latin typeface="Cambria" panose="02040503050406030204" pitchFamily="18" charset="0"/>
                <a:ea typeface="Cambria" panose="02040503050406030204" pitchFamily="18" charset="0"/>
                <a:cs typeface="Roboto" panose="02000000000000000000" pitchFamily="34" charset="-120"/>
              </a:rPr>
              <a:t>Era cards appear with staggered timing (15–35 sec)</a:t>
            </a:r>
          </a:p>
          <a:p>
            <a:pPr marL="171450" indent="-171450" algn="l">
              <a:lnSpc>
                <a:spcPct val="117000"/>
              </a:lnSpc>
              <a:buSzPct val="100000"/>
              <a:buFont typeface="Arial" panose="020B0604020202020204" pitchFamily="34" charset="0"/>
              <a:buChar char="•"/>
            </a:pPr>
            <a:r>
              <a:rPr lang="en-US" sz="1000" dirty="0"/>
              <a:t>Use illustrations or examples of well-known businesses that began as small ideas.</a:t>
            </a:r>
          </a:p>
          <a:p>
            <a:pPr marL="171450" indent="-171450">
              <a:lnSpc>
                <a:spcPct val="117000"/>
              </a:lnSpc>
              <a:buSzPct val="100000"/>
              <a:buFont typeface="Arial" panose="020B0604020202020204" pitchFamily="34" charset="0"/>
              <a:buChar char="•"/>
            </a:pPr>
            <a:r>
              <a:rPr lang="en-US" sz="950" dirty="0">
                <a:solidFill>
                  <a:schemeClr val="tx2"/>
                </a:solidFill>
                <a:latin typeface="Cambria" panose="02040503050406030204" pitchFamily="18" charset="0"/>
                <a:ea typeface="Cambria" panose="02040503050406030204" pitchFamily="18" charset="0"/>
                <a:cs typeface="Roboto" panose="02000000000000000000" pitchFamily="34" charset="-120"/>
              </a:rPr>
              <a:t>Tone: optimistic and forward-thinking. Music: upbeat, forward-looking (0–50 sec)</a:t>
            </a:r>
            <a:endParaRPr lang="en-US" sz="950" dirty="0">
              <a:solidFill>
                <a:schemeClr val="tx2"/>
              </a:solidFill>
            </a:endParaRPr>
          </a:p>
        </p:txBody>
      </p:sp>
      <p:sp>
        <p:nvSpPr>
          <p:cNvPr id="31" name="Rounded Rectangle 30"/>
          <p:cNvSpPr/>
          <p:nvPr/>
        </p:nvSpPr>
        <p:spPr>
          <a:xfrm>
            <a:off x="11019790" y="6577965"/>
            <a:ext cx="1120140" cy="23114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GB"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989211"/>
            <a:ext cx="807224" cy="188516"/>
          </a:xfrm>
          <a:prstGeom prst="roundRect">
            <a:avLst>
              <a:gd name="adj" fmla="val 22109"/>
            </a:avLst>
          </a:prstGeom>
          <a:solidFill>
            <a:srgbClr val="E1E1EA"/>
          </a:solidFill>
        </p:spPr>
      </p:sp>
      <p:sp>
        <p:nvSpPr>
          <p:cNvPr id="3" name="Text 1"/>
          <p:cNvSpPr/>
          <p:nvPr/>
        </p:nvSpPr>
        <p:spPr>
          <a:xfrm>
            <a:off x="735887" y="1026418"/>
            <a:ext cx="1267984" cy="114102"/>
          </a:xfrm>
          <a:prstGeom prst="rect">
            <a:avLst/>
          </a:prstGeom>
          <a:noFill/>
        </p:spPr>
        <p:txBody>
          <a:bodyPr wrap="none" lIns="0" tIns="0" rIns="0" bIns="0" rtlCol="0" anchor="t"/>
          <a:lstStyle/>
          <a:p>
            <a:pPr marL="0" indent="0" algn="l">
              <a:lnSpc>
                <a:spcPct val="96000"/>
              </a:lnSpc>
              <a:buNone/>
            </a:pPr>
            <a:r>
              <a:rPr lang="en-US" sz="750" dirty="0">
                <a:solidFill>
                  <a:srgbClr val="3C3939"/>
                </a:solidFill>
                <a:latin typeface="Cambria" panose="02040503050406030204" pitchFamily="18" charset="0"/>
                <a:ea typeface="Cambria" panose="02040503050406030204" pitchFamily="18" charset="0"/>
                <a:cs typeface="Roboto" panose="02000000000000000000" pitchFamily="34" charset="-120"/>
              </a:rPr>
              <a:t>SLIDE 7 · DATA</a:t>
            </a:r>
            <a:endParaRPr lang="en-US" sz="750" dirty="0"/>
          </a:p>
        </p:txBody>
      </p:sp>
      <p:sp>
        <p:nvSpPr>
          <p:cNvPr id="6" name="Text 4"/>
          <p:cNvSpPr/>
          <p:nvPr/>
        </p:nvSpPr>
        <p:spPr>
          <a:xfrm>
            <a:off x="661475" y="1214934"/>
            <a:ext cx="10868745" cy="387648"/>
          </a:xfrm>
          <a:prstGeom prst="rect">
            <a:avLst/>
          </a:prstGeom>
          <a:noFill/>
        </p:spPr>
        <p:txBody>
          <a:bodyPr wrap="none" lIns="0" tIns="0" rIns="0" bIns="0" rtlCol="0" anchor="t"/>
          <a:lstStyle/>
          <a:p>
            <a:pPr>
              <a:lnSpc>
                <a:spcPct val="104000"/>
              </a:lnSpc>
            </a:pPr>
            <a:r>
              <a:rPr lang="en-US" sz="2400" dirty="0"/>
              <a:t>The Importance of Small Businesses</a:t>
            </a:r>
          </a:p>
        </p:txBody>
      </p:sp>
      <p:sp>
        <p:nvSpPr>
          <p:cNvPr id="7" name="Text 5"/>
          <p:cNvSpPr/>
          <p:nvPr/>
        </p:nvSpPr>
        <p:spPr>
          <a:xfrm>
            <a:off x="661475" y="1742083"/>
            <a:ext cx="11478330" cy="173633"/>
          </a:xfrm>
          <a:prstGeom prst="rect">
            <a:avLst/>
          </a:prstGeom>
          <a:noFill/>
        </p:spPr>
        <p:txBody>
          <a:bodyPr wrap="none" lIns="0" tIns="0" rIns="0" bIns="0" rtlCol="0" anchor="t"/>
          <a:lstStyle/>
          <a:p>
            <a:pPr>
              <a:lnSpc>
                <a:spcPct val="117000"/>
              </a:lnSpc>
            </a:pP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a:t>
            </a:r>
            <a:r>
              <a:rPr lang="en-US" sz="950" dirty="0">
                <a:solidFill>
                  <a:srgbClr val="3C3939"/>
                </a:solidFill>
                <a:ea typeface="Cambria" panose="02040503050406030204" pitchFamily="18" charset="0"/>
                <a:cs typeface="Roboto" panose="02000000000000000000" pitchFamily="34" charset="-120"/>
              </a:rPr>
              <a:t>: </a:t>
            </a:r>
            <a:r>
              <a:rPr lang="en-US" sz="950" b="1" dirty="0">
                <a:solidFill>
                  <a:srgbClr val="3C3939"/>
                </a:solidFill>
                <a:ea typeface="Roboto Bold" panose="02000000000000000000" pitchFamily="34" charset="-122"/>
                <a:cs typeface="Roboto Bold" panose="02000000000000000000" pitchFamily="34" charset="-120"/>
              </a:rPr>
              <a:t>Informational / Data Visualization</a:t>
            </a:r>
            <a:r>
              <a:rPr lang="en-US" sz="950" dirty="0">
                <a:solidFill>
                  <a:srgbClr val="3C3939"/>
                </a:solidFill>
                <a:ea typeface="Cambria" panose="02040503050406030204" pitchFamily="18" charset="0"/>
                <a:cs typeface="Roboto" panose="02000000000000000000" pitchFamily="34" charset="-120"/>
              </a:rPr>
              <a:t> </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Estimated Duration: </a:t>
            </a:r>
            <a:r>
              <a:rPr lang="en-US" sz="9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45 seconds</a:t>
            </a:r>
            <a:r>
              <a:rPr lang="en-US" sz="950" dirty="0">
                <a:solidFill>
                  <a:srgbClr val="3C3939"/>
                </a:solidFill>
                <a:latin typeface="Cambria" panose="02040503050406030204" pitchFamily="18" charset="0"/>
                <a:ea typeface="Cambria" panose="02040503050406030204" pitchFamily="18" charset="0"/>
                <a:cs typeface="Roboto" panose="02000000000000000000" pitchFamily="34" charset="-120"/>
              </a:rPr>
              <a:t> . </a:t>
            </a:r>
            <a:r>
              <a:rPr lang="en-US" sz="1000" dirty="0"/>
              <a:t>Many successful businesses begin as small ideas before growing over time.</a:t>
            </a:r>
            <a:endParaRPr lang="en-US" sz="950" dirty="0"/>
          </a:p>
        </p:txBody>
      </p:sp>
      <p:sp>
        <p:nvSpPr>
          <p:cNvPr id="8" name="Text 6"/>
          <p:cNvSpPr/>
          <p:nvPr/>
        </p:nvSpPr>
        <p:spPr>
          <a:xfrm>
            <a:off x="1333467" y="2198849"/>
            <a:ext cx="4032149" cy="409377"/>
          </a:xfrm>
          <a:prstGeom prst="rect">
            <a:avLst/>
          </a:prstGeom>
          <a:noFill/>
        </p:spPr>
        <p:txBody>
          <a:bodyPr wrap="none" lIns="0" tIns="0" rIns="0" bIns="0" rtlCol="0" anchor="t"/>
          <a:lstStyle/>
          <a:p>
            <a:pPr algn="ctr">
              <a:lnSpc>
                <a:spcPct val="83000"/>
              </a:lnSpc>
            </a:pPr>
            <a:r>
              <a:rPr lang="en-IN" sz="2400" dirty="0"/>
              <a:t>Workforce Contribution</a:t>
            </a:r>
            <a:endParaRPr lang="en-US" sz="2400" dirty="0"/>
          </a:p>
        </p:txBody>
      </p:sp>
      <p:sp>
        <p:nvSpPr>
          <p:cNvPr id="9" name="Text 7"/>
          <p:cNvSpPr/>
          <p:nvPr/>
        </p:nvSpPr>
        <p:spPr>
          <a:xfrm>
            <a:off x="661474" y="2623442"/>
            <a:ext cx="5592027" cy="310319"/>
          </a:xfrm>
          <a:prstGeom prst="rect">
            <a:avLst/>
          </a:prstGeom>
          <a:noFill/>
        </p:spPr>
        <p:txBody>
          <a:bodyPr wrap="none" lIns="0" tIns="0" rIns="0" bIns="0" rtlCol="0" anchor="t"/>
          <a:lstStyle/>
          <a:p>
            <a:pPr algn="ctr">
              <a:lnSpc>
                <a:spcPct val="104000"/>
              </a:lnSpc>
            </a:pPr>
            <a:r>
              <a:rPr lang="en-US" sz="1000" dirty="0"/>
              <a:t>Small businesses create employment opportunities and strengthen local communities.</a:t>
            </a:r>
          </a:p>
        </p:txBody>
      </p:sp>
      <p:sp>
        <p:nvSpPr>
          <p:cNvPr id="11" name="Text 9"/>
          <p:cNvSpPr/>
          <p:nvPr/>
        </p:nvSpPr>
        <p:spPr>
          <a:xfrm>
            <a:off x="6825980" y="2198849"/>
            <a:ext cx="4032149" cy="409377"/>
          </a:xfrm>
          <a:prstGeom prst="rect">
            <a:avLst/>
          </a:prstGeom>
          <a:noFill/>
        </p:spPr>
        <p:txBody>
          <a:bodyPr wrap="none" lIns="0" tIns="0" rIns="0" bIns="0" rtlCol="0" anchor="t"/>
          <a:lstStyle/>
          <a:p>
            <a:pPr algn="ctr">
              <a:lnSpc>
                <a:spcPct val="83000"/>
              </a:lnSpc>
            </a:pPr>
            <a:r>
              <a:rPr lang="en-IN" sz="2400" dirty="0"/>
              <a:t>Job Creation</a:t>
            </a:r>
            <a:endParaRPr lang="en-US" sz="2400" dirty="0"/>
          </a:p>
        </p:txBody>
      </p:sp>
      <p:sp>
        <p:nvSpPr>
          <p:cNvPr id="13" name="Text 11"/>
          <p:cNvSpPr/>
          <p:nvPr/>
        </p:nvSpPr>
        <p:spPr>
          <a:xfrm>
            <a:off x="6153988" y="2630923"/>
            <a:ext cx="5376232" cy="173633"/>
          </a:xfrm>
          <a:prstGeom prst="rect">
            <a:avLst/>
          </a:prstGeom>
          <a:noFill/>
        </p:spPr>
        <p:txBody>
          <a:bodyPr wrap="none" lIns="0" tIns="0" rIns="0" bIns="0" rtlCol="0" anchor="t"/>
          <a:lstStyle/>
          <a:p>
            <a:pPr algn="ctr">
              <a:lnSpc>
                <a:spcPct val="117000"/>
              </a:lnSpc>
            </a:pPr>
            <a:r>
              <a:rPr lang="en-US" sz="1000" dirty="0"/>
              <a:t>Growing businesses generate new jobs and contribute to economic development.</a:t>
            </a:r>
          </a:p>
        </p:txBody>
      </p:sp>
      <p:sp>
        <p:nvSpPr>
          <p:cNvPr id="14" name="Text 12"/>
          <p:cNvSpPr/>
          <p:nvPr/>
        </p:nvSpPr>
        <p:spPr>
          <a:xfrm>
            <a:off x="1333467" y="3294658"/>
            <a:ext cx="4032149" cy="409377"/>
          </a:xfrm>
          <a:prstGeom prst="rect">
            <a:avLst/>
          </a:prstGeom>
          <a:noFill/>
        </p:spPr>
        <p:txBody>
          <a:bodyPr wrap="none" lIns="0" tIns="0" rIns="0" bIns="0" rtlCol="0" anchor="t"/>
          <a:lstStyle/>
          <a:p>
            <a:pPr algn="ctr">
              <a:lnSpc>
                <a:spcPct val="83000"/>
              </a:lnSpc>
            </a:pPr>
            <a:r>
              <a:rPr lang="en-IN" sz="2400" dirty="0"/>
              <a:t>Business Growth</a:t>
            </a:r>
            <a:endParaRPr lang="en-US" sz="2400" dirty="0"/>
          </a:p>
        </p:txBody>
      </p:sp>
      <p:sp>
        <p:nvSpPr>
          <p:cNvPr id="16" name="Text 14"/>
          <p:cNvSpPr/>
          <p:nvPr/>
        </p:nvSpPr>
        <p:spPr>
          <a:xfrm>
            <a:off x="661475" y="3771557"/>
            <a:ext cx="5376232" cy="173633"/>
          </a:xfrm>
          <a:prstGeom prst="rect">
            <a:avLst/>
          </a:prstGeom>
          <a:noFill/>
        </p:spPr>
        <p:txBody>
          <a:bodyPr wrap="none" lIns="0" tIns="0" rIns="0" bIns="0" rtlCol="0" anchor="t"/>
          <a:lstStyle/>
          <a:p>
            <a:pPr algn="ctr">
              <a:lnSpc>
                <a:spcPct val="117000"/>
              </a:lnSpc>
            </a:pPr>
            <a:r>
              <a:rPr lang="en-US" sz="1000" dirty="0"/>
              <a:t>Thousands of entrepreneurs start new businesses every year by identifying opportunities </a:t>
            </a:r>
          </a:p>
          <a:p>
            <a:pPr algn="ctr">
              <a:lnSpc>
                <a:spcPct val="117000"/>
              </a:lnSpc>
            </a:pPr>
            <a:r>
              <a:rPr lang="en-US" sz="1000" dirty="0"/>
              <a:t>and solving problems.</a:t>
            </a:r>
          </a:p>
        </p:txBody>
      </p:sp>
      <p:sp>
        <p:nvSpPr>
          <p:cNvPr id="17" name="Text 15"/>
          <p:cNvSpPr/>
          <p:nvPr/>
        </p:nvSpPr>
        <p:spPr>
          <a:xfrm>
            <a:off x="6825980" y="3294658"/>
            <a:ext cx="4032149" cy="409377"/>
          </a:xfrm>
          <a:prstGeom prst="rect">
            <a:avLst/>
          </a:prstGeom>
          <a:noFill/>
        </p:spPr>
        <p:txBody>
          <a:bodyPr wrap="none" lIns="0" tIns="0" rIns="0" bIns="0" rtlCol="0" anchor="t"/>
          <a:lstStyle/>
          <a:p>
            <a:pPr algn="ctr">
              <a:lnSpc>
                <a:spcPct val="83000"/>
              </a:lnSpc>
            </a:pPr>
            <a:r>
              <a:rPr lang="en-IN" sz="2400" dirty="0"/>
              <a:t>Small Businesses</a:t>
            </a:r>
            <a:endParaRPr lang="en-US" sz="2400" dirty="0"/>
          </a:p>
        </p:txBody>
      </p:sp>
      <p:sp>
        <p:nvSpPr>
          <p:cNvPr id="19" name="Text 17"/>
          <p:cNvSpPr/>
          <p:nvPr/>
        </p:nvSpPr>
        <p:spPr>
          <a:xfrm>
            <a:off x="6153988" y="3825347"/>
            <a:ext cx="5376232" cy="173633"/>
          </a:xfrm>
          <a:prstGeom prst="rect">
            <a:avLst/>
          </a:prstGeom>
          <a:noFill/>
        </p:spPr>
        <p:txBody>
          <a:bodyPr wrap="none" lIns="0" tIns="0" rIns="0" bIns="0" rtlCol="0" anchor="t"/>
          <a:lstStyle/>
          <a:p>
            <a:pPr algn="ctr">
              <a:lnSpc>
                <a:spcPct val="117000"/>
              </a:lnSpc>
            </a:pPr>
            <a:r>
              <a:rPr lang="en-US" sz="1000" dirty="0"/>
              <a:t>Many successful companies begin as small businesses before expanding over time.</a:t>
            </a:r>
            <a:endParaRPr lang="en-US" sz="950" dirty="0"/>
          </a:p>
        </p:txBody>
      </p:sp>
      <p:sp>
        <p:nvSpPr>
          <p:cNvPr id="20" name="Shape 18"/>
          <p:cNvSpPr/>
          <p:nvPr/>
        </p:nvSpPr>
        <p:spPr>
          <a:xfrm>
            <a:off x="572180" y="4363541"/>
            <a:ext cx="5461657" cy="1505148"/>
          </a:xfrm>
          <a:prstGeom prst="roundRect">
            <a:avLst>
              <a:gd name="adj" fmla="val 5934"/>
            </a:avLst>
          </a:prstGeom>
          <a:solidFill>
            <a:srgbClr val="1B1B27">
              <a:alpha val="95000"/>
            </a:srgbClr>
          </a:solidFill>
        </p:spPr>
      </p:sp>
      <p:sp>
        <p:nvSpPr>
          <p:cNvPr id="21" name="Text 19"/>
          <p:cNvSpPr/>
          <p:nvPr/>
        </p:nvSpPr>
        <p:spPr>
          <a:xfrm>
            <a:off x="696201" y="4456509"/>
            <a:ext cx="5213616" cy="193774"/>
          </a:xfrm>
          <a:prstGeom prst="rect">
            <a:avLst/>
          </a:prstGeom>
          <a:noFill/>
        </p:spPr>
        <p:txBody>
          <a:bodyPr wrap="none" lIns="0" tIns="0" rIns="0" bIns="0" rtlCol="0" anchor="t"/>
          <a:lstStyle/>
          <a:p>
            <a:pPr marL="0" indent="0" algn="l">
              <a:lnSpc>
                <a:spcPct val="104000"/>
              </a:lnSpc>
              <a:buNone/>
            </a:pPr>
            <a:r>
              <a:rPr lang="en-US" sz="1400" b="1" dirty="0">
                <a:solidFill>
                  <a:srgbClr val="FFFFFF"/>
                </a:solidFill>
                <a:latin typeface="Calibri" panose="020F0502020204030204" pitchFamily="34" charset="0"/>
                <a:ea typeface="Calibri" panose="020F0502020204030204" pitchFamily="34" charset="0"/>
                <a:cs typeface="Calibri" panose="020F0502020204030204" pitchFamily="34" charset="0"/>
              </a:rPr>
              <a:t>Voice-Over Script</a:t>
            </a:r>
            <a:endParaRPr lang="en-US" sz="1400" b="1" dirty="0"/>
          </a:p>
        </p:txBody>
      </p:sp>
      <p:sp>
        <p:nvSpPr>
          <p:cNvPr id="22" name="Text 20"/>
          <p:cNvSpPr/>
          <p:nvPr/>
        </p:nvSpPr>
        <p:spPr>
          <a:xfrm>
            <a:off x="696201" y="4743252"/>
            <a:ext cx="5213616" cy="1041797"/>
          </a:xfrm>
          <a:prstGeom prst="rect">
            <a:avLst/>
          </a:prstGeom>
          <a:noFill/>
        </p:spPr>
        <p:txBody>
          <a:bodyPr wrap="square" lIns="0" tIns="0" rIns="0" bIns="0" rtlCol="0" anchor="t">
            <a:normAutofit/>
          </a:bodyPr>
          <a:lstStyle/>
          <a:p>
            <a:pPr>
              <a:lnSpc>
                <a:spcPct val="117000"/>
              </a:lnSpc>
            </a:pPr>
            <a:r>
              <a:rPr lang="en-US" sz="1000" dirty="0">
                <a:solidFill>
                  <a:srgbClr val="FFC000"/>
                </a:solidFill>
              </a:rPr>
              <a:t>Small businesses play an important role in every economy. They create employment opportunities, encourage innovation, and strengthen local communities. Many successful companies begin as small businesses and gradually grow through dedication, creativity, and customer trust. Whether they remain small or expand into larger organizations, these businesses contribute to economic growth by solving problems and creating value for society.</a:t>
            </a:r>
            <a:endParaRPr lang="en-US" sz="950" dirty="0">
              <a:solidFill>
                <a:srgbClr val="FFC000"/>
              </a:solidFill>
            </a:endParaRPr>
          </a:p>
        </p:txBody>
      </p:sp>
      <p:sp>
        <p:nvSpPr>
          <p:cNvPr id="23" name="Text 21"/>
          <p:cNvSpPr/>
          <p:nvPr/>
        </p:nvSpPr>
        <p:spPr>
          <a:xfrm>
            <a:off x="6253502" y="4411684"/>
            <a:ext cx="5283068" cy="193774"/>
          </a:xfrm>
          <a:prstGeom prst="rect">
            <a:avLst/>
          </a:prstGeom>
          <a:noFill/>
        </p:spPr>
        <p:txBody>
          <a:bodyPr wrap="none" lIns="0" tIns="0" rIns="0" bIns="0" rtlCol="0" anchor="t"/>
          <a:lstStyle/>
          <a:p>
            <a:pPr marL="0" indent="0" algn="l">
              <a:lnSpc>
                <a:spcPct val="104000"/>
              </a:lnSpc>
              <a:buNone/>
            </a:pPr>
            <a:r>
              <a:rPr lang="en-US" sz="1400" b="1" dirty="0">
                <a:solidFill>
                  <a:srgbClr val="1B1B27"/>
                </a:solidFill>
                <a:latin typeface="Calibri" panose="020F0502020204030204" pitchFamily="34" charset="0"/>
                <a:ea typeface="Calibri" panose="020F0502020204030204" pitchFamily="34" charset="0"/>
                <a:cs typeface="Calibri" panose="020F0502020204030204" pitchFamily="34" charset="0"/>
              </a:rPr>
              <a:t>Developer &amp; Animation Notes</a:t>
            </a:r>
            <a:endParaRPr lang="en-US" sz="1400" b="1" dirty="0"/>
          </a:p>
        </p:txBody>
      </p:sp>
      <p:sp>
        <p:nvSpPr>
          <p:cNvPr id="29" name="TextBox 28">
            <a:extLst>
              <a:ext uri="{FF2B5EF4-FFF2-40B4-BE49-F238E27FC236}">
                <a16:creationId xmlns:a16="http://schemas.microsoft.com/office/drawing/2014/main" id="{0FB4B33B-9BBF-2B0F-CCBC-684362261785}"/>
              </a:ext>
            </a:extLst>
          </p:cNvPr>
          <p:cNvSpPr txBox="1"/>
          <p:nvPr/>
        </p:nvSpPr>
        <p:spPr>
          <a:xfrm>
            <a:off x="6253502" y="4650283"/>
            <a:ext cx="5140639" cy="1217962"/>
          </a:xfrm>
          <a:prstGeom prst="rect">
            <a:avLst/>
          </a:prstGeom>
          <a:noFill/>
        </p:spPr>
        <p:txBody>
          <a:bodyPr wrap="square" rtlCol="0">
            <a:spAutoFit/>
          </a:bodyPr>
          <a:lstStyle/>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dirty="0">
                <a:solidFill>
                  <a:schemeClr val="tx2"/>
                </a:solidFill>
              </a:rPr>
              <a:t>Animate the </a:t>
            </a:r>
            <a:r>
              <a:rPr lang="en-US" altLang="en-US" sz="1000" b="1" dirty="0">
                <a:solidFill>
                  <a:schemeClr val="tx2"/>
                </a:solidFill>
              </a:rPr>
              <a:t>bar chart</a:t>
            </a:r>
            <a:r>
              <a:rPr lang="en-US" altLang="en-US" sz="1000" dirty="0">
                <a:solidFill>
                  <a:schemeClr val="tx2"/>
                </a:solidFill>
              </a:rPr>
              <a:t> from left to right.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dirty="0">
                <a:solidFill>
                  <a:schemeClr val="tx2"/>
                </a:solidFill>
              </a:rPr>
              <a:t>Highlight each category as it is explained in the narration.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dirty="0">
                <a:solidFill>
                  <a:schemeClr val="tx2"/>
                </a:solidFill>
              </a:rPr>
              <a:t>Use simple icons with each bar to improve readability.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dirty="0">
                <a:solidFill>
                  <a:schemeClr val="tx2"/>
                </a:solidFill>
              </a:rPr>
              <a:t>Keep labels large and easy to read for Grades 6–9 learners. </a:t>
            </a:r>
          </a:p>
          <a:p>
            <a:pPr marL="171450" lvl="0" indent="-171450" eaLnBrk="0" fontAlgn="base" hangingPunct="0">
              <a:lnSpc>
                <a:spcPct val="150000"/>
              </a:lnSpc>
              <a:spcBef>
                <a:spcPct val="0"/>
              </a:spcBef>
              <a:spcAft>
                <a:spcPct val="0"/>
              </a:spcAft>
              <a:buFont typeface="Arial" panose="020B0604020202020204" pitchFamily="34" charset="0"/>
              <a:buChar char="•"/>
            </a:pPr>
            <a:r>
              <a:rPr lang="en-US" altLang="en-US" sz="1000" dirty="0">
                <a:solidFill>
                  <a:schemeClr val="tx2"/>
                </a:solidFill>
              </a:rPr>
              <a:t>Reveal one bar at a time with a subtle fade animation.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467717"/>
            <a:ext cx="1087906" cy="196751"/>
          </a:xfrm>
          <a:prstGeom prst="roundRect">
            <a:avLst>
              <a:gd name="adj" fmla="val 22132"/>
            </a:avLst>
          </a:prstGeom>
          <a:solidFill>
            <a:srgbClr val="E1E1EA"/>
          </a:solidFill>
        </p:spPr>
      </p:sp>
      <p:sp>
        <p:nvSpPr>
          <p:cNvPr id="3" name="Text 1"/>
          <p:cNvSpPr/>
          <p:nvPr/>
        </p:nvSpPr>
        <p:spPr>
          <a:xfrm>
            <a:off x="739161" y="506512"/>
            <a:ext cx="1542118" cy="119162"/>
          </a:xfrm>
          <a:prstGeom prst="rect">
            <a:avLst/>
          </a:prstGeom>
          <a:noFill/>
        </p:spPr>
        <p:txBody>
          <a:bodyPr wrap="none" lIns="0" tIns="0" rIns="0" bIns="0" rtlCol="0" anchor="t"/>
          <a:lstStyle/>
          <a:p>
            <a:pPr marL="0" indent="0" algn="l">
              <a:lnSpc>
                <a:spcPct val="96000"/>
              </a:lnSpc>
              <a:buNone/>
            </a:pPr>
            <a:r>
              <a:rPr lang="en-US" sz="800" dirty="0">
                <a:solidFill>
                  <a:srgbClr val="3C3939"/>
                </a:solidFill>
                <a:latin typeface="Cambria" panose="02040503050406030204" pitchFamily="18" charset="0"/>
                <a:ea typeface="Cambria" panose="02040503050406030204" pitchFamily="18" charset="0"/>
                <a:cs typeface="Roboto" panose="02000000000000000000" pitchFamily="34" charset="-120"/>
              </a:rPr>
              <a:t>SLIDE 8 · DIVERSITY</a:t>
            </a:r>
            <a:endParaRPr lang="en-US" sz="800" dirty="0"/>
          </a:p>
        </p:txBody>
      </p:sp>
      <p:sp>
        <p:nvSpPr>
          <p:cNvPr id="6" name="Text 4"/>
          <p:cNvSpPr/>
          <p:nvPr/>
        </p:nvSpPr>
        <p:spPr>
          <a:xfrm>
            <a:off x="661475" y="705048"/>
            <a:ext cx="10868745" cy="405011"/>
          </a:xfrm>
          <a:prstGeom prst="rect">
            <a:avLst/>
          </a:prstGeom>
          <a:noFill/>
        </p:spPr>
        <p:txBody>
          <a:bodyPr wrap="none" lIns="0" tIns="0" rIns="0" bIns="0" rtlCol="0" anchor="t"/>
          <a:lstStyle/>
          <a:p>
            <a:pPr marL="0" indent="0" algn="l">
              <a:lnSpc>
                <a:spcPct val="104000"/>
              </a:lnSpc>
              <a:buNone/>
            </a:pPr>
            <a:r>
              <a:rPr lang="en-US" sz="2550" dirty="0">
                <a:solidFill>
                  <a:srgbClr val="1B1B27"/>
                </a:solidFill>
                <a:latin typeface="Calibri" panose="020F0502020204030204" pitchFamily="34" charset="0"/>
                <a:ea typeface="Calibri" panose="020F0502020204030204" pitchFamily="34" charset="0"/>
                <a:cs typeface="Calibri" panose="020F0502020204030204" pitchFamily="34" charset="0"/>
              </a:rPr>
              <a:t>Diversity in Entrepreneurship</a:t>
            </a:r>
            <a:endParaRPr lang="en-US" sz="2550" dirty="0"/>
          </a:p>
        </p:txBody>
      </p:sp>
      <p:sp>
        <p:nvSpPr>
          <p:cNvPr id="7" name="Text 5"/>
          <p:cNvSpPr/>
          <p:nvPr/>
        </p:nvSpPr>
        <p:spPr>
          <a:xfrm>
            <a:off x="661475" y="1262360"/>
            <a:ext cx="11478330" cy="184845"/>
          </a:xfrm>
          <a:prstGeom prst="rect">
            <a:avLst/>
          </a:prstGeom>
          <a:noFill/>
        </p:spPr>
        <p:txBody>
          <a:bodyPr wrap="none" lIns="0" tIns="0" rIns="0" bIns="0" rtlCol="0" anchor="t"/>
          <a:lstStyle/>
          <a:p>
            <a:pPr marL="0" indent="0" algn="l">
              <a:lnSpc>
                <a:spcPct val="119000"/>
              </a:lnSpc>
              <a:buNone/>
            </a:pPr>
            <a:r>
              <a:rPr lang="en-US" sz="1000" dirty="0">
                <a:solidFill>
                  <a:srgbClr val="3C3939"/>
                </a:solidFill>
                <a:ea typeface="Cambria" panose="02040503050406030204" pitchFamily="18" charset="0"/>
                <a:cs typeface="Roboto" panose="02000000000000000000" pitchFamily="34" charset="-120"/>
              </a:rPr>
              <a:t>Screen Type: </a:t>
            </a:r>
            <a:r>
              <a:rPr lang="en-US" sz="1000" b="1" dirty="0">
                <a:solidFill>
                  <a:srgbClr val="3C3939"/>
                </a:solidFill>
                <a:ea typeface="Roboto Bold" panose="02000000000000000000" pitchFamily="34" charset="-122"/>
                <a:cs typeface="Roboto Bold" panose="02000000000000000000" pitchFamily="34" charset="-120"/>
              </a:rPr>
              <a:t>Diversity &amp; Inclusion / Data Visualization</a:t>
            </a:r>
            <a:r>
              <a:rPr lang="en-US" sz="1000" dirty="0">
                <a:solidFill>
                  <a:srgbClr val="3C3939"/>
                </a:solidFill>
                <a:ea typeface="Cambria" panose="02040503050406030204" pitchFamily="18" charset="0"/>
                <a:cs typeface="Roboto" panose="02000000000000000000" pitchFamily="34" charset="-120"/>
              </a:rPr>
              <a:t> · Estimated Duration: </a:t>
            </a:r>
            <a:r>
              <a:rPr lang="en-US" sz="1000" b="1" dirty="0">
                <a:solidFill>
                  <a:srgbClr val="3C3939"/>
                </a:solidFill>
                <a:ea typeface="Roboto Bold" panose="02000000000000000000" pitchFamily="34" charset="-122"/>
                <a:cs typeface="Roboto Bold" panose="02000000000000000000" pitchFamily="34" charset="-120"/>
              </a:rPr>
              <a:t>50 seconds</a:t>
            </a:r>
            <a:r>
              <a:rPr lang="en-US" sz="1000" dirty="0">
                <a:solidFill>
                  <a:srgbClr val="3C3939"/>
                </a:solidFill>
                <a:ea typeface="Cambria" panose="02040503050406030204" pitchFamily="18" charset="0"/>
                <a:cs typeface="Roboto" panose="02000000000000000000" pitchFamily="34" charset="-120"/>
              </a:rPr>
              <a:t> · </a:t>
            </a:r>
            <a:r>
              <a:rPr lang="en-US" sz="1000" b="1" dirty="0">
                <a:solidFill>
                  <a:srgbClr val="3C3939"/>
                </a:solidFill>
                <a:ea typeface="Roboto Bold" panose="02000000000000000000" pitchFamily="34" charset="-122"/>
                <a:cs typeface="Roboto Bold" panose="02000000000000000000" pitchFamily="34" charset="-120"/>
              </a:rPr>
              <a:t>Entrepreneurship is not limited to any one group.</a:t>
            </a:r>
            <a:endParaRPr lang="en-US" sz="1000" dirty="0"/>
          </a:p>
        </p:txBody>
      </p:sp>
      <p:pic>
        <p:nvPicPr>
          <p:cNvPr id="8" name="Image 0" descr="preencoded.png"/>
          <p:cNvPicPr>
            <a:picLocks noChangeAspect="1"/>
          </p:cNvPicPr>
          <p:nvPr/>
        </p:nvPicPr>
        <p:blipFill>
          <a:blip r:embed="rId3"/>
          <a:stretch>
            <a:fillRect/>
          </a:stretch>
        </p:blipFill>
        <p:spPr>
          <a:xfrm>
            <a:off x="661475" y="1675606"/>
            <a:ext cx="4960119" cy="3404195"/>
          </a:xfrm>
          <a:prstGeom prst="rect">
            <a:avLst/>
          </a:prstGeom>
        </p:spPr>
      </p:pic>
      <p:sp>
        <p:nvSpPr>
          <p:cNvPr id="9" name="Shape 6"/>
          <p:cNvSpPr/>
          <p:nvPr/>
        </p:nvSpPr>
        <p:spPr>
          <a:xfrm>
            <a:off x="6116224" y="2565452"/>
            <a:ext cx="4903566" cy="1289371"/>
          </a:xfrm>
          <a:prstGeom prst="roundRect">
            <a:avLst>
              <a:gd name="adj" fmla="val 2569"/>
            </a:avLst>
          </a:prstGeom>
          <a:solidFill>
            <a:srgbClr val="1B1B27">
              <a:alpha val="95000"/>
            </a:srgbClr>
          </a:solidFill>
        </p:spPr>
      </p:sp>
      <p:sp>
        <p:nvSpPr>
          <p:cNvPr id="10" name="Text 7"/>
          <p:cNvSpPr/>
          <p:nvPr/>
        </p:nvSpPr>
        <p:spPr>
          <a:xfrm>
            <a:off x="6245801" y="2666953"/>
            <a:ext cx="4644413" cy="202505"/>
          </a:xfrm>
          <a:prstGeom prst="rect">
            <a:avLst/>
          </a:prstGeom>
          <a:noFill/>
        </p:spPr>
        <p:txBody>
          <a:bodyPr wrap="none" lIns="0" tIns="0" rIns="0" bIns="0" rtlCol="0" anchor="t"/>
          <a:lstStyle/>
          <a:p>
            <a:pPr marL="0" indent="0" algn="l">
              <a:lnSpc>
                <a:spcPct val="104000"/>
              </a:lnSpc>
              <a:buNone/>
            </a:pPr>
            <a:r>
              <a:rPr lang="en-US" sz="1250" b="1" dirty="0">
                <a:solidFill>
                  <a:srgbClr val="FFFFFF"/>
                </a:solidFill>
                <a:latin typeface="Calibri" panose="020F0502020204030204" pitchFamily="34" charset="0"/>
                <a:ea typeface="Calibri" panose="020F0502020204030204" pitchFamily="34" charset="0"/>
                <a:cs typeface="Calibri" panose="020F0502020204030204" pitchFamily="34" charset="0"/>
              </a:rPr>
              <a:t>The Numbers Tell the Story</a:t>
            </a:r>
            <a:endParaRPr lang="en-US" sz="1250" b="1" dirty="0"/>
          </a:p>
        </p:txBody>
      </p:sp>
      <p:sp>
        <p:nvSpPr>
          <p:cNvPr id="11" name="Text 8"/>
          <p:cNvSpPr/>
          <p:nvPr/>
        </p:nvSpPr>
        <p:spPr>
          <a:xfrm>
            <a:off x="6245801" y="2970960"/>
            <a:ext cx="4644413" cy="794216"/>
          </a:xfrm>
          <a:prstGeom prst="rect">
            <a:avLst/>
          </a:prstGeom>
          <a:noFill/>
        </p:spPr>
        <p:txBody>
          <a:bodyPr wrap="square" lIns="0" tIns="0" rIns="0" bIns="0" rtlCol="0" anchor="t">
            <a:normAutofit fontScale="92500"/>
          </a:bodyPr>
          <a:lstStyle/>
          <a:p>
            <a:pPr marL="171450" indent="-171450">
              <a:lnSpc>
                <a:spcPct val="119000"/>
              </a:lnSpc>
              <a:buSzPct val="100000"/>
              <a:buFont typeface="Arial" panose="020B0604020202020204" pitchFamily="34" charset="0"/>
              <a:buChar char="•"/>
            </a:pPr>
            <a:r>
              <a:rPr lang="en-US" sz="1000" dirty="0">
                <a:solidFill>
                  <a:srgbClr val="FFC000"/>
                </a:solidFill>
              </a:rPr>
              <a:t>People from diverse backgrounds become entrepreneurs.</a:t>
            </a:r>
          </a:p>
          <a:p>
            <a:pPr marL="171450" indent="-171450">
              <a:lnSpc>
                <a:spcPct val="119000"/>
              </a:lnSpc>
              <a:buSzPct val="100000"/>
              <a:buFont typeface="Arial" panose="020B0604020202020204" pitchFamily="34" charset="0"/>
              <a:buChar char="•"/>
            </a:pPr>
            <a:r>
              <a:rPr lang="en-US" sz="1000" dirty="0">
                <a:solidFill>
                  <a:srgbClr val="FFC000"/>
                </a:solidFill>
              </a:rPr>
              <a:t>Women continue to build successful businesses across industries.</a:t>
            </a:r>
          </a:p>
          <a:p>
            <a:pPr marL="171450" indent="-171450">
              <a:lnSpc>
                <a:spcPct val="119000"/>
              </a:lnSpc>
              <a:buSzPct val="100000"/>
              <a:buFont typeface="Arial" panose="020B0604020202020204" pitchFamily="34" charset="0"/>
              <a:buChar char="•"/>
            </a:pPr>
            <a:r>
              <a:rPr lang="en-US" sz="1000" dirty="0">
                <a:solidFill>
                  <a:srgbClr val="FFC000"/>
                </a:solidFill>
              </a:rPr>
              <a:t>Education can help, but determination and problem-solving matter even more.</a:t>
            </a:r>
          </a:p>
          <a:p>
            <a:pPr marL="171450" indent="-171450">
              <a:lnSpc>
                <a:spcPct val="119000"/>
              </a:lnSpc>
              <a:buSzPct val="100000"/>
              <a:buFont typeface="Arial" panose="020B0604020202020204" pitchFamily="34" charset="0"/>
              <a:buChar char="•"/>
            </a:pPr>
            <a:r>
              <a:rPr lang="en-US" sz="1000" dirty="0">
                <a:solidFill>
                  <a:srgbClr val="FFC000"/>
                </a:solidFill>
              </a:rPr>
              <a:t>Anyone with a good idea and commitment can begin their entrepreneurial journey.</a:t>
            </a:r>
          </a:p>
          <a:p>
            <a:pPr>
              <a:lnSpc>
                <a:spcPct val="119000"/>
              </a:lnSpc>
              <a:buSzPct val="100000"/>
            </a:pPr>
            <a:endParaRPr lang="en-US" sz="1000" dirty="0">
              <a:solidFill>
                <a:srgbClr val="FFC000"/>
              </a:solidFill>
            </a:endParaRPr>
          </a:p>
        </p:txBody>
      </p:sp>
      <p:sp>
        <p:nvSpPr>
          <p:cNvPr id="12" name="Text 9"/>
          <p:cNvSpPr/>
          <p:nvPr/>
        </p:nvSpPr>
        <p:spPr>
          <a:xfrm>
            <a:off x="855840" y="5422404"/>
            <a:ext cx="11283965" cy="184845"/>
          </a:xfrm>
          <a:prstGeom prst="rect">
            <a:avLst/>
          </a:prstGeom>
          <a:noFill/>
        </p:spPr>
        <p:txBody>
          <a:bodyPr wrap="none" lIns="0" tIns="0" rIns="0" bIns="0" rtlCol="0" anchor="t"/>
          <a:lstStyle/>
          <a:p>
            <a:pPr marL="0" indent="0" algn="l">
              <a:lnSpc>
                <a:spcPct val="119000"/>
              </a:lnSpc>
              <a:buNone/>
            </a:pPr>
            <a:r>
              <a:rPr lang="en-US" sz="1100" b="1" dirty="0">
                <a:solidFill>
                  <a:srgbClr val="3C3939"/>
                </a:solidFill>
                <a:latin typeface="Cambria" panose="02040503050406030204" pitchFamily="18" charset="0"/>
                <a:ea typeface="Cambria" panose="02040503050406030204" pitchFamily="18" charset="0"/>
                <a:cs typeface="Roboto" panose="02000000000000000000" pitchFamily="34" charset="-120"/>
              </a:rPr>
              <a:t>"Your background isn't a barrier — it's an asset. Your unique perspective and experiences give you insights that others might not have."</a:t>
            </a:r>
            <a:endParaRPr lang="en-US" sz="1100" b="1" dirty="0"/>
          </a:p>
        </p:txBody>
      </p:sp>
      <p:sp>
        <p:nvSpPr>
          <p:cNvPr id="13" name="Shape 10"/>
          <p:cNvSpPr/>
          <p:nvPr/>
        </p:nvSpPr>
        <p:spPr>
          <a:xfrm>
            <a:off x="661475" y="5308203"/>
            <a:ext cx="19050" cy="413246"/>
          </a:xfrm>
          <a:prstGeom prst="roundRect">
            <a:avLst>
              <a:gd name="adj" fmla="val 49999"/>
            </a:avLst>
          </a:prstGeom>
          <a:solidFill>
            <a:srgbClr val="1B1B27"/>
          </a:solidFill>
        </p:spPr>
      </p:sp>
      <p:sp>
        <p:nvSpPr>
          <p:cNvPr id="14" name="Text 11"/>
          <p:cNvSpPr/>
          <p:nvPr/>
        </p:nvSpPr>
        <p:spPr>
          <a:xfrm>
            <a:off x="661475" y="5835650"/>
            <a:ext cx="10868745" cy="554534"/>
          </a:xfrm>
          <a:prstGeom prst="rect">
            <a:avLst/>
          </a:prstGeom>
          <a:noFill/>
        </p:spPr>
        <p:txBody>
          <a:bodyPr wrap="square" lIns="0" tIns="0" rIns="0" bIns="0" rtlCol="0" anchor="t">
            <a:normAutofit/>
          </a:bodyPr>
          <a:lstStyle/>
          <a:p>
            <a:pPr marL="0" indent="0" algn="l">
              <a:lnSpc>
                <a:spcPct val="119000"/>
              </a:lnSpc>
              <a:buNone/>
            </a:pPr>
            <a:r>
              <a:rPr lang="en-US" sz="10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Voice-Over Note:</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Emphasize growth trajectory — these numbers represent massive positive change. Tone: celebratory and inclusive. Pie chart animates with segments appearing (0–15 sec); numbers count up from 0 (15–30 sec); profile cards appear staggered (30–45 sec). Use authentic images of diverse entrepreneurs; avoid tokenism. Show that what you need is an idea, determination, and willingness to learn — not a fancy degree.</a:t>
            </a:r>
            <a:endParaRPr lang="en-US" sz="1000" dirty="0"/>
          </a:p>
        </p:txBody>
      </p:sp>
      <p:sp>
        <p:nvSpPr>
          <p:cNvPr id="25" name="Rounded Rectangle 24"/>
          <p:cNvSpPr/>
          <p:nvPr/>
        </p:nvSpPr>
        <p:spPr>
          <a:xfrm>
            <a:off x="11019790" y="6577965"/>
            <a:ext cx="1120140" cy="23114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GB"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149449"/>
            <a:ext cx="1339023" cy="163413"/>
          </a:xfrm>
          <a:prstGeom prst="roundRect">
            <a:avLst>
              <a:gd name="adj" fmla="val 22104"/>
            </a:avLst>
          </a:prstGeom>
          <a:solidFill>
            <a:srgbClr val="E1E1EA"/>
          </a:solidFill>
        </p:spPr>
      </p:sp>
      <p:sp>
        <p:nvSpPr>
          <p:cNvPr id="3" name="Text 1"/>
          <p:cNvSpPr/>
          <p:nvPr/>
        </p:nvSpPr>
        <p:spPr>
          <a:xfrm>
            <a:off x="725965" y="1181695"/>
            <a:ext cx="1819626" cy="98921"/>
          </a:xfrm>
          <a:prstGeom prst="rect">
            <a:avLst/>
          </a:prstGeom>
          <a:noFill/>
        </p:spPr>
        <p:txBody>
          <a:bodyPr wrap="none" lIns="0" tIns="0" rIns="0" bIns="0" rtlCol="0" anchor="t"/>
          <a:lstStyle/>
          <a:p>
            <a:pPr marL="0" indent="0" algn="l">
              <a:lnSpc>
                <a:spcPct val="96000"/>
              </a:lnSpc>
              <a:buNone/>
            </a:pPr>
            <a:r>
              <a:rPr lang="en-US" sz="650" dirty="0">
                <a:solidFill>
                  <a:srgbClr val="3C3939"/>
                </a:solidFill>
                <a:latin typeface="Cambria" panose="02040503050406030204" pitchFamily="18" charset="0"/>
                <a:ea typeface="Cambria" panose="02040503050406030204" pitchFamily="18" charset="0"/>
                <a:cs typeface="Roboto" panose="02000000000000000000" pitchFamily="34" charset="-120"/>
              </a:rPr>
              <a:t>SLIDE 9 · ADVANCED CONCEPT</a:t>
            </a:r>
            <a:endParaRPr lang="en-US" sz="650" dirty="0"/>
          </a:p>
        </p:txBody>
      </p:sp>
      <p:sp>
        <p:nvSpPr>
          <p:cNvPr id="6" name="Text 4"/>
          <p:cNvSpPr/>
          <p:nvPr/>
        </p:nvSpPr>
        <p:spPr>
          <a:xfrm>
            <a:off x="661475" y="1340743"/>
            <a:ext cx="10868745" cy="335955"/>
          </a:xfrm>
          <a:prstGeom prst="rect">
            <a:avLst/>
          </a:prstGeom>
          <a:noFill/>
        </p:spPr>
        <p:txBody>
          <a:bodyPr wrap="none" lIns="0" tIns="0" rIns="0" bIns="0" rtlCol="0" anchor="t"/>
          <a:lstStyle/>
          <a:p>
            <a:pPr marL="0" indent="0" algn="l">
              <a:lnSpc>
                <a:spcPct val="104000"/>
              </a:lnSpc>
              <a:buNone/>
            </a:pPr>
            <a:r>
              <a:rPr lang="en-US" sz="2100" dirty="0">
                <a:solidFill>
                  <a:srgbClr val="1B1B27"/>
                </a:solidFill>
                <a:latin typeface="Calibri" panose="020F0502020204030204" pitchFamily="34" charset="0"/>
                <a:ea typeface="Calibri" panose="020F0502020204030204" pitchFamily="34" charset="0"/>
                <a:cs typeface="Calibri" panose="020F0502020204030204" pitchFamily="34" charset="0"/>
              </a:rPr>
              <a:t>Serial Entrepreneurship</a:t>
            </a:r>
            <a:endParaRPr lang="en-US" sz="2100" dirty="0"/>
          </a:p>
        </p:txBody>
      </p:sp>
      <p:sp>
        <p:nvSpPr>
          <p:cNvPr id="7" name="Text 5"/>
          <p:cNvSpPr/>
          <p:nvPr/>
        </p:nvSpPr>
        <p:spPr>
          <a:xfrm>
            <a:off x="661475" y="1781473"/>
            <a:ext cx="11478330" cy="141883"/>
          </a:xfrm>
          <a:prstGeom prst="rect">
            <a:avLst/>
          </a:prstGeom>
          <a:noFill/>
        </p:spPr>
        <p:txBody>
          <a:bodyPr wrap="none" lIns="0" tIns="0" rIns="0" bIns="0" rtlCol="0" anchor="t"/>
          <a:lstStyle/>
          <a:p>
            <a:pPr marL="0" indent="0" algn="l">
              <a:lnSpc>
                <a:spcPct val="110000"/>
              </a:lnSpc>
              <a:buNone/>
            </a:pPr>
            <a:r>
              <a:rPr lang="en-US" sz="900" dirty="0">
                <a:solidFill>
                  <a:srgbClr val="3C3939"/>
                </a:solidFill>
                <a:ea typeface="Cambria" panose="02040503050406030204" pitchFamily="18" charset="0"/>
                <a:cs typeface="Roboto" panose="02000000000000000000" pitchFamily="34" charset="-120"/>
              </a:rPr>
              <a:t>Screen Type: </a:t>
            </a:r>
            <a:r>
              <a:rPr lang="en-US" sz="900" b="1" dirty="0">
                <a:solidFill>
                  <a:srgbClr val="3C3939"/>
                </a:solidFill>
                <a:ea typeface="Roboto Bold" panose="02000000000000000000" pitchFamily="34" charset="-122"/>
                <a:cs typeface="Roboto Bold" panose="02000000000000000000" pitchFamily="34" charset="-120"/>
              </a:rPr>
              <a:t>Advanced Concept / Real-World Example</a:t>
            </a:r>
            <a:r>
              <a:rPr lang="en-US" sz="900" dirty="0">
                <a:solidFill>
                  <a:srgbClr val="3C3939"/>
                </a:solidFill>
                <a:ea typeface="Cambria" panose="02040503050406030204" pitchFamily="18" charset="0"/>
                <a:cs typeface="Roboto" panose="02000000000000000000" pitchFamily="34" charset="-120"/>
              </a:rPr>
              <a:t> · Estimated Duration: </a:t>
            </a:r>
            <a:r>
              <a:rPr lang="en-US" sz="900" b="1" dirty="0">
                <a:solidFill>
                  <a:srgbClr val="3C3939"/>
                </a:solidFill>
                <a:ea typeface="Roboto Bold" panose="02000000000000000000" pitchFamily="34" charset="-122"/>
                <a:cs typeface="Roboto Bold" panose="02000000000000000000" pitchFamily="34" charset="-120"/>
              </a:rPr>
              <a:t>45 seconds</a:t>
            </a:r>
            <a:r>
              <a:rPr lang="en-US" sz="900" dirty="0">
                <a:solidFill>
                  <a:srgbClr val="3C3939"/>
                </a:solidFill>
                <a:ea typeface="Cambria" panose="02040503050406030204" pitchFamily="18" charset="0"/>
                <a:cs typeface="Roboto" panose="02000000000000000000" pitchFamily="34" charset="-120"/>
              </a:rPr>
              <a:t> · Some entrepreneurs don't stop at one business — and that's not ambition, it's a </a:t>
            </a:r>
            <a:r>
              <a:rPr lang="en-US" sz="900" b="1" dirty="0">
                <a:solidFill>
                  <a:srgbClr val="3C3939"/>
                </a:solidFill>
                <a:ea typeface="Roboto Bold" panose="02000000000000000000" pitchFamily="34" charset="-122"/>
                <a:cs typeface="Roboto Bold" panose="02000000000000000000" pitchFamily="34" charset="-120"/>
              </a:rPr>
              <a:t>mindset.</a:t>
            </a:r>
            <a:endParaRPr lang="en-US" sz="900" dirty="0"/>
          </a:p>
        </p:txBody>
      </p:sp>
      <p:pic>
        <p:nvPicPr>
          <p:cNvPr id="8" name="Image 0" descr="preencoded.png"/>
          <p:cNvPicPr>
            <a:picLocks noChangeAspect="1"/>
          </p:cNvPicPr>
          <p:nvPr/>
        </p:nvPicPr>
        <p:blipFill>
          <a:blip r:embed="rId3"/>
          <a:stretch>
            <a:fillRect/>
          </a:stretch>
        </p:blipFill>
        <p:spPr>
          <a:xfrm>
            <a:off x="661475" y="2001937"/>
            <a:ext cx="5434373" cy="430014"/>
          </a:xfrm>
          <a:prstGeom prst="rect">
            <a:avLst/>
          </a:prstGeom>
        </p:spPr>
      </p:pic>
      <p:sp>
        <p:nvSpPr>
          <p:cNvPr id="9" name="Text 6"/>
          <p:cNvSpPr/>
          <p:nvPr/>
        </p:nvSpPr>
        <p:spPr>
          <a:xfrm>
            <a:off x="768926" y="2501801"/>
            <a:ext cx="5219470" cy="167878"/>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Start Business #1</a:t>
            </a:r>
            <a:endParaRPr lang="en-US" sz="1200" b="1" dirty="0"/>
          </a:p>
        </p:txBody>
      </p:sp>
      <p:sp>
        <p:nvSpPr>
          <p:cNvPr id="10" name="Text 7"/>
          <p:cNvSpPr/>
          <p:nvPr/>
        </p:nvSpPr>
        <p:spPr>
          <a:xfrm>
            <a:off x="768926" y="2711549"/>
            <a:ext cx="5219470" cy="141883"/>
          </a:xfrm>
          <a:prstGeom prst="rect">
            <a:avLst/>
          </a:prstGeom>
          <a:noFill/>
        </p:spPr>
        <p:txBody>
          <a:bodyPr wrap="none" lIns="0" tIns="0" rIns="0" bIns="0" rtlCol="0" anchor="t"/>
          <a:lstStyle/>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Identify a problem, build a solution, take the risk, and launch your first venture. </a:t>
            </a:r>
          </a:p>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Learn everything you can.</a:t>
            </a:r>
            <a:endParaRPr lang="en-US" sz="1000" dirty="0"/>
          </a:p>
        </p:txBody>
      </p:sp>
      <p:pic>
        <p:nvPicPr>
          <p:cNvPr id="11" name="Image 1" descr="preencoded.png"/>
          <p:cNvPicPr>
            <a:picLocks noChangeAspect="1"/>
          </p:cNvPicPr>
          <p:nvPr/>
        </p:nvPicPr>
        <p:blipFill>
          <a:blip r:embed="rId4"/>
          <a:stretch>
            <a:fillRect/>
          </a:stretch>
        </p:blipFill>
        <p:spPr>
          <a:xfrm>
            <a:off x="6095848" y="2001937"/>
            <a:ext cx="5434373" cy="430014"/>
          </a:xfrm>
          <a:prstGeom prst="rect">
            <a:avLst/>
          </a:prstGeom>
        </p:spPr>
      </p:pic>
      <p:sp>
        <p:nvSpPr>
          <p:cNvPr id="12" name="Text 8"/>
          <p:cNvSpPr/>
          <p:nvPr/>
        </p:nvSpPr>
        <p:spPr>
          <a:xfrm>
            <a:off x="6203299" y="2501801"/>
            <a:ext cx="5219470" cy="167878"/>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Apply the Lessons</a:t>
            </a:r>
            <a:endParaRPr lang="en-US" sz="1200" b="1" dirty="0"/>
          </a:p>
        </p:txBody>
      </p:sp>
      <p:sp>
        <p:nvSpPr>
          <p:cNvPr id="13" name="Text 9"/>
          <p:cNvSpPr/>
          <p:nvPr/>
        </p:nvSpPr>
        <p:spPr>
          <a:xfrm>
            <a:off x="6203299" y="2711549"/>
            <a:ext cx="5219470" cy="283766"/>
          </a:xfrm>
          <a:prstGeom prst="rect">
            <a:avLst/>
          </a:prstGeom>
          <a:noFill/>
        </p:spPr>
        <p:txBody>
          <a:bodyPr wrap="square" lIns="0" tIns="0" rIns="0" bIns="0" rtlCol="0" anchor="t">
            <a:noAutofit/>
          </a:bodyPr>
          <a:lstStyle/>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Use failures, wins, and insights from your first venture to inform every decision in your next one. The curve shortens dramatically.</a:t>
            </a:r>
            <a:endParaRPr lang="en-US" sz="1000" dirty="0"/>
          </a:p>
        </p:txBody>
      </p:sp>
      <p:pic>
        <p:nvPicPr>
          <p:cNvPr id="14" name="Image 2" descr="preencoded.png"/>
          <p:cNvPicPr>
            <a:picLocks noChangeAspect="1"/>
          </p:cNvPicPr>
          <p:nvPr/>
        </p:nvPicPr>
        <p:blipFill>
          <a:blip r:embed="rId5"/>
          <a:stretch>
            <a:fillRect/>
          </a:stretch>
        </p:blipFill>
        <p:spPr>
          <a:xfrm>
            <a:off x="661475" y="3102769"/>
            <a:ext cx="5434373" cy="430014"/>
          </a:xfrm>
          <a:prstGeom prst="rect">
            <a:avLst/>
          </a:prstGeom>
        </p:spPr>
      </p:pic>
      <p:sp>
        <p:nvSpPr>
          <p:cNvPr id="15" name="Text 10"/>
          <p:cNvSpPr/>
          <p:nvPr/>
        </p:nvSpPr>
        <p:spPr>
          <a:xfrm>
            <a:off x="768926" y="3602633"/>
            <a:ext cx="5219470" cy="167878"/>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Launch Business #2</a:t>
            </a:r>
            <a:endParaRPr lang="en-US" sz="1200" b="1" dirty="0"/>
          </a:p>
        </p:txBody>
      </p:sp>
      <p:sp>
        <p:nvSpPr>
          <p:cNvPr id="16" name="Text 11"/>
          <p:cNvSpPr/>
          <p:nvPr/>
        </p:nvSpPr>
        <p:spPr>
          <a:xfrm>
            <a:off x="768926" y="3812381"/>
            <a:ext cx="5219470" cy="141883"/>
          </a:xfrm>
          <a:prstGeom prst="rect">
            <a:avLst/>
          </a:prstGeom>
          <a:noFill/>
        </p:spPr>
        <p:txBody>
          <a:bodyPr wrap="none" lIns="0" tIns="0" rIns="0" bIns="0" rtlCol="0" anchor="t"/>
          <a:lstStyle/>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Start again — this time with more experience, a stronger network, and deeper</a:t>
            </a:r>
          </a:p>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knowledge of what works.</a:t>
            </a:r>
            <a:endParaRPr lang="en-US" sz="1000" dirty="0"/>
          </a:p>
        </p:txBody>
      </p:sp>
      <p:pic>
        <p:nvPicPr>
          <p:cNvPr id="17" name="Image 3" descr="preencoded.png"/>
          <p:cNvPicPr>
            <a:picLocks noChangeAspect="1"/>
          </p:cNvPicPr>
          <p:nvPr/>
        </p:nvPicPr>
        <p:blipFill>
          <a:blip r:embed="rId6"/>
          <a:stretch>
            <a:fillRect/>
          </a:stretch>
        </p:blipFill>
        <p:spPr>
          <a:xfrm>
            <a:off x="6095848" y="3102769"/>
            <a:ext cx="5434373" cy="430014"/>
          </a:xfrm>
          <a:prstGeom prst="rect">
            <a:avLst/>
          </a:prstGeom>
        </p:spPr>
      </p:pic>
      <p:sp>
        <p:nvSpPr>
          <p:cNvPr id="18" name="Text 12"/>
          <p:cNvSpPr/>
          <p:nvPr/>
        </p:nvSpPr>
        <p:spPr>
          <a:xfrm>
            <a:off x="6203299" y="3602633"/>
            <a:ext cx="5219470" cy="167878"/>
          </a:xfrm>
          <a:prstGeom prst="rect">
            <a:avLst/>
          </a:prstGeom>
          <a:noFill/>
        </p:spPr>
        <p:txBody>
          <a:bodyPr wrap="none" lIns="0" tIns="0" rIns="0" bIns="0" rtlCol="0" anchor="t"/>
          <a:lstStyle/>
          <a:p>
            <a:pPr marL="0" indent="0" algn="l">
              <a:lnSpc>
                <a:spcPct val="104000"/>
              </a:lnSpc>
              <a:buNone/>
            </a:pPr>
            <a:r>
              <a:rPr lang="en-US" sz="1200" b="1" dirty="0">
                <a:solidFill>
                  <a:srgbClr val="3C3939"/>
                </a:solidFill>
                <a:latin typeface="Calibri" panose="020F0502020204030204" pitchFamily="34" charset="0"/>
                <a:ea typeface="Calibri" panose="020F0502020204030204" pitchFamily="34" charset="0"/>
                <a:cs typeface="Calibri" panose="020F0502020204030204" pitchFamily="34" charset="0"/>
              </a:rPr>
              <a:t>Repeat &amp; Innovate</a:t>
            </a:r>
            <a:endParaRPr lang="en-US" sz="1200" b="1" dirty="0"/>
          </a:p>
        </p:txBody>
      </p:sp>
      <p:sp>
        <p:nvSpPr>
          <p:cNvPr id="19" name="Text 13"/>
          <p:cNvSpPr/>
          <p:nvPr/>
        </p:nvSpPr>
        <p:spPr>
          <a:xfrm>
            <a:off x="6203299" y="3812381"/>
            <a:ext cx="5219470" cy="283766"/>
          </a:xfrm>
          <a:prstGeom prst="rect">
            <a:avLst/>
          </a:prstGeom>
          <a:noFill/>
        </p:spPr>
        <p:txBody>
          <a:bodyPr wrap="square" lIns="0" tIns="0" rIns="0" bIns="0" rtlCol="0" anchor="t">
            <a:noAutofit/>
          </a:bodyPr>
          <a:lstStyle/>
          <a:p>
            <a:pPr marL="0" indent="0" algn="l">
              <a:lnSpc>
                <a:spcPct val="110000"/>
              </a:lnSpc>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Serial entrepreneurs keep going because they're driven by innovation, not just money.</a:t>
            </a:r>
            <a:endParaRPr lang="en-US" sz="1000" dirty="0"/>
          </a:p>
        </p:txBody>
      </p:sp>
      <p:sp>
        <p:nvSpPr>
          <p:cNvPr id="20" name="Shape 14"/>
          <p:cNvSpPr/>
          <p:nvPr/>
        </p:nvSpPr>
        <p:spPr>
          <a:xfrm>
            <a:off x="575121" y="4407692"/>
            <a:ext cx="5458085" cy="1426369"/>
          </a:xfrm>
          <a:prstGeom prst="roundRect">
            <a:avLst>
              <a:gd name="adj" fmla="val 5427"/>
            </a:avLst>
          </a:prstGeom>
          <a:solidFill>
            <a:srgbClr val="1B1B27">
              <a:alpha val="95000"/>
            </a:srgbClr>
          </a:solidFill>
        </p:spPr>
      </p:sp>
      <p:sp>
        <p:nvSpPr>
          <p:cNvPr id="21" name="Text 15"/>
          <p:cNvSpPr/>
          <p:nvPr/>
        </p:nvSpPr>
        <p:spPr>
          <a:xfrm>
            <a:off x="682572" y="4477542"/>
            <a:ext cx="5243183" cy="167878"/>
          </a:xfrm>
          <a:prstGeom prst="rect">
            <a:avLst/>
          </a:prstGeom>
          <a:noFill/>
        </p:spPr>
        <p:txBody>
          <a:bodyPr wrap="none" lIns="0" tIns="0" rIns="0" bIns="0" rtlCol="0" anchor="t"/>
          <a:lstStyle/>
          <a:p>
            <a:pPr>
              <a:lnSpc>
                <a:spcPct val="104000"/>
              </a:lnSpc>
            </a:pPr>
            <a:r>
              <a:rPr lang="en-US" sz="1100" b="1" dirty="0">
                <a:solidFill>
                  <a:schemeClr val="bg1"/>
                </a:solidFill>
                <a:latin typeface="+mj-lt"/>
              </a:rPr>
              <a:t>Why Do Serial Entrepreneurs Keep Going ?</a:t>
            </a:r>
          </a:p>
        </p:txBody>
      </p:sp>
      <p:sp>
        <p:nvSpPr>
          <p:cNvPr id="22" name="Text 16"/>
          <p:cNvSpPr/>
          <p:nvPr/>
        </p:nvSpPr>
        <p:spPr>
          <a:xfrm>
            <a:off x="682572" y="4715271"/>
            <a:ext cx="5243183" cy="412546"/>
          </a:xfrm>
          <a:prstGeom prst="rect">
            <a:avLst/>
          </a:prstGeom>
          <a:noFill/>
        </p:spPr>
        <p:txBody>
          <a:bodyPr wrap="square" lIns="0" tIns="0" rIns="0" bIns="0" rtlCol="0" anchor="t">
            <a:noAutofit/>
          </a:bodyPr>
          <a:lstStyle/>
          <a:p>
            <a:pPr marL="171450" indent="-171450">
              <a:buFont typeface="Arial" panose="020B0604020202020204" pitchFamily="34" charset="0"/>
              <a:buChar char="•"/>
            </a:pPr>
            <a:r>
              <a:rPr lang="en-US" sz="1100" dirty="0">
                <a:solidFill>
                  <a:srgbClr val="FFC000"/>
                </a:solidFill>
              </a:rPr>
              <a:t>Some entrepreneurs build one successful business and then use their experience to create new ventures.</a:t>
            </a:r>
          </a:p>
          <a:p>
            <a:pPr marL="171450" indent="-171450">
              <a:buFont typeface="Arial" panose="020B0604020202020204" pitchFamily="34" charset="0"/>
              <a:buChar char="•"/>
            </a:pPr>
            <a:r>
              <a:rPr lang="en-US" sz="1100" dirty="0">
                <a:solidFill>
                  <a:srgbClr val="FFC000"/>
                </a:solidFill>
              </a:rPr>
              <a:t>They learn from each experience, improve their skills, and continue identifying new opportunities.</a:t>
            </a:r>
          </a:p>
          <a:p>
            <a:pPr marL="171450" indent="-171450">
              <a:buFont typeface="Arial" panose="020B0604020202020204" pitchFamily="34" charset="0"/>
              <a:buChar char="•"/>
            </a:pPr>
            <a:r>
              <a:rPr lang="en-US" sz="1100" dirty="0">
                <a:solidFill>
                  <a:srgbClr val="FFC000"/>
                </a:solidFill>
              </a:rPr>
              <a:t>Serial entrepreneurs are driven by curiosity, innovation, and continuous learning.</a:t>
            </a:r>
          </a:p>
        </p:txBody>
      </p:sp>
      <p:sp>
        <p:nvSpPr>
          <p:cNvPr id="23" name="Text 17"/>
          <p:cNvSpPr/>
          <p:nvPr/>
        </p:nvSpPr>
        <p:spPr>
          <a:xfrm>
            <a:off x="6233262" y="4352032"/>
            <a:ext cx="5303308" cy="167878"/>
          </a:xfrm>
          <a:prstGeom prst="rect">
            <a:avLst/>
          </a:prstGeom>
          <a:noFill/>
        </p:spPr>
        <p:txBody>
          <a:bodyPr wrap="none" lIns="0" tIns="0" rIns="0" bIns="0" rtlCol="0" anchor="t"/>
          <a:lstStyle/>
          <a:p>
            <a:pPr marL="0" indent="0" algn="l">
              <a:lnSpc>
                <a:spcPct val="104000"/>
              </a:lnSpc>
              <a:buNone/>
            </a:pPr>
            <a:r>
              <a:rPr lang="en-US" sz="1200" b="1" dirty="0">
                <a:solidFill>
                  <a:srgbClr val="1B1B27"/>
                </a:solidFill>
                <a:latin typeface="Calibri" panose="020F0502020204030204" pitchFamily="34" charset="0"/>
                <a:ea typeface="Calibri" panose="020F0502020204030204" pitchFamily="34" charset="0"/>
                <a:cs typeface="Calibri" panose="020F0502020204030204" pitchFamily="34" charset="0"/>
              </a:rPr>
              <a:t>Voice-Over &amp; Production Notes</a:t>
            </a:r>
            <a:endParaRPr lang="en-US" sz="1200" b="1" dirty="0"/>
          </a:p>
        </p:txBody>
      </p:sp>
      <p:sp>
        <p:nvSpPr>
          <p:cNvPr id="24" name="Text 18"/>
          <p:cNvSpPr/>
          <p:nvPr/>
        </p:nvSpPr>
        <p:spPr>
          <a:xfrm>
            <a:off x="6233262" y="4589760"/>
            <a:ext cx="5303308" cy="1055985"/>
          </a:xfrm>
          <a:prstGeom prst="rect">
            <a:avLst/>
          </a:prstGeom>
          <a:noFill/>
        </p:spPr>
        <p:txBody>
          <a:bodyPr wrap="square" lIns="0" tIns="0" rIns="0" bIns="0" rtlCol="0" anchor="t">
            <a:noAutofit/>
          </a:bodyPr>
          <a:lstStyle/>
          <a:p>
            <a:pPr marL="0" indent="0" algn="l">
              <a:lnSpc>
                <a:spcPct val="110000"/>
              </a:lnSpc>
              <a:spcAft>
                <a:spcPts val="450"/>
              </a:spcAft>
              <a:buNone/>
            </a:pP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Why do serial entrepreneurs keep going? Many say they're driven by the desire to innovate and challenge themselves — they love identifying problems and building teams. The internet has made serial entrepreneurship easier than ever: resources are available, global reach is instant, and technology companies can grow incredibly fast. </a:t>
            </a:r>
            <a:r>
              <a:rPr lang="en-US" sz="1000" b="1" dirty="0">
                <a:solidFill>
                  <a:srgbClr val="3C3939"/>
                </a:solidFill>
                <a:ea typeface="Roboto Bold" panose="02000000000000000000" pitchFamily="34" charset="-122"/>
                <a:cs typeface="Roboto Bold" panose="02000000000000000000" pitchFamily="34" charset="-120"/>
              </a:rPr>
              <a:t>Entrepreneurship isn't a one-time thing. It's a mindset.</a:t>
            </a:r>
            <a:r>
              <a:rPr lang="en-US" sz="1000" dirty="0">
                <a:solidFill>
                  <a:srgbClr val="3C3939"/>
                </a:solidFill>
                <a:latin typeface="Cambria" panose="02040503050406030204" pitchFamily="18" charset="0"/>
                <a:ea typeface="Cambria" panose="02040503050406030204" pitchFamily="18" charset="0"/>
                <a:cs typeface="Roboto" panose="02000000000000000000" pitchFamily="34" charset="-120"/>
              </a:rPr>
              <a:t> Once you develop entrepreneurial thinking, you can apply it to multiple ventures throughout your life.</a:t>
            </a:r>
            <a:endParaRPr lang="en-US" sz="1000" dirty="0"/>
          </a:p>
          <a:p>
            <a:pPr marL="0" indent="0" algn="l">
              <a:lnSpc>
                <a:spcPct val="110000"/>
              </a:lnSpc>
              <a:buNone/>
            </a:pPr>
            <a:r>
              <a:rPr lang="en-US" sz="1000" dirty="0">
                <a:solidFill>
                  <a:schemeClr val="tx2"/>
                </a:solidFill>
                <a:latin typeface="Cambria" panose="02040503050406030204" pitchFamily="18" charset="0"/>
                <a:ea typeface="Cambria" panose="02040503050406030204" pitchFamily="18" charset="0"/>
                <a:cs typeface="Roboto" panose="02000000000000000000" pitchFamily="34" charset="-120"/>
              </a:rPr>
              <a:t>Animation: Timeline left to right (0–15 sec) · Business icons in sequence (15–30 sec) · Arrows animate showing progression (20–35 sec) · Success metrics appear with emphasis (35–45 sec).</a:t>
            </a:r>
            <a:endParaRPr lang="en-US" sz="1000" dirty="0">
              <a:solidFill>
                <a:schemeClr val="tx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61475" y="1367433"/>
            <a:ext cx="1286736" cy="163413"/>
          </a:xfrm>
          <a:prstGeom prst="roundRect">
            <a:avLst>
              <a:gd name="adj" fmla="val 22104"/>
            </a:avLst>
          </a:prstGeom>
          <a:solidFill>
            <a:srgbClr val="E1E1EA"/>
          </a:solidFill>
        </p:spPr>
      </p:sp>
      <p:sp>
        <p:nvSpPr>
          <p:cNvPr id="3" name="Text 1"/>
          <p:cNvSpPr/>
          <p:nvPr/>
        </p:nvSpPr>
        <p:spPr>
          <a:xfrm>
            <a:off x="725965" y="1399679"/>
            <a:ext cx="1767339" cy="98921"/>
          </a:xfrm>
          <a:prstGeom prst="rect">
            <a:avLst/>
          </a:prstGeom>
          <a:noFill/>
        </p:spPr>
        <p:txBody>
          <a:bodyPr wrap="none" lIns="0" tIns="0" rIns="0" bIns="0" rtlCol="0" anchor="t"/>
          <a:lstStyle/>
          <a:p>
            <a:pPr marL="0" indent="0" algn="l">
              <a:lnSpc>
                <a:spcPct val="96000"/>
              </a:lnSpc>
              <a:buNone/>
            </a:pPr>
            <a:r>
              <a:rPr lang="en-US" sz="650" dirty="0">
                <a:solidFill>
                  <a:srgbClr val="3C3939"/>
                </a:solidFill>
                <a:latin typeface="Cambria" panose="02040503050406030204" pitchFamily="18" charset="0"/>
                <a:ea typeface="Cambria" panose="02040503050406030204" pitchFamily="18" charset="0"/>
                <a:cs typeface="Roboto" panose="02000000000000000000" pitchFamily="34" charset="-120"/>
              </a:rPr>
              <a:t>SLIDE 10 · REFLECTION &amp; CTA</a:t>
            </a:r>
            <a:endParaRPr lang="en-US" sz="650" dirty="0"/>
          </a:p>
        </p:txBody>
      </p:sp>
      <p:sp>
        <p:nvSpPr>
          <p:cNvPr id="6" name="Text 4"/>
          <p:cNvSpPr/>
          <p:nvPr/>
        </p:nvSpPr>
        <p:spPr>
          <a:xfrm>
            <a:off x="661475" y="1558727"/>
            <a:ext cx="10868745" cy="335955"/>
          </a:xfrm>
          <a:prstGeom prst="rect">
            <a:avLst/>
          </a:prstGeom>
          <a:noFill/>
        </p:spPr>
        <p:txBody>
          <a:bodyPr wrap="none" lIns="0" tIns="0" rIns="0" bIns="0" rtlCol="0" anchor="t"/>
          <a:lstStyle/>
          <a:p>
            <a:pPr marL="0" indent="0" algn="l">
              <a:lnSpc>
                <a:spcPct val="104000"/>
              </a:lnSpc>
              <a:buNone/>
            </a:pPr>
            <a:r>
              <a:rPr lang="en-US" sz="2100" dirty="0">
                <a:solidFill>
                  <a:srgbClr val="1B1B27"/>
                </a:solidFill>
                <a:latin typeface="Calibri" panose="020F0502020204030204" pitchFamily="34" charset="0"/>
                <a:ea typeface="Calibri" panose="020F0502020204030204" pitchFamily="34" charset="0"/>
                <a:cs typeface="Calibri" panose="020F0502020204030204" pitchFamily="34" charset="0"/>
              </a:rPr>
              <a:t>Reflection &amp; Call to Action</a:t>
            </a:r>
            <a:endParaRPr lang="en-US" sz="2100" dirty="0"/>
          </a:p>
        </p:txBody>
      </p:sp>
      <p:sp>
        <p:nvSpPr>
          <p:cNvPr id="7" name="Text 5"/>
          <p:cNvSpPr/>
          <p:nvPr/>
        </p:nvSpPr>
        <p:spPr>
          <a:xfrm>
            <a:off x="661475" y="1999456"/>
            <a:ext cx="11478330" cy="141883"/>
          </a:xfrm>
          <a:prstGeom prst="rect">
            <a:avLst/>
          </a:prstGeom>
          <a:noFill/>
        </p:spPr>
        <p:txBody>
          <a:bodyPr wrap="none" lIns="0" tIns="0" rIns="0" bIns="0" rtlCol="0" anchor="t"/>
          <a:lstStyle/>
          <a:p>
            <a:pPr marL="0" indent="0" algn="l">
              <a:lnSpc>
                <a:spcPct val="110000"/>
              </a:lnSpc>
              <a:buNone/>
            </a:pP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Screen Type: </a:t>
            </a:r>
            <a:r>
              <a:rPr lang="en-US" sz="9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Reflection / Closing / Call to Action</a:t>
            </a:r>
            <a:r>
              <a:rPr lang="en-US" sz="900" dirty="0">
                <a:solidFill>
                  <a:srgbClr val="3C3939"/>
                </a:solidFill>
                <a:latin typeface="Cambria" panose="02040503050406030204" pitchFamily="18" charset="0"/>
                <a:ea typeface="Cambria" panose="02040503050406030204" pitchFamily="18" charset="0"/>
                <a:cs typeface="Roboto" panose="02000000000000000000" pitchFamily="34" charset="-120"/>
              </a:rPr>
              <a:t> · Estimated Duration: </a:t>
            </a:r>
            <a:r>
              <a:rPr lang="en-US" sz="90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45 seconds</a:t>
            </a:r>
            <a:endParaRPr lang="en-US" sz="900" dirty="0"/>
          </a:p>
        </p:txBody>
      </p:sp>
      <p:sp>
        <p:nvSpPr>
          <p:cNvPr id="8" name="Shape 6"/>
          <p:cNvSpPr/>
          <p:nvPr/>
        </p:nvSpPr>
        <p:spPr>
          <a:xfrm>
            <a:off x="661475" y="2219920"/>
            <a:ext cx="3576350" cy="863005"/>
          </a:xfrm>
          <a:prstGeom prst="roundRect">
            <a:avLst>
              <a:gd name="adj" fmla="val 5232"/>
            </a:avLst>
          </a:prstGeom>
          <a:solidFill>
            <a:schemeClr val="bg1">
              <a:lumMod val="95000"/>
            </a:schemeClr>
          </a:solidFill>
          <a:ln w="6350">
            <a:solidFill>
              <a:schemeClr val="tx1"/>
            </a:solidFill>
            <a:prstDash val="solid"/>
          </a:ln>
        </p:spPr>
      </p:sp>
      <p:sp>
        <p:nvSpPr>
          <p:cNvPr id="9" name="Text 7"/>
          <p:cNvSpPr/>
          <p:nvPr/>
        </p:nvSpPr>
        <p:spPr>
          <a:xfrm>
            <a:off x="775276" y="2333724"/>
            <a:ext cx="3348747" cy="167878"/>
          </a:xfrm>
          <a:prstGeom prst="rect">
            <a:avLst/>
          </a:prstGeom>
          <a:noFill/>
        </p:spPr>
        <p:txBody>
          <a:bodyPr wrap="none" lIns="0" tIns="0" rIns="0" bIns="0" rtlCol="0" anchor="t"/>
          <a:lstStyle/>
          <a:p>
            <a:pPr>
              <a:lnSpc>
                <a:spcPct val="104000"/>
              </a:lnSpc>
            </a:pPr>
            <a:r>
              <a:rPr lang="en-IN" sz="1050" b="1" dirty="0">
                <a:latin typeface="+mj-lt"/>
              </a:rPr>
              <a:t>Start with a Problem</a:t>
            </a:r>
            <a:endParaRPr lang="en-US" sz="1050" b="1" dirty="0">
              <a:solidFill>
                <a:schemeClr val="tx2"/>
              </a:solidFill>
              <a:latin typeface="+mj-lt"/>
            </a:endParaRPr>
          </a:p>
        </p:txBody>
      </p:sp>
      <p:sp>
        <p:nvSpPr>
          <p:cNvPr id="10" name="Text 8"/>
          <p:cNvSpPr/>
          <p:nvPr/>
        </p:nvSpPr>
        <p:spPr>
          <a:xfrm>
            <a:off x="775276" y="2543473"/>
            <a:ext cx="3348747" cy="425648"/>
          </a:xfrm>
          <a:prstGeom prst="rect">
            <a:avLst/>
          </a:prstGeom>
          <a:noFill/>
        </p:spPr>
        <p:txBody>
          <a:bodyPr wrap="square" lIns="0" tIns="0" rIns="0" bIns="0" rtlCol="0" anchor="t">
            <a:noAutofit/>
          </a:bodyPr>
          <a:lstStyle/>
          <a:p>
            <a:pPr>
              <a:lnSpc>
                <a:spcPct val="110000"/>
              </a:lnSpc>
            </a:pPr>
            <a:r>
              <a:rPr lang="en-US" sz="900" dirty="0"/>
              <a:t>Every entrepreneurial journey begins by identifying a real problem and thinking of a practical solution.</a:t>
            </a:r>
          </a:p>
        </p:txBody>
      </p:sp>
      <p:sp>
        <p:nvSpPr>
          <p:cNvPr id="11" name="Shape 9"/>
          <p:cNvSpPr/>
          <p:nvPr/>
        </p:nvSpPr>
        <p:spPr>
          <a:xfrm>
            <a:off x="4307673" y="2219920"/>
            <a:ext cx="3576350" cy="863005"/>
          </a:xfrm>
          <a:prstGeom prst="roundRect">
            <a:avLst>
              <a:gd name="adj" fmla="val 5232"/>
            </a:avLst>
          </a:prstGeom>
          <a:solidFill>
            <a:schemeClr val="bg1">
              <a:lumMod val="95000"/>
            </a:schemeClr>
          </a:solidFill>
          <a:ln w="6350">
            <a:solidFill>
              <a:schemeClr val="tx1"/>
            </a:solidFill>
            <a:prstDash val="solid"/>
          </a:ln>
        </p:spPr>
      </p:sp>
      <p:sp>
        <p:nvSpPr>
          <p:cNvPr id="12" name="Text 10"/>
          <p:cNvSpPr/>
          <p:nvPr/>
        </p:nvSpPr>
        <p:spPr>
          <a:xfrm>
            <a:off x="4421474" y="2333724"/>
            <a:ext cx="3348747" cy="167878"/>
          </a:xfrm>
          <a:prstGeom prst="rect">
            <a:avLst/>
          </a:prstGeom>
          <a:noFill/>
        </p:spPr>
        <p:txBody>
          <a:bodyPr wrap="none" lIns="0" tIns="0" rIns="0" bIns="0" rtlCol="0" anchor="t"/>
          <a:lstStyle/>
          <a:p>
            <a:pPr>
              <a:lnSpc>
                <a:spcPct val="104000"/>
              </a:lnSpc>
            </a:pPr>
            <a:r>
              <a:rPr lang="en-IN" sz="1050" b="1" dirty="0">
                <a:latin typeface="+mj-lt"/>
              </a:rPr>
              <a:t>Think Creatively</a:t>
            </a:r>
            <a:endParaRPr lang="en-US" sz="1050" b="1" dirty="0">
              <a:solidFill>
                <a:schemeClr val="tx2"/>
              </a:solidFill>
              <a:latin typeface="+mj-lt"/>
            </a:endParaRPr>
          </a:p>
        </p:txBody>
      </p:sp>
      <p:sp>
        <p:nvSpPr>
          <p:cNvPr id="13" name="Text 11"/>
          <p:cNvSpPr/>
          <p:nvPr/>
        </p:nvSpPr>
        <p:spPr>
          <a:xfrm>
            <a:off x="4421474" y="2543473"/>
            <a:ext cx="3348747" cy="425648"/>
          </a:xfrm>
          <a:prstGeom prst="rect">
            <a:avLst/>
          </a:prstGeom>
          <a:noFill/>
        </p:spPr>
        <p:txBody>
          <a:bodyPr wrap="square" lIns="0" tIns="0" rIns="0" bIns="0" rtlCol="0" anchor="t">
            <a:noAutofit/>
          </a:bodyPr>
          <a:lstStyle/>
          <a:p>
            <a:r>
              <a:rPr lang="en-US" sz="900" dirty="0"/>
              <a:t>Great ideas can come from anyone. Your unique perspective can help create innovative solutions.</a:t>
            </a:r>
          </a:p>
        </p:txBody>
      </p:sp>
      <p:sp>
        <p:nvSpPr>
          <p:cNvPr id="14" name="Shape 12"/>
          <p:cNvSpPr/>
          <p:nvPr/>
        </p:nvSpPr>
        <p:spPr>
          <a:xfrm>
            <a:off x="7953871" y="2219920"/>
            <a:ext cx="3576350" cy="863005"/>
          </a:xfrm>
          <a:prstGeom prst="roundRect">
            <a:avLst>
              <a:gd name="adj" fmla="val 5232"/>
            </a:avLst>
          </a:prstGeom>
          <a:solidFill>
            <a:schemeClr val="bg1">
              <a:lumMod val="95000"/>
            </a:schemeClr>
          </a:solidFill>
          <a:ln w="6350">
            <a:solidFill>
              <a:schemeClr val="tx1"/>
            </a:solidFill>
            <a:prstDash val="solid"/>
          </a:ln>
        </p:spPr>
      </p:sp>
      <p:sp>
        <p:nvSpPr>
          <p:cNvPr id="15" name="Text 13"/>
          <p:cNvSpPr/>
          <p:nvPr/>
        </p:nvSpPr>
        <p:spPr>
          <a:xfrm>
            <a:off x="8067672" y="2333724"/>
            <a:ext cx="3348747" cy="167878"/>
          </a:xfrm>
          <a:prstGeom prst="rect">
            <a:avLst/>
          </a:prstGeom>
          <a:noFill/>
        </p:spPr>
        <p:txBody>
          <a:bodyPr wrap="none" lIns="0" tIns="0" rIns="0" bIns="0" rtlCol="0" anchor="t"/>
          <a:lstStyle/>
          <a:p>
            <a:pPr>
              <a:lnSpc>
                <a:spcPct val="104000"/>
              </a:lnSpc>
            </a:pPr>
            <a:r>
              <a:rPr lang="en-IN" sz="1050" b="1" dirty="0">
                <a:latin typeface="+mj-lt"/>
              </a:rPr>
              <a:t>Take the First Step</a:t>
            </a:r>
            <a:endParaRPr lang="en-US" sz="1050" b="1" dirty="0">
              <a:solidFill>
                <a:schemeClr val="tx2"/>
              </a:solidFill>
              <a:latin typeface="+mj-lt"/>
            </a:endParaRPr>
          </a:p>
        </p:txBody>
      </p:sp>
      <p:sp>
        <p:nvSpPr>
          <p:cNvPr id="16" name="Text 14"/>
          <p:cNvSpPr/>
          <p:nvPr/>
        </p:nvSpPr>
        <p:spPr>
          <a:xfrm>
            <a:off x="8067672" y="2543473"/>
            <a:ext cx="3348747" cy="283766"/>
          </a:xfrm>
          <a:prstGeom prst="rect">
            <a:avLst/>
          </a:prstGeom>
          <a:noFill/>
        </p:spPr>
        <p:txBody>
          <a:bodyPr wrap="square" lIns="0" tIns="0" rIns="0" bIns="0" rtlCol="0" anchor="t">
            <a:normAutofit lnSpcReduction="10000"/>
          </a:bodyPr>
          <a:lstStyle/>
          <a:p>
            <a:pPr>
              <a:lnSpc>
                <a:spcPct val="110000"/>
              </a:lnSpc>
            </a:pPr>
            <a:r>
              <a:rPr lang="en-US" sz="900" dirty="0"/>
              <a:t>Every successful entrepreneur starts by taking action, learning from experience, and improving along the way.</a:t>
            </a:r>
          </a:p>
        </p:txBody>
      </p:sp>
      <p:sp>
        <p:nvSpPr>
          <p:cNvPr id="17" name="Text 15"/>
          <p:cNvSpPr/>
          <p:nvPr/>
        </p:nvSpPr>
        <p:spPr>
          <a:xfrm>
            <a:off x="822701" y="3240088"/>
            <a:ext cx="11317104" cy="141883"/>
          </a:xfrm>
          <a:prstGeom prst="rect">
            <a:avLst/>
          </a:prstGeom>
          <a:noFill/>
        </p:spPr>
        <p:txBody>
          <a:bodyPr wrap="none" lIns="0" tIns="0" rIns="0" bIns="0" rtlCol="0" anchor="t"/>
          <a:lstStyle/>
          <a:p>
            <a:pPr>
              <a:lnSpc>
                <a:spcPct val="110000"/>
              </a:lnSpc>
            </a:pPr>
            <a:r>
              <a:rPr lang="en-US" sz="1100" b="1" dirty="0">
                <a:latin typeface="+mj-lt"/>
              </a:rPr>
              <a:t>Every successful business starts with one idea. What problem would you like to solve?</a:t>
            </a:r>
          </a:p>
        </p:txBody>
      </p:sp>
      <p:sp>
        <p:nvSpPr>
          <p:cNvPr id="18" name="Shape 16"/>
          <p:cNvSpPr/>
          <p:nvPr/>
        </p:nvSpPr>
        <p:spPr>
          <a:xfrm>
            <a:off x="661475" y="3161506"/>
            <a:ext cx="12700" cy="299045"/>
          </a:xfrm>
          <a:prstGeom prst="roundRect">
            <a:avLst>
              <a:gd name="adj" fmla="val 49999"/>
            </a:avLst>
          </a:prstGeom>
          <a:solidFill>
            <a:srgbClr val="1B1B27"/>
          </a:solidFill>
        </p:spPr>
      </p:sp>
      <p:sp>
        <p:nvSpPr>
          <p:cNvPr id="19" name="Text 17"/>
          <p:cNvSpPr/>
          <p:nvPr/>
        </p:nvSpPr>
        <p:spPr>
          <a:xfrm>
            <a:off x="661475" y="3539133"/>
            <a:ext cx="10868745" cy="425648"/>
          </a:xfrm>
          <a:prstGeom prst="rect">
            <a:avLst/>
          </a:prstGeom>
          <a:noFill/>
        </p:spPr>
        <p:txBody>
          <a:bodyPr wrap="square" lIns="0" tIns="0" rIns="0" bIns="0" rtlCol="0" anchor="t">
            <a:noAutofit/>
          </a:bodyPr>
          <a:lstStyle/>
          <a:p>
            <a:pPr>
              <a:lnSpc>
                <a:spcPct val="110000"/>
              </a:lnSpc>
            </a:pPr>
            <a:r>
              <a:rPr lang="en-US" sz="1050" b="1" dirty="0">
                <a:solidFill>
                  <a:srgbClr val="3C3939"/>
                </a:solidFill>
                <a:latin typeface="Roboto Bold" panose="02000000000000000000" pitchFamily="34" charset="0"/>
                <a:ea typeface="Roboto Bold" panose="02000000000000000000" pitchFamily="34" charset="-122"/>
                <a:cs typeface="Roboto Bold" panose="02000000000000000000" pitchFamily="34" charset="-120"/>
              </a:rPr>
              <a:t>Voice-Over Script (closing):</a:t>
            </a:r>
            <a:r>
              <a:rPr lang="en-US" sz="1050" dirty="0">
                <a:solidFill>
                  <a:srgbClr val="3C3939"/>
                </a:solidFill>
                <a:latin typeface="Cambria" panose="02040503050406030204" pitchFamily="18" charset="0"/>
                <a:ea typeface="Cambria" panose="02040503050406030204" pitchFamily="18" charset="0"/>
                <a:cs typeface="Roboto" panose="02000000000000000000" pitchFamily="34" charset="-120"/>
              </a:rPr>
              <a:t> </a:t>
            </a:r>
            <a:r>
              <a:rPr lang="en-US" sz="1050" dirty="0"/>
              <a:t>Whether you choose to start a small business, create a digital solution, or solve a problem in your community, every entrepreneurial journey begins with observing a need and having the courage to act</a:t>
            </a:r>
            <a:r>
              <a:rPr lang="en-US" sz="1050" dirty="0">
                <a:solidFill>
                  <a:srgbClr val="3C3939"/>
                </a:solidFill>
                <a:latin typeface="Cambria" panose="02040503050406030204" pitchFamily="18" charset="0"/>
                <a:ea typeface="Cambria" panose="02040503050406030204" pitchFamily="18" charset="0"/>
                <a:cs typeface="Roboto" panose="02000000000000000000" pitchFamily="34" charset="-120"/>
              </a:rPr>
              <a:t>. </a:t>
            </a:r>
            <a:r>
              <a:rPr lang="en-US" sz="1050" dirty="0"/>
              <a:t>Your entrepreneurial journey can begin today with one idea and the willingness to take the first step.</a:t>
            </a:r>
          </a:p>
        </p:txBody>
      </p:sp>
      <p:sp>
        <p:nvSpPr>
          <p:cNvPr id="20" name="Shape 18"/>
          <p:cNvSpPr/>
          <p:nvPr/>
        </p:nvSpPr>
        <p:spPr>
          <a:xfrm>
            <a:off x="682702" y="4491613"/>
            <a:ext cx="3837388" cy="1447205"/>
          </a:xfrm>
          <a:prstGeom prst="roundRect">
            <a:avLst>
              <a:gd name="adj" fmla="val 5348"/>
            </a:avLst>
          </a:prstGeom>
          <a:solidFill>
            <a:srgbClr val="1B1B27">
              <a:alpha val="95000"/>
            </a:srgbClr>
          </a:solidFill>
        </p:spPr>
      </p:sp>
      <p:sp>
        <p:nvSpPr>
          <p:cNvPr id="21" name="Text 19"/>
          <p:cNvSpPr/>
          <p:nvPr/>
        </p:nvSpPr>
        <p:spPr>
          <a:xfrm>
            <a:off x="790152" y="4642148"/>
            <a:ext cx="5243183" cy="167878"/>
          </a:xfrm>
          <a:prstGeom prst="rect">
            <a:avLst/>
          </a:prstGeom>
          <a:noFill/>
        </p:spPr>
        <p:txBody>
          <a:bodyPr wrap="none" lIns="0" tIns="0" rIns="0" bIns="0" rtlCol="0" anchor="t"/>
          <a:lstStyle/>
          <a:p>
            <a:pPr>
              <a:lnSpc>
                <a:spcPct val="104000"/>
              </a:lnSpc>
            </a:pPr>
            <a:r>
              <a:rPr lang="en-IN" sz="1200" b="1" dirty="0">
                <a:solidFill>
                  <a:schemeClr val="bg1"/>
                </a:solidFill>
                <a:latin typeface="+mj-lt"/>
              </a:rPr>
              <a:t>What You'll Explore Next</a:t>
            </a:r>
            <a:endParaRPr lang="en-US" sz="1200" b="1" dirty="0">
              <a:solidFill>
                <a:schemeClr val="bg1"/>
              </a:solidFill>
              <a:latin typeface="+mj-lt"/>
            </a:endParaRPr>
          </a:p>
        </p:txBody>
      </p:sp>
      <p:sp>
        <p:nvSpPr>
          <p:cNvPr id="22" name="Text 20"/>
          <p:cNvSpPr/>
          <p:nvPr/>
        </p:nvSpPr>
        <p:spPr>
          <a:xfrm>
            <a:off x="790153" y="4888841"/>
            <a:ext cx="3598206" cy="640755"/>
          </a:xfrm>
          <a:prstGeom prst="rect">
            <a:avLst/>
          </a:prstGeom>
          <a:noFill/>
        </p:spPr>
        <p:txBody>
          <a:bodyPr wrap="square" lIns="0" tIns="0" rIns="0" bIns="0" rtlCol="0" anchor="t">
            <a:normAutofit lnSpcReduction="10000"/>
          </a:bodyPr>
          <a:lstStyle/>
          <a:p>
            <a:pPr marL="162560" indent="-162560" algn="l">
              <a:lnSpc>
                <a:spcPct val="110000"/>
              </a:lnSpc>
              <a:buSzPct val="100000"/>
              <a:buChar char="•"/>
            </a:pPr>
            <a:r>
              <a:rPr lang="en-US" sz="1050" dirty="0">
                <a:solidFill>
                  <a:srgbClr val="FFC000"/>
                </a:solidFill>
                <a:latin typeface="Cambria" panose="02040503050406030204" pitchFamily="18" charset="0"/>
                <a:ea typeface="Cambria" panose="02040503050406030204" pitchFamily="18" charset="0"/>
                <a:cs typeface="Roboto" panose="02000000000000000000" pitchFamily="34" charset="-120"/>
              </a:rPr>
              <a:t>Identify real problems and entrepreneurial opportunities</a:t>
            </a:r>
            <a:endParaRPr lang="en-US" sz="1050" dirty="0">
              <a:solidFill>
                <a:srgbClr val="FFC000"/>
              </a:solidFill>
            </a:endParaRPr>
          </a:p>
          <a:p>
            <a:pPr marL="162560" indent="-162560" algn="l">
              <a:lnSpc>
                <a:spcPct val="110000"/>
              </a:lnSpc>
              <a:buSzPct val="100000"/>
              <a:buChar char="•"/>
            </a:pPr>
            <a:r>
              <a:rPr lang="en-US" sz="1050" dirty="0">
                <a:solidFill>
                  <a:srgbClr val="FFC000"/>
                </a:solidFill>
                <a:latin typeface="Cambria" panose="02040503050406030204" pitchFamily="18" charset="0"/>
                <a:ea typeface="Cambria" panose="02040503050406030204" pitchFamily="18" charset="0"/>
                <a:cs typeface="Roboto" panose="02000000000000000000" pitchFamily="34" charset="-120"/>
              </a:rPr>
              <a:t>Validate your ideas before investing time or money</a:t>
            </a:r>
            <a:endParaRPr lang="en-US" sz="1050" dirty="0">
              <a:solidFill>
                <a:srgbClr val="FFC000"/>
              </a:solidFill>
            </a:endParaRPr>
          </a:p>
          <a:p>
            <a:pPr marL="162560" indent="-162560" algn="l">
              <a:lnSpc>
                <a:spcPct val="110000"/>
              </a:lnSpc>
              <a:buSzPct val="100000"/>
              <a:buChar char="•"/>
            </a:pPr>
            <a:r>
              <a:rPr lang="en-US" sz="1050" dirty="0">
                <a:solidFill>
                  <a:srgbClr val="FFC000"/>
                </a:solidFill>
                <a:latin typeface="Cambria" panose="02040503050406030204" pitchFamily="18" charset="0"/>
                <a:ea typeface="Cambria" panose="02040503050406030204" pitchFamily="18" charset="0"/>
                <a:cs typeface="Roboto" panose="02000000000000000000" pitchFamily="34" charset="-120"/>
              </a:rPr>
              <a:t>Create business plans that are realistic and compelling</a:t>
            </a:r>
            <a:endParaRPr lang="en-US" sz="1050" dirty="0">
              <a:solidFill>
                <a:srgbClr val="FFC000"/>
              </a:solidFill>
            </a:endParaRPr>
          </a:p>
          <a:p>
            <a:pPr marL="162560" indent="-162560" algn="l">
              <a:lnSpc>
                <a:spcPct val="110000"/>
              </a:lnSpc>
              <a:buSzPct val="100000"/>
              <a:buChar char="•"/>
            </a:pPr>
            <a:r>
              <a:rPr lang="en-US" sz="1050" dirty="0">
                <a:solidFill>
                  <a:srgbClr val="FFC000"/>
                </a:solidFill>
                <a:latin typeface="Cambria" panose="02040503050406030204" pitchFamily="18" charset="0"/>
                <a:ea typeface="Cambria" panose="02040503050406030204" pitchFamily="18" charset="0"/>
                <a:cs typeface="Roboto" panose="02000000000000000000" pitchFamily="34" charset="-120"/>
              </a:rPr>
              <a:t>Launch your own ventures with confidence</a:t>
            </a:r>
            <a:endParaRPr lang="en-US" sz="1050" dirty="0">
              <a:solidFill>
                <a:srgbClr val="FFC000"/>
              </a:solidFill>
            </a:endParaRPr>
          </a:p>
        </p:txBody>
      </p:sp>
      <p:sp>
        <p:nvSpPr>
          <p:cNvPr id="23" name="Text 21"/>
          <p:cNvSpPr/>
          <p:nvPr/>
        </p:nvSpPr>
        <p:spPr>
          <a:xfrm>
            <a:off x="5489191" y="4460696"/>
            <a:ext cx="5303308" cy="167878"/>
          </a:xfrm>
          <a:prstGeom prst="rect">
            <a:avLst/>
          </a:prstGeom>
          <a:noFill/>
        </p:spPr>
        <p:txBody>
          <a:bodyPr wrap="none" lIns="0" tIns="0" rIns="0" bIns="0" rtlCol="0" anchor="t"/>
          <a:lstStyle/>
          <a:p>
            <a:pPr marL="0" indent="0" algn="l">
              <a:lnSpc>
                <a:spcPct val="104000"/>
              </a:lnSpc>
              <a:buNone/>
            </a:pPr>
            <a:r>
              <a:rPr lang="en-US" sz="1200" b="1" dirty="0">
                <a:solidFill>
                  <a:srgbClr val="1B1B27"/>
                </a:solidFill>
                <a:latin typeface="Calibri" panose="020F0502020204030204" pitchFamily="34" charset="0"/>
                <a:ea typeface="Calibri" panose="020F0502020204030204" pitchFamily="34" charset="0"/>
                <a:cs typeface="Calibri" panose="020F0502020204030204" pitchFamily="34" charset="0"/>
              </a:rPr>
              <a:t>Animation &amp; Developer Notes</a:t>
            </a:r>
            <a:endParaRPr lang="en-US" sz="1200" b="1" dirty="0"/>
          </a:p>
        </p:txBody>
      </p:sp>
      <p:sp>
        <p:nvSpPr>
          <p:cNvPr id="29" name="TextBox 28">
            <a:extLst>
              <a:ext uri="{FF2B5EF4-FFF2-40B4-BE49-F238E27FC236}">
                <a16:creationId xmlns:a16="http://schemas.microsoft.com/office/drawing/2014/main" id="{8EB1CA29-A3E7-6F02-FEA4-BC791571C250}"/>
              </a:ext>
            </a:extLst>
          </p:cNvPr>
          <p:cNvSpPr txBox="1"/>
          <p:nvPr/>
        </p:nvSpPr>
        <p:spPr>
          <a:xfrm>
            <a:off x="5381611" y="4682364"/>
            <a:ext cx="6041029" cy="1477328"/>
          </a:xfrm>
          <a:prstGeom prst="rect">
            <a:avLst/>
          </a:prstGeom>
          <a:noFill/>
        </p:spPr>
        <p:txBody>
          <a:bodyPr wrap="square" rtlCol="0">
            <a:spAutoFit/>
          </a:bodyPr>
          <a:lstStyle/>
          <a:p>
            <a:pPr marL="171450" lvl="0" indent="-171450" eaLnBrk="0" fontAlgn="base" hangingPunct="0">
              <a:spcBef>
                <a:spcPct val="0"/>
              </a:spcBef>
              <a:spcAft>
                <a:spcPct val="0"/>
              </a:spcAft>
              <a:buFont typeface="Arial" panose="020B0604020202020204" pitchFamily="34" charset="0"/>
              <a:buChar char="•"/>
            </a:pPr>
            <a:r>
              <a:rPr lang="en-US" altLang="en-US" sz="1000" dirty="0"/>
              <a:t>Use inclusive visuals featuring students from diverse backgrounds to help learners relate to the content. </a:t>
            </a:r>
          </a:p>
          <a:p>
            <a:pPr marL="171450" lvl="0" indent="-171450" eaLnBrk="0" fontAlgn="base" hangingPunct="0">
              <a:spcBef>
                <a:spcPct val="0"/>
              </a:spcBef>
              <a:spcAft>
                <a:spcPct val="0"/>
              </a:spcAft>
              <a:buFont typeface="Arial" panose="020B0604020202020204" pitchFamily="34" charset="0"/>
              <a:buChar char="•"/>
            </a:pPr>
            <a:r>
              <a:rPr lang="en-US" altLang="en-US" sz="1000" dirty="0"/>
              <a:t>Introduce each key message with a subtle fade-in animation while keeping transitions smooth and distraction-free. </a:t>
            </a:r>
          </a:p>
          <a:p>
            <a:pPr marL="171450" lvl="0" indent="-171450" eaLnBrk="0" fontAlgn="base" hangingPunct="0">
              <a:spcBef>
                <a:spcPct val="0"/>
              </a:spcBef>
              <a:spcAft>
                <a:spcPct val="0"/>
              </a:spcAft>
              <a:buFont typeface="Arial" panose="020B0604020202020204" pitchFamily="34" charset="0"/>
              <a:buChar char="•"/>
            </a:pPr>
            <a:r>
              <a:rPr lang="en-US" altLang="en-US" sz="1000" dirty="0"/>
              <a:t>Pause briefly after the reflection question to encourage self-reflection before the closing message appears. </a:t>
            </a:r>
          </a:p>
          <a:p>
            <a:pPr marL="171450" lvl="0" indent="-171450" eaLnBrk="0" fontAlgn="base" hangingPunct="0">
              <a:spcBef>
                <a:spcPct val="0"/>
              </a:spcBef>
              <a:spcAft>
                <a:spcPct val="0"/>
              </a:spcAft>
              <a:buFont typeface="Arial" panose="020B0604020202020204" pitchFamily="34" charset="0"/>
              <a:buChar char="•"/>
            </a:pPr>
            <a:r>
              <a:rPr lang="en-US" altLang="en-US" sz="1000" dirty="0"/>
              <a:t>Conclude with an inspiring end screen that reinforces the lesson's key takeaway: </a:t>
            </a:r>
            <a:r>
              <a:rPr lang="en-US" altLang="en-US" sz="1000" b="1" dirty="0"/>
              <a:t>"Every Great Business Begins with One Idea."</a:t>
            </a:r>
            <a:r>
              <a:rPr lang="en-US" altLang="en-US" sz="1000" dirty="0"/>
              <a:t> </a:t>
            </a:r>
          </a:p>
          <a:p>
            <a:pPr marL="171450" lvl="0" indent="-171450" eaLnBrk="0" fontAlgn="base" hangingPunct="0">
              <a:spcBef>
                <a:spcPct val="0"/>
              </a:spcBef>
              <a:spcAft>
                <a:spcPct val="0"/>
              </a:spcAft>
              <a:buFont typeface="Arial" panose="020B0604020202020204" pitchFamily="34" charset="0"/>
              <a:buChar char="•"/>
            </a:pPr>
            <a:r>
              <a:rPr lang="en-US" altLang="en-US" sz="1000" dirty="0"/>
              <a:t>Ensure all visuals, animations, and on-screen text are simple, engaging, and appropriate for learners in </a:t>
            </a:r>
            <a:r>
              <a:rPr lang="en-US" altLang="en-US" sz="1000" b="1" dirty="0"/>
              <a:t>Grades 6–9</a:t>
            </a:r>
            <a:r>
              <a:rPr lang="en-US" altLang="en-US" sz="1000" dirty="0"/>
              <a:t>. </a:t>
            </a:r>
          </a:p>
        </p:txBody>
      </p:sp>
    </p:spTree>
  </p:cSld>
  <p:clrMapOvr>
    <a:masterClrMapping/>
  </p:clrMapOvr>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2605</Words>
  <Application>Microsoft Office PowerPoint</Application>
  <PresentationFormat>Widescreen</PresentationFormat>
  <Paragraphs>215</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Roboto Bold</vt:lpstr>
      <vt:lpstr>Cambria</vt:lpstr>
      <vt:lpstr>Calibri</vt:lpstr>
      <vt:lpstr>Arial</vt:lpstr>
      <vt:lpstr>Gear Drives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ANKIT KUMAR TIWARI</cp:lastModifiedBy>
  <cp:revision>7</cp:revision>
  <dcterms:created xsi:type="dcterms:W3CDTF">2026-08-07T09:39:00Z</dcterms:created>
  <dcterms:modified xsi:type="dcterms:W3CDTF">2026-08-07T11:30:59Z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A246CA6E7DCD47DDB9A9593545215430_13</vt:lpwstr>
  </property>
  <property fmtid="{D5CDD505-2E9C-101B-9397-08002B2CF9AE}" pid="3" name="KSOProductBuildVer">
    <vt:lpwstr>2057-12.2.0.23206</vt:lpwstr>
  </property>
</Properties>
</file>